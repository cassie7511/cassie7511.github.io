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5" roundtripDataSignature="AMtx7mjyJt5+AE01i4HNF6bsd7+Z72p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Hunter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Our team built the analytical data layer for Tracer's Rollouts feature. We will walk through why we built it, how we designed it, the three numbers Erin needs for the CPO review, and our recommendation. 10 minutes, then we will take questions.</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SPEAKER: Hunter</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Before we built this, Erin's team had no easy way to answer basic questions about the business. Every time someone needed a number -- like how many customers are on the premium plan, or how much revenue is coming in -- an analyst had to go into four completely separate systems, pull data by hand, and try to piece it together. That process took about two days every single time, and the numbers would often not match up between passes. So Erin had nothing she could confidently bring into a meeting and defend.</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What we did was build a system that connects all of those data sources automatically. Now instead of two days of manual work, the same numbers are produced in one command, and they come out the same every time. The rest of this presentation shows you exactly what those numbers are.</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93" name="Google Shape;93;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75cd86c48_0_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g3e75cd86c48_0_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SPEAKER: Hunter</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Our recommendation is this: reach out personally to the 15 customers who are paying for the premium plan but have never actually used the Rollouts feature. Walk them through the feature and get them using it.</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Why 15? Our data shows that out of the 29 customers on the premium plan, only 14 have ever touched Rollouts. That means just under half of the people paying extra for this feature have never tried it. That is a problem because if they go to renew their contract and they have never used the thing they are paying a premium for, they have no reason to keep paying that premium.</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The good news is we do not need to reach all 15. We only need to get 4 of them using Rollouts to hit the 60 percent target. That is a very achievable number if we start outreach now, before any of those contracts come up for renewal. The next slides show you the data behind these numbers.</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130" name="Google Shape;130;g3e75cd86c48_0_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e75cd86c48_0_10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g3e75cd86c48_0_10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Max</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Tracer had four options. The status quo -- manual CSV pulls -- was already failing: two days per pass, results that didn't reconcile, and nothing Erin could defend at a CPO review. Direct queries against production databases carried operational risk. A BI vendor would have taken 6-9 months and Tracer wouldn't own the model. We chose in-house dbt because it's fast, Tracer owns the output, and the same model supports follow-up questions beyond the three on the table today. The analytical layer itself is a commodity -- standard questions any SaaS company needs answered. The value is in owning it and having it ready in time.</a:t>
            </a:r>
            <a:endParaRPr/>
          </a:p>
        </p:txBody>
      </p:sp>
      <p:sp>
        <p:nvSpPr>
          <p:cNvPr id="156" name="Google Shape;156;g3e75cd86c48_0_10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Max</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 is the schema we designed. The central fact table is a monthly subscription snapshot -- one row per active subscription per month-end. We chose monthly snapshot grain over event grain because questions 1 and 3 both ask for month-end state directly; event grain would require re-deriving that on every query. For measures, MRR and seats are semi-additive -- you can sum them across subscriptions within a month but not across months, which would introduce double counting. The notification count is fully additive. We kept only three dimensions: dim_plan for pricing and tier, dim_org for segmenting by industry and country, and dim_date which shipped pre-built. We rejected dim_user because it doesn't answer any of the three questions Erin needs.</a:t>
            </a:r>
            <a:endParaRPr/>
          </a:p>
        </p:txBody>
      </p:sp>
      <p:sp>
        <p:nvSpPr>
          <p:cNvPr id="188" name="Google Shape;188;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Juan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first number: how many Pro+ orgs does Tracer have each month? The key design decision here was not to use the current billing_subscriptions table, which only shows today's state. Instead the model reconstructs month-end plan state by reading the subscription change log and asking: was this subscription created by month-end, not yet cancelled, and what was the most recent plan on record? The result: 26 Pro+ orgs in January, 29 in February, and flat for the three months since. The growth happened immediately after Rollouts launched and stopped. That April figure of 29 is the denominator for Q2's adoption rate -- hand off to Josh.</a:t>
            </a:r>
            <a:endParaRPr/>
          </a:p>
        </p:txBody>
      </p:sp>
      <p:sp>
        <p:nvSpPr>
          <p:cNvPr id="208" name="Google Shape;208;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Josh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 the headline number for the review. Out of the 29 orgs on Pro or Enterprise at the end of April, 14 have fired at least one rollout-related notification since the January launch which is about 48.3% adoption, 12 points under Erin's 60% target.</a:t>
            </a:r>
            <a:br>
              <a:rPr lang="en-US"/>
            </a:br>
            <a:br>
              <a:rPr lang="en-US"/>
            </a:br>
            <a:r>
              <a:rPr lang="en-US"/>
              <a:t>The way we did this: an org is counted as "adopted" if it fired any event starting with rollout_, rollback_, or threshold_. We matched that prefix exactly, with an escaped underscore, so we're only counting genuine Rollouts activity.</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The part that matters for Erinn is the other 15 orgs. They're paying the Pro+ premium but have never touched the feature that premium is supposed to buy. Those are the renewal-risk accounts, and they line up with the flat Pro MRR you'll see on the revenue </a:t>
            </a:r>
            <a:r>
              <a:rPr lang="en-US"/>
              <a:t>slide. This means the orgs that didn't adopt are the same ones that didn't upgrade.</a:t>
            </a:r>
            <a:endParaRPr/>
          </a:p>
        </p:txBody>
      </p:sp>
      <p:sp>
        <p:nvSpPr>
          <p:cNvPr id="226" name="Google Shape;226;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Arushi</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third number: revenue by tier. MRR is monthly_price times seats, summed within each month -- it is semi-additive, meaning you can sum across orgs and tiers within a month but not across months. Total MRR has been essentially flat since February at around $193,000. Enterprise is the dominant tier at roughly 70% of revenue and has been stable. Pro MRR plateaued at $50,955 in February and has not moved -- this is the most important signal because Rollouts was supposed to pull Starter customers up into Pro. Instead Starter MRR has declined 21% over four months with no corresponding Pro increase, which means those customers are churning out, not upgrading. The Rollouts launch has not moved the revenue needle. Hand off to Hunter for the recommendation.</a:t>
            </a:r>
            <a:endParaRPr/>
          </a:p>
        </p:txBody>
      </p:sp>
      <p:sp>
        <p:nvSpPr>
          <p:cNvPr id="252" name="Google Shape;252;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Open the floor for questions. Any team member should jump in for questions in their area:</a:t>
            </a:r>
            <a:endParaRPr/>
          </a:p>
          <a:p>
            <a:pPr indent="0" lvl="0" marL="0" rtl="0" algn="l">
              <a:spcBef>
                <a:spcPts val="0"/>
              </a:spcBef>
              <a:spcAft>
                <a:spcPts val="0"/>
              </a:spcAft>
              <a:buNone/>
            </a:pPr>
            <a:r>
              <a:rPr lang="en-US"/>
              <a:t>- Max for business case or schema design questions</a:t>
            </a:r>
            <a:endParaRPr/>
          </a:p>
          <a:p>
            <a:pPr indent="0" lvl="0" marL="0" rtl="0" algn="l">
              <a:spcBef>
                <a:spcPts val="0"/>
              </a:spcBef>
              <a:spcAft>
                <a:spcPts val="0"/>
              </a:spcAft>
              <a:buNone/>
            </a:pPr>
            <a:r>
              <a:rPr lang="en-US"/>
              <a:t>- Juan for Q1 methodology or the month-end reconstruction logic</a:t>
            </a:r>
            <a:endParaRPr/>
          </a:p>
          <a:p>
            <a:pPr indent="0" lvl="0" marL="0" rtl="0" algn="l">
              <a:spcBef>
                <a:spcPts val="0"/>
              </a:spcBef>
              <a:spcAft>
                <a:spcPts val="0"/>
              </a:spcAft>
              <a:buNone/>
            </a:pPr>
            <a:r>
              <a:rPr lang="en-US"/>
              <a:t>- Josh for Q2 adoption definition or the notification filter</a:t>
            </a:r>
            <a:endParaRPr/>
          </a:p>
          <a:p>
            <a:pPr indent="0" lvl="0" marL="0" rtl="0" algn="l">
              <a:spcBef>
                <a:spcPts val="0"/>
              </a:spcBef>
              <a:spcAft>
                <a:spcPts val="0"/>
              </a:spcAft>
              <a:buNone/>
            </a:pPr>
            <a:r>
              <a:rPr lang="en-US"/>
              <a:t>- Arushi for Q3 MRR calculation or the semi-additive measure explanation</a:t>
            </a:r>
            <a:endParaRPr/>
          </a:p>
          <a:p>
            <a:pPr indent="0" lvl="0" marL="0" rtl="0" algn="l">
              <a:spcBef>
                <a:spcPts val="0"/>
              </a:spcBef>
              <a:spcAft>
                <a:spcPts val="0"/>
              </a:spcAft>
              <a:buNone/>
            </a:pPr>
            <a:r>
              <a:rPr lang="en-US"/>
              <a:t>- Hunter for the recommendation or the overall strategy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Metabase is available at localhost:3000 -- can pull up any query live if asked.</a:t>
            </a:r>
            <a:endParaRPr/>
          </a:p>
        </p:txBody>
      </p:sp>
      <p:sp>
        <p:nvSpPr>
          <p:cNvPr id="267" name="Google Shape;267;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txBox="1"/>
          <p:nvPr/>
        </p:nvSpPr>
        <p:spPr>
          <a:xfrm>
            <a:off x="457200" y="1554480"/>
            <a:ext cx="9601200" cy="10058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600" u="none" cap="none" strike="noStrike">
                <a:solidFill>
                  <a:srgbClr val="1B2A4A"/>
                </a:solidFill>
                <a:latin typeface="Calibri"/>
                <a:ea typeface="Calibri"/>
                <a:cs typeface="Calibri"/>
                <a:sym typeface="Calibri"/>
              </a:rPr>
              <a:t>Tracer Analytics Layer</a:t>
            </a:r>
            <a:endParaRPr/>
          </a:p>
        </p:txBody>
      </p:sp>
      <p:sp>
        <p:nvSpPr>
          <p:cNvPr id="86" name="Google Shape;86;p1"/>
          <p:cNvSpPr txBox="1"/>
          <p:nvPr/>
        </p:nvSpPr>
        <p:spPr>
          <a:xfrm>
            <a:off x="457200" y="2633472"/>
            <a:ext cx="73152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444444"/>
                </a:solidFill>
                <a:latin typeface="Calibri"/>
                <a:ea typeface="Calibri"/>
                <a:cs typeface="Calibri"/>
                <a:sym typeface="Calibri"/>
              </a:rPr>
              <a:t>Phase 2  Data Layer</a:t>
            </a:r>
            <a:endParaRPr/>
          </a:p>
        </p:txBody>
      </p:sp>
      <p:sp>
        <p:nvSpPr>
          <p:cNvPr id="87" name="Google Shape;87;p1"/>
          <p:cNvSpPr/>
          <p:nvPr/>
        </p:nvSpPr>
        <p:spPr>
          <a:xfrm>
            <a:off x="457200" y="3172968"/>
            <a:ext cx="2743200" cy="50292"/>
          </a:xfrm>
          <a:prstGeom prst="rect">
            <a:avLst/>
          </a:prstGeom>
          <a:solidFill>
            <a:srgbClr val="2A9DC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
          <p:cNvSpPr txBox="1"/>
          <p:nvPr/>
        </p:nvSpPr>
        <p:spPr>
          <a:xfrm>
            <a:off x="457200" y="3337560"/>
            <a:ext cx="4572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888888"/>
                </a:solidFill>
                <a:latin typeface="Calibri"/>
                <a:ea typeface="Calibri"/>
                <a:cs typeface="Calibri"/>
                <a:sym typeface="Calibri"/>
              </a:rPr>
              <a:t>TIM 175, Spring 2026</a:t>
            </a:r>
            <a:endParaRPr/>
          </a:p>
        </p:txBody>
      </p:sp>
      <p:sp>
        <p:nvSpPr>
          <p:cNvPr id="89" name="Google Shape;89;p1"/>
          <p:cNvSpPr txBox="1"/>
          <p:nvPr/>
        </p:nvSpPr>
        <p:spPr>
          <a:xfrm>
            <a:off x="457200" y="3675887"/>
            <a:ext cx="4572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888888"/>
                </a:solidFill>
                <a:latin typeface="Calibri"/>
                <a:ea typeface="Calibri"/>
                <a:cs typeface="Calibri"/>
                <a:sym typeface="Calibri"/>
              </a:rPr>
              <a:t>June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p:nvPr/>
        </p:nvSpPr>
        <p:spPr>
          <a:xfrm>
            <a:off x="0" y="0"/>
            <a:ext cx="12191695" cy="1051560"/>
          </a:xfrm>
          <a:prstGeom prst="rect">
            <a:avLst/>
          </a:prstGeom>
          <a:solidFill>
            <a:srgbClr val="1B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 name="Google Shape;96;p2"/>
          <p:cNvSpPr txBox="1"/>
          <p:nvPr/>
        </p:nvSpPr>
        <p:spPr>
          <a:xfrm>
            <a:off x="365760" y="155448"/>
            <a:ext cx="11430000" cy="892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600">
                <a:solidFill>
                  <a:srgbClr val="FFFFFF"/>
                </a:solidFill>
                <a:latin typeface="Calibri"/>
                <a:ea typeface="Calibri"/>
                <a:cs typeface="Calibri"/>
                <a:sym typeface="Calibri"/>
              </a:rPr>
              <a:t>Problem Overview: </a:t>
            </a:r>
            <a:br>
              <a:rPr b="1" lang="en-US" sz="2600">
                <a:solidFill>
                  <a:srgbClr val="FFFFFF"/>
                </a:solidFill>
                <a:latin typeface="Calibri"/>
                <a:ea typeface="Calibri"/>
                <a:cs typeface="Calibri"/>
                <a:sym typeface="Calibri"/>
              </a:rPr>
            </a:br>
            <a:r>
              <a:rPr b="1" i="0" lang="en-US" sz="2600" u="none" cap="none" strike="noStrike">
                <a:solidFill>
                  <a:srgbClr val="FFFFFF"/>
                </a:solidFill>
                <a:latin typeface="Calibri"/>
                <a:ea typeface="Calibri"/>
                <a:cs typeface="Calibri"/>
                <a:sym typeface="Calibri"/>
              </a:rPr>
              <a:t>Without a Data Layer, Tracer Cannot Defend Its Own Pricing Story</a:t>
            </a:r>
            <a:endParaRPr/>
          </a:p>
        </p:txBody>
      </p:sp>
      <p:sp>
        <p:nvSpPr>
          <p:cNvPr id="97" name="Google Shape;97;p2"/>
          <p:cNvSpPr txBox="1"/>
          <p:nvPr/>
        </p:nvSpPr>
        <p:spPr>
          <a:xfrm>
            <a:off x="365760" y="1097280"/>
            <a:ext cx="1143000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300" u="none" cap="none" strike="noStrike">
                <a:solidFill>
                  <a:srgbClr val="444444"/>
                </a:solidFill>
                <a:latin typeface="Calibri"/>
                <a:ea typeface="Calibri"/>
                <a:cs typeface="Calibri"/>
                <a:sym typeface="Calibri"/>
              </a:rPr>
              <a:t>Manual CSV pulls taking two days each produced no number Erin could walk into the CPO review with.</a:t>
            </a:r>
            <a:endParaRPr/>
          </a:p>
        </p:txBody>
      </p:sp>
      <p:sp>
        <p:nvSpPr>
          <p:cNvPr id="98" name="Google Shape;98;p2"/>
          <p:cNvSpPr/>
          <p:nvPr/>
        </p:nvSpPr>
        <p:spPr>
          <a:xfrm>
            <a:off x="365760" y="1490472"/>
            <a:ext cx="11430000" cy="27432"/>
          </a:xfrm>
          <a:prstGeom prst="rect">
            <a:avLst/>
          </a:prstGeom>
          <a:solidFill>
            <a:srgbClr val="2A9DC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 name="Google Shape;99;p2"/>
          <p:cNvSpPr/>
          <p:nvPr/>
        </p:nvSpPr>
        <p:spPr>
          <a:xfrm>
            <a:off x="5989320" y="1572768"/>
            <a:ext cx="18288" cy="5074920"/>
          </a:xfrm>
          <a:prstGeom prst="rect">
            <a:avLst/>
          </a:prstGeom>
          <a:solidFill>
            <a:srgbClr val="CCCC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 name="Google Shape;100;p2"/>
          <p:cNvSpPr txBox="1"/>
          <p:nvPr/>
        </p:nvSpPr>
        <p:spPr>
          <a:xfrm>
            <a:off x="365760" y="1627632"/>
            <a:ext cx="29260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444444"/>
                </a:solidFill>
                <a:latin typeface="Calibri"/>
                <a:ea typeface="Calibri"/>
                <a:cs typeface="Calibri"/>
                <a:sym typeface="Calibri"/>
              </a:rPr>
              <a:t>The Problem</a:t>
            </a:r>
            <a:endParaRPr/>
          </a:p>
        </p:txBody>
      </p:sp>
      <p:sp>
        <p:nvSpPr>
          <p:cNvPr id="101" name="Google Shape;101;p2"/>
          <p:cNvSpPr/>
          <p:nvPr/>
        </p:nvSpPr>
        <p:spPr>
          <a:xfrm>
            <a:off x="365760" y="1920240"/>
            <a:ext cx="819302" cy="20116"/>
          </a:xfrm>
          <a:prstGeom prst="rect">
            <a:avLst/>
          </a:prstGeom>
          <a:solidFill>
            <a:srgbClr val="2A9DC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2"/>
          <p:cNvSpPr/>
          <p:nvPr/>
        </p:nvSpPr>
        <p:spPr>
          <a:xfrm>
            <a:off x="365760" y="2089404"/>
            <a:ext cx="109728" cy="109728"/>
          </a:xfrm>
          <a:prstGeom prst="rect">
            <a:avLst/>
          </a:prstGeom>
          <a:solidFill>
            <a:srgbClr val="2A9DC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2"/>
          <p:cNvSpPr txBox="1"/>
          <p:nvPr/>
        </p:nvSpPr>
        <p:spPr>
          <a:xfrm>
            <a:off x="539496" y="2029968"/>
            <a:ext cx="5175503"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44444"/>
                </a:solidFill>
                <a:latin typeface="Calibri"/>
                <a:ea typeface="Calibri"/>
                <a:cs typeface="Calibri"/>
                <a:sym typeface="Calibri"/>
              </a:rPr>
              <a:t>No analytics layer across 4 source systems</a:t>
            </a:r>
            <a:endParaRPr/>
          </a:p>
        </p:txBody>
      </p:sp>
      <p:sp>
        <p:nvSpPr>
          <p:cNvPr id="104" name="Google Shape;104;p2"/>
          <p:cNvSpPr/>
          <p:nvPr/>
        </p:nvSpPr>
        <p:spPr>
          <a:xfrm>
            <a:off x="365760" y="2546604"/>
            <a:ext cx="109728" cy="109728"/>
          </a:xfrm>
          <a:prstGeom prst="rect">
            <a:avLst/>
          </a:prstGeom>
          <a:solidFill>
            <a:srgbClr val="2A9DC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2"/>
          <p:cNvSpPr txBox="1"/>
          <p:nvPr/>
        </p:nvSpPr>
        <p:spPr>
          <a:xfrm>
            <a:off x="539496" y="2487168"/>
            <a:ext cx="5175503"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44444"/>
                </a:solidFill>
                <a:latin typeface="Calibri"/>
                <a:ea typeface="Calibri"/>
                <a:cs typeface="Calibri"/>
                <a:sym typeface="Calibri"/>
              </a:rPr>
              <a:t>Each manual pull took 2 days and results did not reconcile</a:t>
            </a:r>
            <a:endParaRPr/>
          </a:p>
        </p:txBody>
      </p:sp>
      <p:sp>
        <p:nvSpPr>
          <p:cNvPr id="106" name="Google Shape;106;p2"/>
          <p:cNvSpPr/>
          <p:nvPr/>
        </p:nvSpPr>
        <p:spPr>
          <a:xfrm>
            <a:off x="365760" y="3003804"/>
            <a:ext cx="109728" cy="109728"/>
          </a:xfrm>
          <a:prstGeom prst="rect">
            <a:avLst/>
          </a:prstGeom>
          <a:solidFill>
            <a:srgbClr val="2A9DC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7" name="Google Shape;107;p2"/>
          <p:cNvSpPr txBox="1"/>
          <p:nvPr/>
        </p:nvSpPr>
        <p:spPr>
          <a:xfrm>
            <a:off x="539496" y="2944368"/>
            <a:ext cx="5175503"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44444"/>
                </a:solidFill>
                <a:latin typeface="Calibri"/>
                <a:ea typeface="Calibri"/>
                <a:cs typeface="Calibri"/>
                <a:sym typeface="Calibri"/>
              </a:rPr>
              <a:t>Pro+ pricing premium had no measurable proof</a:t>
            </a:r>
            <a:endParaRPr/>
          </a:p>
        </p:txBody>
      </p:sp>
      <p:sp>
        <p:nvSpPr>
          <p:cNvPr id="108" name="Google Shape;108;p2"/>
          <p:cNvSpPr/>
          <p:nvPr/>
        </p:nvSpPr>
        <p:spPr>
          <a:xfrm>
            <a:off x="365760" y="4160520"/>
            <a:ext cx="1737360" cy="1005840"/>
          </a:xfrm>
          <a:prstGeom prst="rect">
            <a:avLst/>
          </a:prstGeom>
          <a:solidFill>
            <a:srgbClr val="1B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9" name="Google Shape;109;p2"/>
          <p:cNvSpPr txBox="1"/>
          <p:nvPr/>
        </p:nvSpPr>
        <p:spPr>
          <a:xfrm>
            <a:off x="411480" y="4224528"/>
            <a:ext cx="1645919" cy="4754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700" u="none" cap="none" strike="noStrike">
                <a:solidFill>
                  <a:srgbClr val="FFFFFF"/>
                </a:solidFill>
                <a:latin typeface="Calibri"/>
                <a:ea typeface="Calibri"/>
                <a:cs typeface="Calibri"/>
                <a:sym typeface="Calibri"/>
              </a:rPr>
              <a:t>48.3%</a:t>
            </a:r>
            <a:endParaRPr/>
          </a:p>
        </p:txBody>
      </p:sp>
      <p:sp>
        <p:nvSpPr>
          <p:cNvPr id="110" name="Google Shape;110;p2"/>
          <p:cNvSpPr txBox="1"/>
          <p:nvPr/>
        </p:nvSpPr>
        <p:spPr>
          <a:xfrm>
            <a:off x="438912" y="4709159"/>
            <a:ext cx="1591056" cy="40233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FFFFFF"/>
                </a:solidFill>
                <a:latin typeface="Calibri"/>
                <a:ea typeface="Calibri"/>
                <a:cs typeface="Calibri"/>
                <a:sym typeface="Calibri"/>
              </a:rPr>
              <a:t>Rollouts adoption vs 60% target</a:t>
            </a:r>
            <a:endParaRPr/>
          </a:p>
        </p:txBody>
      </p:sp>
      <p:sp>
        <p:nvSpPr>
          <p:cNvPr id="111" name="Google Shape;111;p2"/>
          <p:cNvSpPr/>
          <p:nvPr/>
        </p:nvSpPr>
        <p:spPr>
          <a:xfrm>
            <a:off x="2240280" y="4160520"/>
            <a:ext cx="1737360" cy="1005840"/>
          </a:xfrm>
          <a:prstGeom prst="rect">
            <a:avLst/>
          </a:prstGeom>
          <a:solidFill>
            <a:srgbClr val="1B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2"/>
          <p:cNvSpPr txBox="1"/>
          <p:nvPr/>
        </p:nvSpPr>
        <p:spPr>
          <a:xfrm>
            <a:off x="2286000" y="4224528"/>
            <a:ext cx="1645919" cy="4754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700" u="none" cap="none" strike="noStrike">
                <a:solidFill>
                  <a:srgbClr val="FFFFFF"/>
                </a:solidFill>
                <a:latin typeface="Calibri"/>
                <a:ea typeface="Calibri"/>
                <a:cs typeface="Calibri"/>
                <a:sym typeface="Calibri"/>
              </a:rPr>
              <a:t>29</a:t>
            </a:r>
            <a:endParaRPr/>
          </a:p>
        </p:txBody>
      </p:sp>
      <p:sp>
        <p:nvSpPr>
          <p:cNvPr id="113" name="Google Shape;113;p2"/>
          <p:cNvSpPr txBox="1"/>
          <p:nvPr/>
        </p:nvSpPr>
        <p:spPr>
          <a:xfrm>
            <a:off x="2313432" y="4709159"/>
            <a:ext cx="1591056" cy="40233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FFFFFF"/>
                </a:solidFill>
                <a:latin typeface="Calibri"/>
                <a:ea typeface="Calibri"/>
                <a:cs typeface="Calibri"/>
                <a:sym typeface="Calibri"/>
              </a:rPr>
              <a:t>Pro+ orgs at April month-end, flat since Feb</a:t>
            </a:r>
            <a:endParaRPr/>
          </a:p>
        </p:txBody>
      </p:sp>
      <p:sp>
        <p:nvSpPr>
          <p:cNvPr id="114" name="Google Shape;114;p2"/>
          <p:cNvSpPr/>
          <p:nvPr/>
        </p:nvSpPr>
        <p:spPr>
          <a:xfrm>
            <a:off x="4114800" y="4160520"/>
            <a:ext cx="1737360" cy="1005840"/>
          </a:xfrm>
          <a:prstGeom prst="rect">
            <a:avLst/>
          </a:prstGeom>
          <a:solidFill>
            <a:srgbClr val="1B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2"/>
          <p:cNvSpPr txBox="1"/>
          <p:nvPr/>
        </p:nvSpPr>
        <p:spPr>
          <a:xfrm>
            <a:off x="4160520" y="4224528"/>
            <a:ext cx="1645919" cy="4754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700" u="none" cap="none" strike="noStrike">
                <a:solidFill>
                  <a:srgbClr val="FFFFFF"/>
                </a:solidFill>
                <a:latin typeface="Calibri"/>
                <a:ea typeface="Calibri"/>
                <a:cs typeface="Calibri"/>
                <a:sym typeface="Calibri"/>
              </a:rPr>
              <a:t>15</a:t>
            </a:r>
            <a:endParaRPr/>
          </a:p>
        </p:txBody>
      </p:sp>
      <p:sp>
        <p:nvSpPr>
          <p:cNvPr id="116" name="Google Shape;116;p2"/>
          <p:cNvSpPr txBox="1"/>
          <p:nvPr/>
        </p:nvSpPr>
        <p:spPr>
          <a:xfrm>
            <a:off x="4187952" y="4709159"/>
            <a:ext cx="1591056" cy="40233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FFFFFF"/>
                </a:solidFill>
                <a:latin typeface="Calibri"/>
                <a:ea typeface="Calibri"/>
                <a:cs typeface="Calibri"/>
                <a:sym typeface="Calibri"/>
              </a:rPr>
              <a:t>Non-adopting Pro+ orgs at renewal risk</a:t>
            </a:r>
            <a:endParaRPr/>
          </a:p>
        </p:txBody>
      </p:sp>
      <p:sp>
        <p:nvSpPr>
          <p:cNvPr id="117" name="Google Shape;117;p2"/>
          <p:cNvSpPr txBox="1"/>
          <p:nvPr/>
        </p:nvSpPr>
        <p:spPr>
          <a:xfrm>
            <a:off x="6217920" y="1627632"/>
            <a:ext cx="29260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444444"/>
                </a:solidFill>
                <a:latin typeface="Calibri"/>
                <a:ea typeface="Calibri"/>
                <a:cs typeface="Calibri"/>
                <a:sym typeface="Calibri"/>
              </a:rPr>
              <a:t>What We Built</a:t>
            </a:r>
            <a:endParaRPr/>
          </a:p>
        </p:txBody>
      </p:sp>
      <p:sp>
        <p:nvSpPr>
          <p:cNvPr id="118" name="Google Shape;118;p2"/>
          <p:cNvSpPr/>
          <p:nvPr/>
        </p:nvSpPr>
        <p:spPr>
          <a:xfrm>
            <a:off x="6217920" y="1920240"/>
            <a:ext cx="819302" cy="20116"/>
          </a:xfrm>
          <a:prstGeom prst="rect">
            <a:avLst/>
          </a:prstGeom>
          <a:solidFill>
            <a:srgbClr val="2A9DC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p2"/>
          <p:cNvSpPr/>
          <p:nvPr/>
        </p:nvSpPr>
        <p:spPr>
          <a:xfrm>
            <a:off x="6217920" y="2089404"/>
            <a:ext cx="109728" cy="109728"/>
          </a:xfrm>
          <a:prstGeom prst="rect">
            <a:avLst/>
          </a:prstGeom>
          <a:solidFill>
            <a:srgbClr val="2A9DC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 name="Google Shape;120;p2"/>
          <p:cNvSpPr txBox="1"/>
          <p:nvPr/>
        </p:nvSpPr>
        <p:spPr>
          <a:xfrm>
            <a:off x="6391656" y="2029968"/>
            <a:ext cx="5404103"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44444"/>
                </a:solidFill>
                <a:latin typeface="Calibri"/>
                <a:ea typeface="Calibri"/>
                <a:cs typeface="Calibri"/>
                <a:sym typeface="Calibri"/>
              </a:rPr>
              <a:t>Star schema on dbt over the existing warehouse</a:t>
            </a:r>
            <a:endParaRPr/>
          </a:p>
        </p:txBody>
      </p:sp>
      <p:sp>
        <p:nvSpPr>
          <p:cNvPr id="121" name="Google Shape;121;p2"/>
          <p:cNvSpPr/>
          <p:nvPr/>
        </p:nvSpPr>
        <p:spPr>
          <a:xfrm>
            <a:off x="6217920" y="2546604"/>
            <a:ext cx="109728" cy="109728"/>
          </a:xfrm>
          <a:prstGeom prst="rect">
            <a:avLst/>
          </a:prstGeom>
          <a:solidFill>
            <a:srgbClr val="2A9DC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2"/>
          <p:cNvSpPr txBox="1"/>
          <p:nvPr/>
        </p:nvSpPr>
        <p:spPr>
          <a:xfrm>
            <a:off x="6391656" y="2487168"/>
            <a:ext cx="5404103"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44444"/>
                </a:solidFill>
                <a:latin typeface="Calibri"/>
                <a:ea typeface="Calibri"/>
                <a:cs typeface="Calibri"/>
                <a:sym typeface="Calibri"/>
              </a:rPr>
              <a:t>Three defensible numbers produced in one build command</a:t>
            </a:r>
            <a:endParaRPr/>
          </a:p>
        </p:txBody>
      </p:sp>
      <p:sp>
        <p:nvSpPr>
          <p:cNvPr id="123" name="Google Shape;123;p2"/>
          <p:cNvSpPr/>
          <p:nvPr/>
        </p:nvSpPr>
        <p:spPr>
          <a:xfrm>
            <a:off x="6217920" y="3003804"/>
            <a:ext cx="109728" cy="109728"/>
          </a:xfrm>
          <a:prstGeom prst="rect">
            <a:avLst/>
          </a:prstGeom>
          <a:solidFill>
            <a:srgbClr val="2A9DC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2"/>
          <p:cNvSpPr txBox="1"/>
          <p:nvPr/>
        </p:nvSpPr>
        <p:spPr>
          <a:xfrm>
            <a:off x="6391656" y="2944368"/>
            <a:ext cx="5404103"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44444"/>
                </a:solidFill>
                <a:latin typeface="Calibri"/>
                <a:ea typeface="Calibri"/>
                <a:cs typeface="Calibri"/>
                <a:sym typeface="Calibri"/>
              </a:rPr>
              <a:t>Same model answers follow-up questions live at the CPO review</a:t>
            </a:r>
            <a:endParaRPr/>
          </a:p>
        </p:txBody>
      </p:sp>
      <p:sp>
        <p:nvSpPr>
          <p:cNvPr id="125" name="Google Shape;125;p2"/>
          <p:cNvSpPr/>
          <p:nvPr/>
        </p:nvSpPr>
        <p:spPr>
          <a:xfrm>
            <a:off x="6217920" y="3858768"/>
            <a:ext cx="5577840" cy="1371600"/>
          </a:xfrm>
          <a:prstGeom prst="rect">
            <a:avLst/>
          </a:prstGeom>
          <a:solidFill>
            <a:srgbClr val="E8F4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 name="Google Shape;126;p2"/>
          <p:cNvSpPr txBox="1"/>
          <p:nvPr/>
        </p:nvSpPr>
        <p:spPr>
          <a:xfrm>
            <a:off x="6355080" y="3950207"/>
            <a:ext cx="5303520" cy="11887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100" u="none" cap="none" strike="noStrike">
                <a:solidFill>
                  <a:srgbClr val="444444"/>
                </a:solidFill>
                <a:latin typeface="Calibri"/>
                <a:ea typeface="Calibri"/>
                <a:cs typeface="Calibri"/>
                <a:sym typeface="Calibri"/>
              </a:rPr>
              <a:t>Erin can now walk into the CPO review with reproducible numbers and answer follow-up questions without a 2-day wait.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e75cd86c48_0_8"/>
          <p:cNvSpPr/>
          <p:nvPr/>
        </p:nvSpPr>
        <p:spPr>
          <a:xfrm>
            <a:off x="0" y="0"/>
            <a:ext cx="12191700" cy="1051500"/>
          </a:xfrm>
          <a:prstGeom prst="rect">
            <a:avLst/>
          </a:prstGeom>
          <a:solidFill>
            <a:srgbClr val="1B2A4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g3e75cd86c48_0_8"/>
          <p:cNvSpPr txBox="1"/>
          <p:nvPr/>
        </p:nvSpPr>
        <p:spPr>
          <a:xfrm>
            <a:off x="365760" y="155448"/>
            <a:ext cx="11430000" cy="892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600">
                <a:solidFill>
                  <a:srgbClr val="FFFFFF"/>
                </a:solidFill>
                <a:latin typeface="Calibri"/>
                <a:ea typeface="Calibri"/>
                <a:cs typeface="Calibri"/>
                <a:sym typeface="Calibri"/>
              </a:rPr>
              <a:t>Recommendation:</a:t>
            </a:r>
            <a:br>
              <a:rPr b="1" lang="en-US" sz="2600">
                <a:solidFill>
                  <a:srgbClr val="FFFFFF"/>
                </a:solidFill>
                <a:latin typeface="Calibri"/>
                <a:ea typeface="Calibri"/>
                <a:cs typeface="Calibri"/>
                <a:sym typeface="Calibri"/>
              </a:rPr>
            </a:br>
            <a:r>
              <a:rPr b="1" i="0" lang="en-US" sz="2600" u="none" cap="none" strike="noStrike">
                <a:solidFill>
                  <a:srgbClr val="FFFFFF"/>
                </a:solidFill>
                <a:latin typeface="Calibri"/>
                <a:ea typeface="Calibri"/>
                <a:cs typeface="Calibri"/>
                <a:sym typeface="Calibri"/>
              </a:rPr>
              <a:t>Activate the 15 Non-Adopting Pro+ Orgs Before Their Renewals</a:t>
            </a:r>
            <a:endParaRPr/>
          </a:p>
        </p:txBody>
      </p:sp>
      <p:sp>
        <p:nvSpPr>
          <p:cNvPr id="134" name="Google Shape;134;g3e75cd86c48_0_8"/>
          <p:cNvSpPr txBox="1"/>
          <p:nvPr/>
        </p:nvSpPr>
        <p:spPr>
          <a:xfrm>
            <a:off x="365760" y="1097280"/>
            <a:ext cx="114300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300" u="none" cap="none" strike="noStrike">
                <a:solidFill>
                  <a:srgbClr val="444444"/>
                </a:solidFill>
                <a:latin typeface="Calibri"/>
                <a:ea typeface="Calibri"/>
                <a:cs typeface="Calibri"/>
                <a:sym typeface="Calibri"/>
              </a:rPr>
              <a:t>Flipping 4 orgs from non-adopter to adopter closes the gap from 48% to 60%.</a:t>
            </a:r>
            <a:endParaRPr/>
          </a:p>
        </p:txBody>
      </p:sp>
      <p:sp>
        <p:nvSpPr>
          <p:cNvPr id="135" name="Google Shape;135;g3e75cd86c48_0_8"/>
          <p:cNvSpPr/>
          <p:nvPr/>
        </p:nvSpPr>
        <p:spPr>
          <a:xfrm>
            <a:off x="365760" y="1490472"/>
            <a:ext cx="11430000" cy="27300"/>
          </a:xfrm>
          <a:prstGeom prst="rect">
            <a:avLst/>
          </a:prstGeom>
          <a:solidFill>
            <a:srgbClr val="2A9DC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g3e75cd86c48_0_8"/>
          <p:cNvSpPr/>
          <p:nvPr/>
        </p:nvSpPr>
        <p:spPr>
          <a:xfrm>
            <a:off x="365760" y="1664208"/>
            <a:ext cx="3566100" cy="4114800"/>
          </a:xfrm>
          <a:prstGeom prst="rect">
            <a:avLst/>
          </a:prstGeom>
          <a:solidFill>
            <a:srgbClr val="F2F2F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g3e75cd86c48_0_8"/>
          <p:cNvSpPr txBox="1"/>
          <p:nvPr/>
        </p:nvSpPr>
        <p:spPr>
          <a:xfrm>
            <a:off x="502920" y="1773936"/>
            <a:ext cx="32919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444444"/>
                </a:solidFill>
                <a:latin typeface="Calibri"/>
                <a:ea typeface="Calibri"/>
                <a:cs typeface="Calibri"/>
                <a:sym typeface="Calibri"/>
              </a:rPr>
              <a:t>The Signal</a:t>
            </a:r>
            <a:endParaRPr/>
          </a:p>
        </p:txBody>
      </p:sp>
      <p:sp>
        <p:nvSpPr>
          <p:cNvPr id="138" name="Google Shape;138;g3e75cd86c48_0_8"/>
          <p:cNvSpPr txBox="1"/>
          <p:nvPr/>
        </p:nvSpPr>
        <p:spPr>
          <a:xfrm>
            <a:off x="502920" y="2176272"/>
            <a:ext cx="32919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100" u="none" cap="none" strike="noStrike">
                <a:solidFill>
                  <a:srgbClr val="2A9DC4"/>
                </a:solidFill>
                <a:latin typeface="Calibri"/>
                <a:ea typeface="Calibri"/>
                <a:cs typeface="Calibri"/>
                <a:sym typeface="Calibri"/>
              </a:rPr>
              <a:t>What the data shows</a:t>
            </a:r>
            <a:endParaRPr/>
          </a:p>
        </p:txBody>
      </p:sp>
      <p:sp>
        <p:nvSpPr>
          <p:cNvPr id="139" name="Google Shape;139;g3e75cd86c48_0_8"/>
          <p:cNvSpPr/>
          <p:nvPr/>
        </p:nvSpPr>
        <p:spPr>
          <a:xfrm>
            <a:off x="502920" y="2459736"/>
            <a:ext cx="3291900" cy="20100"/>
          </a:xfrm>
          <a:prstGeom prst="rect">
            <a:avLst/>
          </a:prstGeom>
          <a:solidFill>
            <a:srgbClr val="2A9DC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g3e75cd86c48_0_8"/>
          <p:cNvSpPr txBox="1"/>
          <p:nvPr/>
        </p:nvSpPr>
        <p:spPr>
          <a:xfrm>
            <a:off x="502920" y="2551176"/>
            <a:ext cx="32919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44444"/>
                </a:solidFill>
                <a:latin typeface="Calibri"/>
                <a:ea typeface="Calibri"/>
                <a:cs typeface="Calibri"/>
                <a:sym typeface="Calibri"/>
              </a:rPr>
              <a:t>Pro+ count flat at 29 since February. Pro MRR flat at $50,955. Starter down 21% with no upgrade conversion. Rollouts launched four months ago and revenue has not moved.</a:t>
            </a:r>
            <a:endParaRPr/>
          </a:p>
        </p:txBody>
      </p:sp>
      <p:sp>
        <p:nvSpPr>
          <p:cNvPr id="141" name="Google Shape;141;g3e75cd86c48_0_8"/>
          <p:cNvSpPr/>
          <p:nvPr/>
        </p:nvSpPr>
        <p:spPr>
          <a:xfrm>
            <a:off x="4128516" y="1664208"/>
            <a:ext cx="3566100" cy="4114800"/>
          </a:xfrm>
          <a:prstGeom prst="rect">
            <a:avLst/>
          </a:prstGeom>
          <a:solidFill>
            <a:srgbClr val="F2F2F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g3e75cd86c48_0_8"/>
          <p:cNvSpPr txBox="1"/>
          <p:nvPr/>
        </p:nvSpPr>
        <p:spPr>
          <a:xfrm>
            <a:off x="4265676" y="1773936"/>
            <a:ext cx="32919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444444"/>
                </a:solidFill>
                <a:latin typeface="Calibri"/>
                <a:ea typeface="Calibri"/>
                <a:cs typeface="Calibri"/>
                <a:sym typeface="Calibri"/>
              </a:rPr>
              <a:t>The Gap</a:t>
            </a:r>
            <a:endParaRPr/>
          </a:p>
        </p:txBody>
      </p:sp>
      <p:sp>
        <p:nvSpPr>
          <p:cNvPr id="143" name="Google Shape;143;g3e75cd86c48_0_8"/>
          <p:cNvSpPr txBox="1"/>
          <p:nvPr/>
        </p:nvSpPr>
        <p:spPr>
          <a:xfrm>
            <a:off x="4265676" y="2176272"/>
            <a:ext cx="32919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100" u="none" cap="none" strike="noStrike">
                <a:solidFill>
                  <a:srgbClr val="2A9DC4"/>
                </a:solidFill>
                <a:latin typeface="Calibri"/>
                <a:ea typeface="Calibri"/>
                <a:cs typeface="Calibri"/>
                <a:sym typeface="Calibri"/>
              </a:rPr>
              <a:t>Where we are vs target</a:t>
            </a:r>
            <a:endParaRPr/>
          </a:p>
        </p:txBody>
      </p:sp>
      <p:sp>
        <p:nvSpPr>
          <p:cNvPr id="144" name="Google Shape;144;g3e75cd86c48_0_8"/>
          <p:cNvSpPr/>
          <p:nvPr/>
        </p:nvSpPr>
        <p:spPr>
          <a:xfrm>
            <a:off x="4265676" y="2459736"/>
            <a:ext cx="3291900" cy="20100"/>
          </a:xfrm>
          <a:prstGeom prst="rect">
            <a:avLst/>
          </a:prstGeom>
          <a:solidFill>
            <a:srgbClr val="2A9DC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 name="Google Shape;145;g3e75cd86c48_0_8"/>
          <p:cNvSpPr txBox="1"/>
          <p:nvPr/>
        </p:nvSpPr>
        <p:spPr>
          <a:xfrm>
            <a:off x="4265676" y="2551176"/>
            <a:ext cx="32919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44444"/>
                </a:solidFill>
                <a:latin typeface="Calibri"/>
                <a:ea typeface="Calibri"/>
                <a:cs typeface="Calibri"/>
                <a:sym typeface="Calibri"/>
              </a:rPr>
              <a:t>48.3% adoption. 15 of 29 Pro+ orgs have never used the feature their tier is priced around. At renewal, they have no demonstrated reason to stay on Pro+.</a:t>
            </a:r>
            <a:endParaRPr/>
          </a:p>
        </p:txBody>
      </p:sp>
      <p:sp>
        <p:nvSpPr>
          <p:cNvPr id="146" name="Google Shape;146;g3e75cd86c48_0_8"/>
          <p:cNvSpPr/>
          <p:nvPr/>
        </p:nvSpPr>
        <p:spPr>
          <a:xfrm>
            <a:off x="7891272" y="1664208"/>
            <a:ext cx="3566100" cy="4114800"/>
          </a:xfrm>
          <a:prstGeom prst="rect">
            <a:avLst/>
          </a:prstGeom>
          <a:solidFill>
            <a:srgbClr val="F2F2F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 name="Google Shape;147;g3e75cd86c48_0_8"/>
          <p:cNvSpPr txBox="1"/>
          <p:nvPr/>
        </p:nvSpPr>
        <p:spPr>
          <a:xfrm>
            <a:off x="8028432" y="1773936"/>
            <a:ext cx="32919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444444"/>
                </a:solidFill>
                <a:latin typeface="Calibri"/>
                <a:ea typeface="Calibri"/>
                <a:cs typeface="Calibri"/>
                <a:sym typeface="Calibri"/>
              </a:rPr>
              <a:t>The Action</a:t>
            </a:r>
            <a:endParaRPr/>
          </a:p>
        </p:txBody>
      </p:sp>
      <p:sp>
        <p:nvSpPr>
          <p:cNvPr id="148" name="Google Shape;148;g3e75cd86c48_0_8"/>
          <p:cNvSpPr txBox="1"/>
          <p:nvPr/>
        </p:nvSpPr>
        <p:spPr>
          <a:xfrm>
            <a:off x="8028432" y="2176272"/>
            <a:ext cx="32919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100" u="none" cap="none" strike="noStrike">
                <a:solidFill>
                  <a:srgbClr val="2A9DC4"/>
                </a:solidFill>
                <a:latin typeface="Calibri"/>
                <a:ea typeface="Calibri"/>
                <a:cs typeface="Calibri"/>
                <a:sym typeface="Calibri"/>
              </a:rPr>
              <a:t>What to do</a:t>
            </a:r>
            <a:endParaRPr/>
          </a:p>
        </p:txBody>
      </p:sp>
      <p:sp>
        <p:nvSpPr>
          <p:cNvPr id="149" name="Google Shape;149;g3e75cd86c48_0_8"/>
          <p:cNvSpPr/>
          <p:nvPr/>
        </p:nvSpPr>
        <p:spPr>
          <a:xfrm>
            <a:off x="8028432" y="2459736"/>
            <a:ext cx="3291900" cy="20100"/>
          </a:xfrm>
          <a:prstGeom prst="rect">
            <a:avLst/>
          </a:prstGeom>
          <a:solidFill>
            <a:srgbClr val="2A9DC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 name="Google Shape;150;g3e75cd86c48_0_8"/>
          <p:cNvSpPr txBox="1"/>
          <p:nvPr/>
        </p:nvSpPr>
        <p:spPr>
          <a:xfrm>
            <a:off x="8028432" y="2551176"/>
            <a:ext cx="32919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44444"/>
                </a:solidFill>
                <a:latin typeface="Calibri"/>
                <a:ea typeface="Calibri"/>
                <a:cs typeface="Calibri"/>
                <a:sym typeface="Calibri"/>
              </a:rPr>
              <a:t>Use the Q2 adoption data to identify the 15 non-adopters. Prioritize by contract age. Run direct activation outreach, not self-serve. Closing 4 orgs hits the 60% target.</a:t>
            </a:r>
            <a:endParaRPr/>
          </a:p>
        </p:txBody>
      </p:sp>
      <p:sp>
        <p:nvSpPr>
          <p:cNvPr id="151" name="Google Shape;151;g3e75cd86c48_0_8"/>
          <p:cNvSpPr/>
          <p:nvPr/>
        </p:nvSpPr>
        <p:spPr>
          <a:xfrm>
            <a:off x="365760" y="6035040"/>
            <a:ext cx="11430000" cy="658500"/>
          </a:xfrm>
          <a:prstGeom prst="rect">
            <a:avLst/>
          </a:prstGeom>
          <a:solidFill>
            <a:srgbClr val="1B2A4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g3e75cd86c48_0_8"/>
          <p:cNvSpPr txBox="1"/>
          <p:nvPr/>
        </p:nvSpPr>
        <p:spPr>
          <a:xfrm>
            <a:off x="502920" y="6126479"/>
            <a:ext cx="111558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The same model that produced these numbers can be queried weekly to track progress.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75cd86c48_0_108"/>
          <p:cNvSpPr/>
          <p:nvPr/>
        </p:nvSpPr>
        <p:spPr>
          <a:xfrm>
            <a:off x="0" y="0"/>
            <a:ext cx="12191700" cy="1051500"/>
          </a:xfrm>
          <a:prstGeom prst="rect">
            <a:avLst/>
          </a:prstGeom>
          <a:solidFill>
            <a:srgbClr val="1B2A4A"/>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g3e75cd86c48_0_108"/>
          <p:cNvSpPr txBox="1"/>
          <p:nvPr/>
        </p:nvSpPr>
        <p:spPr>
          <a:xfrm>
            <a:off x="365760" y="155448"/>
            <a:ext cx="11430000" cy="49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600">
                <a:solidFill>
                  <a:srgbClr val="FFFFFF"/>
                </a:solidFill>
                <a:latin typeface="Calibri"/>
                <a:ea typeface="Calibri"/>
                <a:cs typeface="Calibri"/>
                <a:sym typeface="Calibri"/>
              </a:rPr>
              <a:t>Business</a:t>
            </a:r>
            <a:r>
              <a:rPr b="1" lang="en-US" sz="2600">
                <a:solidFill>
                  <a:srgbClr val="FFFFFF"/>
                </a:solidFill>
                <a:latin typeface="Calibri"/>
                <a:ea typeface="Calibri"/>
                <a:cs typeface="Calibri"/>
                <a:sym typeface="Calibri"/>
              </a:rPr>
              <a:t> Case: </a:t>
            </a:r>
            <a:r>
              <a:rPr b="1" i="0" lang="en-US" sz="2600" u="none" cap="none" strike="noStrike">
                <a:solidFill>
                  <a:srgbClr val="FFFFFF"/>
                </a:solidFill>
                <a:latin typeface="Calibri"/>
                <a:ea typeface="Calibri"/>
                <a:cs typeface="Calibri"/>
                <a:sym typeface="Calibri"/>
              </a:rPr>
              <a:t>Why an In-House Analytical Layer, and Why Now</a:t>
            </a:r>
            <a:endParaRPr/>
          </a:p>
        </p:txBody>
      </p:sp>
      <p:sp>
        <p:nvSpPr>
          <p:cNvPr id="160" name="Google Shape;160;g3e75cd86c48_0_108"/>
          <p:cNvSpPr txBox="1"/>
          <p:nvPr/>
        </p:nvSpPr>
        <p:spPr>
          <a:xfrm>
            <a:off x="365760" y="1097280"/>
            <a:ext cx="114300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300" u="none" cap="none" strike="noStrike">
                <a:solidFill>
                  <a:srgbClr val="444444"/>
                </a:solidFill>
                <a:latin typeface="Calibri"/>
                <a:ea typeface="Calibri"/>
                <a:cs typeface="Calibri"/>
                <a:sym typeface="Calibri"/>
              </a:rPr>
              <a:t>Tracer considered four options. Three of them still would not have produced a number in time.</a:t>
            </a:r>
            <a:endParaRPr/>
          </a:p>
        </p:txBody>
      </p:sp>
      <p:sp>
        <p:nvSpPr>
          <p:cNvPr id="161" name="Google Shape;161;g3e75cd86c48_0_108"/>
          <p:cNvSpPr/>
          <p:nvPr/>
        </p:nvSpPr>
        <p:spPr>
          <a:xfrm>
            <a:off x="365760" y="1490472"/>
            <a:ext cx="11430000" cy="27300"/>
          </a:xfrm>
          <a:prstGeom prst="rect">
            <a:avLst/>
          </a:prstGeom>
          <a:solidFill>
            <a:srgbClr val="2A9DC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g3e75cd86c48_0_108"/>
          <p:cNvSpPr/>
          <p:nvPr/>
        </p:nvSpPr>
        <p:spPr>
          <a:xfrm>
            <a:off x="5989320" y="1572768"/>
            <a:ext cx="18300" cy="5074800"/>
          </a:xfrm>
          <a:prstGeom prst="rect">
            <a:avLst/>
          </a:prstGeom>
          <a:solidFill>
            <a:srgbClr val="CCCCC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g3e75cd86c48_0_108"/>
          <p:cNvSpPr txBox="1"/>
          <p:nvPr/>
        </p:nvSpPr>
        <p:spPr>
          <a:xfrm>
            <a:off x="365760" y="1627632"/>
            <a:ext cx="32004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444444"/>
                </a:solidFill>
                <a:latin typeface="Calibri"/>
                <a:ea typeface="Calibri"/>
                <a:cs typeface="Calibri"/>
                <a:sym typeface="Calibri"/>
              </a:rPr>
              <a:t>What We Rejected</a:t>
            </a:r>
            <a:endParaRPr/>
          </a:p>
        </p:txBody>
      </p:sp>
      <p:sp>
        <p:nvSpPr>
          <p:cNvPr id="164" name="Google Shape;164;g3e75cd86c48_0_108"/>
          <p:cNvSpPr/>
          <p:nvPr/>
        </p:nvSpPr>
        <p:spPr>
          <a:xfrm>
            <a:off x="365760" y="1920240"/>
            <a:ext cx="896100" cy="20100"/>
          </a:xfrm>
          <a:prstGeom prst="rect">
            <a:avLst/>
          </a:prstGeom>
          <a:solidFill>
            <a:srgbClr val="2A9DC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g3e75cd86c48_0_108"/>
          <p:cNvSpPr/>
          <p:nvPr/>
        </p:nvSpPr>
        <p:spPr>
          <a:xfrm>
            <a:off x="365760" y="2089404"/>
            <a:ext cx="109800" cy="109800"/>
          </a:xfrm>
          <a:prstGeom prst="rect">
            <a:avLst/>
          </a:prstGeom>
          <a:solidFill>
            <a:srgbClr val="2A9DC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g3e75cd86c48_0_108"/>
          <p:cNvSpPr txBox="1"/>
          <p:nvPr/>
        </p:nvSpPr>
        <p:spPr>
          <a:xfrm>
            <a:off x="539496" y="2029968"/>
            <a:ext cx="51756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44444"/>
                </a:solidFill>
                <a:latin typeface="Calibri"/>
                <a:ea typeface="Calibri"/>
                <a:cs typeface="Calibri"/>
                <a:sym typeface="Calibri"/>
              </a:rPr>
              <a:t>Status quo: 2-day manual pulls that did not reconcile pull to pull</a:t>
            </a:r>
            <a:endParaRPr/>
          </a:p>
        </p:txBody>
      </p:sp>
      <p:sp>
        <p:nvSpPr>
          <p:cNvPr id="167" name="Google Shape;167;g3e75cd86c48_0_108"/>
          <p:cNvSpPr/>
          <p:nvPr/>
        </p:nvSpPr>
        <p:spPr>
          <a:xfrm>
            <a:off x="365760" y="2564892"/>
            <a:ext cx="109800" cy="109800"/>
          </a:xfrm>
          <a:prstGeom prst="rect">
            <a:avLst/>
          </a:prstGeom>
          <a:solidFill>
            <a:srgbClr val="2A9DC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g3e75cd86c48_0_108"/>
          <p:cNvSpPr txBox="1"/>
          <p:nvPr/>
        </p:nvSpPr>
        <p:spPr>
          <a:xfrm>
            <a:off x="539496" y="2505456"/>
            <a:ext cx="51756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44444"/>
                </a:solidFill>
                <a:latin typeface="Calibri"/>
                <a:ea typeface="Calibri"/>
                <a:cs typeface="Calibri"/>
                <a:sym typeface="Calibri"/>
              </a:rPr>
              <a:t>Direct DB queries: spans four services, no shared model, operational risk to production</a:t>
            </a:r>
            <a:endParaRPr/>
          </a:p>
        </p:txBody>
      </p:sp>
      <p:sp>
        <p:nvSpPr>
          <p:cNvPr id="169" name="Google Shape;169;g3e75cd86c48_0_108"/>
          <p:cNvSpPr/>
          <p:nvPr/>
        </p:nvSpPr>
        <p:spPr>
          <a:xfrm>
            <a:off x="365760" y="3040380"/>
            <a:ext cx="109800" cy="109800"/>
          </a:xfrm>
          <a:prstGeom prst="rect">
            <a:avLst/>
          </a:prstGeom>
          <a:solidFill>
            <a:srgbClr val="2A9DC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g3e75cd86c48_0_108"/>
          <p:cNvSpPr txBox="1"/>
          <p:nvPr/>
        </p:nvSpPr>
        <p:spPr>
          <a:xfrm>
            <a:off x="539496" y="2980944"/>
            <a:ext cx="51756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44444"/>
                </a:solidFill>
                <a:latin typeface="Calibri"/>
                <a:ea typeface="Calibri"/>
                <a:cs typeface="Calibri"/>
                <a:sym typeface="Calibri"/>
              </a:rPr>
              <a:t>BI vendor: 6 to 9 months to deploy, Tracer does not own the model, misses the CPO review</a:t>
            </a:r>
            <a:endParaRPr/>
          </a:p>
        </p:txBody>
      </p:sp>
      <p:sp>
        <p:nvSpPr>
          <p:cNvPr id="171" name="Google Shape;171;g3e75cd86c48_0_108"/>
          <p:cNvSpPr/>
          <p:nvPr/>
        </p:nvSpPr>
        <p:spPr>
          <a:xfrm>
            <a:off x="365760" y="3515868"/>
            <a:ext cx="109800" cy="109800"/>
          </a:xfrm>
          <a:prstGeom prst="rect">
            <a:avLst/>
          </a:prstGeom>
          <a:solidFill>
            <a:srgbClr val="2A9DC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g3e75cd86c48_0_108"/>
          <p:cNvSpPr txBox="1"/>
          <p:nvPr/>
        </p:nvSpPr>
        <p:spPr>
          <a:xfrm>
            <a:off x="539496" y="3456432"/>
            <a:ext cx="51756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44444"/>
                </a:solidFill>
                <a:latin typeface="Calibri"/>
                <a:ea typeface="Calibri"/>
                <a:cs typeface="Calibri"/>
                <a:sym typeface="Calibri"/>
              </a:rPr>
              <a:t>Overbuilt system: future-proofed integration adds months; CPO needs numbers in 30 days</a:t>
            </a:r>
            <a:endParaRPr/>
          </a:p>
        </p:txBody>
      </p:sp>
      <p:sp>
        <p:nvSpPr>
          <p:cNvPr id="173" name="Google Shape;173;g3e75cd86c48_0_108"/>
          <p:cNvSpPr txBox="1"/>
          <p:nvPr/>
        </p:nvSpPr>
        <p:spPr>
          <a:xfrm>
            <a:off x="6217920" y="1627632"/>
            <a:ext cx="32004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444444"/>
                </a:solidFill>
                <a:latin typeface="Calibri"/>
                <a:ea typeface="Calibri"/>
                <a:cs typeface="Calibri"/>
                <a:sym typeface="Calibri"/>
              </a:rPr>
              <a:t>Why In-House dbt</a:t>
            </a:r>
            <a:endParaRPr/>
          </a:p>
        </p:txBody>
      </p:sp>
      <p:sp>
        <p:nvSpPr>
          <p:cNvPr id="174" name="Google Shape;174;g3e75cd86c48_0_108"/>
          <p:cNvSpPr/>
          <p:nvPr/>
        </p:nvSpPr>
        <p:spPr>
          <a:xfrm>
            <a:off x="6217920" y="1920240"/>
            <a:ext cx="896100" cy="20100"/>
          </a:xfrm>
          <a:prstGeom prst="rect">
            <a:avLst/>
          </a:prstGeom>
          <a:solidFill>
            <a:srgbClr val="2A9DC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g3e75cd86c48_0_108"/>
          <p:cNvSpPr/>
          <p:nvPr/>
        </p:nvSpPr>
        <p:spPr>
          <a:xfrm>
            <a:off x="6217920" y="2089404"/>
            <a:ext cx="109800" cy="109800"/>
          </a:xfrm>
          <a:prstGeom prst="rect">
            <a:avLst/>
          </a:prstGeom>
          <a:solidFill>
            <a:srgbClr val="2A9DC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g3e75cd86c48_0_108"/>
          <p:cNvSpPr txBox="1"/>
          <p:nvPr/>
        </p:nvSpPr>
        <p:spPr>
          <a:xfrm>
            <a:off x="6391656" y="2029968"/>
            <a:ext cx="5404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44444"/>
                </a:solidFill>
                <a:latin typeface="Calibri"/>
                <a:ea typeface="Calibri"/>
                <a:cs typeface="Calibri"/>
                <a:sym typeface="Calibri"/>
              </a:rPr>
              <a:t>Fast: weeks, not months</a:t>
            </a:r>
            <a:endParaRPr/>
          </a:p>
        </p:txBody>
      </p:sp>
      <p:sp>
        <p:nvSpPr>
          <p:cNvPr id="177" name="Google Shape;177;g3e75cd86c48_0_108"/>
          <p:cNvSpPr/>
          <p:nvPr/>
        </p:nvSpPr>
        <p:spPr>
          <a:xfrm>
            <a:off x="6217920" y="2564892"/>
            <a:ext cx="109800" cy="109800"/>
          </a:xfrm>
          <a:prstGeom prst="rect">
            <a:avLst/>
          </a:prstGeom>
          <a:solidFill>
            <a:srgbClr val="2A9DC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g3e75cd86c48_0_108"/>
          <p:cNvSpPr txBox="1"/>
          <p:nvPr/>
        </p:nvSpPr>
        <p:spPr>
          <a:xfrm>
            <a:off x="6391656" y="2505456"/>
            <a:ext cx="5404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44444"/>
                </a:solidFill>
                <a:latin typeface="Calibri"/>
                <a:ea typeface="Calibri"/>
                <a:cs typeface="Calibri"/>
                <a:sym typeface="Calibri"/>
              </a:rPr>
              <a:t>Tracer owns the model and answers follow-up questions live</a:t>
            </a:r>
            <a:endParaRPr/>
          </a:p>
        </p:txBody>
      </p:sp>
      <p:sp>
        <p:nvSpPr>
          <p:cNvPr id="179" name="Google Shape;179;g3e75cd86c48_0_108"/>
          <p:cNvSpPr/>
          <p:nvPr/>
        </p:nvSpPr>
        <p:spPr>
          <a:xfrm>
            <a:off x="6217920" y="3040380"/>
            <a:ext cx="109800" cy="109800"/>
          </a:xfrm>
          <a:prstGeom prst="rect">
            <a:avLst/>
          </a:prstGeom>
          <a:solidFill>
            <a:srgbClr val="2A9DC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g3e75cd86c48_0_108"/>
          <p:cNvSpPr txBox="1"/>
          <p:nvPr/>
        </p:nvSpPr>
        <p:spPr>
          <a:xfrm>
            <a:off x="6391656" y="2980944"/>
            <a:ext cx="5404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44444"/>
                </a:solidFill>
                <a:latin typeface="Calibri"/>
                <a:ea typeface="Calibri"/>
                <a:cs typeface="Calibri"/>
                <a:sym typeface="Calibri"/>
              </a:rPr>
              <a:t>Commodity capability; extends to future questions on the same schema</a:t>
            </a:r>
            <a:endParaRPr/>
          </a:p>
        </p:txBody>
      </p:sp>
      <p:sp>
        <p:nvSpPr>
          <p:cNvPr id="181" name="Google Shape;181;g3e75cd86c48_0_108"/>
          <p:cNvSpPr/>
          <p:nvPr/>
        </p:nvSpPr>
        <p:spPr>
          <a:xfrm>
            <a:off x="6217920" y="3515868"/>
            <a:ext cx="109800" cy="109800"/>
          </a:xfrm>
          <a:prstGeom prst="rect">
            <a:avLst/>
          </a:prstGeom>
          <a:solidFill>
            <a:srgbClr val="2A9DC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 name="Google Shape;182;g3e75cd86c48_0_108"/>
          <p:cNvSpPr txBox="1"/>
          <p:nvPr/>
        </p:nvSpPr>
        <p:spPr>
          <a:xfrm>
            <a:off x="6391656" y="3456432"/>
            <a:ext cx="5404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444444"/>
                </a:solidFill>
                <a:latin typeface="Calibri"/>
                <a:ea typeface="Calibri"/>
                <a:cs typeface="Calibri"/>
                <a:sym typeface="Calibri"/>
              </a:rPr>
              <a:t>No vendor contract, no external deployment dependency</a:t>
            </a:r>
            <a:endParaRPr/>
          </a:p>
        </p:txBody>
      </p:sp>
      <p:sp>
        <p:nvSpPr>
          <p:cNvPr id="183" name="Google Shape;183;g3e75cd86c48_0_108"/>
          <p:cNvSpPr/>
          <p:nvPr/>
        </p:nvSpPr>
        <p:spPr>
          <a:xfrm>
            <a:off x="365760" y="5413248"/>
            <a:ext cx="11430000" cy="914400"/>
          </a:xfrm>
          <a:prstGeom prst="rect">
            <a:avLst/>
          </a:prstGeom>
          <a:solidFill>
            <a:srgbClr val="E8F4F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4" name="Google Shape;184;g3e75cd86c48_0_108"/>
          <p:cNvSpPr txBox="1"/>
          <p:nvPr/>
        </p:nvSpPr>
        <p:spPr>
          <a:xfrm>
            <a:off x="502920" y="5504688"/>
            <a:ext cx="111558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100" u="none" cap="none" strike="noStrike">
                <a:solidFill>
                  <a:srgbClr val="444444"/>
                </a:solidFill>
                <a:latin typeface="Calibri"/>
                <a:ea typeface="Calibri"/>
                <a:cs typeface="Calibri"/>
                <a:sym typeface="Calibri"/>
              </a:rPr>
              <a:t>Success criteria: Erin treats the numbers as defensible, her analyst stops manual pulls, and the layer remains in use after the CPO review.</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4"/>
          <p:cNvSpPr/>
          <p:nvPr/>
        </p:nvSpPr>
        <p:spPr>
          <a:xfrm>
            <a:off x="0" y="0"/>
            <a:ext cx="12191695" cy="1051560"/>
          </a:xfrm>
          <a:prstGeom prst="rect">
            <a:avLst/>
          </a:prstGeom>
          <a:solidFill>
            <a:srgbClr val="1B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4"/>
          <p:cNvSpPr txBox="1"/>
          <p:nvPr/>
        </p:nvSpPr>
        <p:spPr>
          <a:xfrm>
            <a:off x="365760" y="155448"/>
            <a:ext cx="11430000" cy="8046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The Star Schema: Three Design Decisions</a:t>
            </a:r>
            <a:endParaRPr/>
          </a:p>
        </p:txBody>
      </p:sp>
      <p:sp>
        <p:nvSpPr>
          <p:cNvPr id="192" name="Google Shape;192;p4"/>
          <p:cNvSpPr txBox="1"/>
          <p:nvPr/>
        </p:nvSpPr>
        <p:spPr>
          <a:xfrm>
            <a:off x="365760" y="1097280"/>
            <a:ext cx="1143000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300" u="none" cap="none" strike="noStrike">
                <a:solidFill>
                  <a:srgbClr val="444444"/>
                </a:solidFill>
                <a:latin typeface="Calibri"/>
                <a:ea typeface="Calibri"/>
                <a:cs typeface="Calibri"/>
                <a:sym typeface="Calibri"/>
              </a:rPr>
              <a:t>Monthly snapshot grain. Two facts. Three dimensions. dim_date shipped pre-built.</a:t>
            </a:r>
            <a:endParaRPr/>
          </a:p>
        </p:txBody>
      </p:sp>
      <p:sp>
        <p:nvSpPr>
          <p:cNvPr id="193" name="Google Shape;193;p4"/>
          <p:cNvSpPr/>
          <p:nvPr/>
        </p:nvSpPr>
        <p:spPr>
          <a:xfrm>
            <a:off x="365760" y="1490472"/>
            <a:ext cx="11430000" cy="27432"/>
          </a:xfrm>
          <a:prstGeom prst="rect">
            <a:avLst/>
          </a:prstGeom>
          <a:solidFill>
            <a:srgbClr val="2A9DC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4"/>
          <p:cNvSpPr/>
          <p:nvPr/>
        </p:nvSpPr>
        <p:spPr>
          <a:xfrm>
            <a:off x="5760720" y="1572768"/>
            <a:ext cx="18288" cy="5074920"/>
          </a:xfrm>
          <a:prstGeom prst="rect">
            <a:avLst/>
          </a:prstGeom>
          <a:solidFill>
            <a:srgbClr val="CCCC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tar schema.PNG" id="195" name="Google Shape;195;p4"/>
          <p:cNvPicPr preferRelativeResize="0"/>
          <p:nvPr/>
        </p:nvPicPr>
        <p:blipFill rotWithShape="1">
          <a:blip r:embed="rId3">
            <a:alphaModFix/>
          </a:blip>
          <a:srcRect b="0" l="0" r="0" t="0"/>
          <a:stretch/>
        </p:blipFill>
        <p:spPr>
          <a:xfrm>
            <a:off x="274320" y="1600200"/>
            <a:ext cx="5212080" cy="4983480"/>
          </a:xfrm>
          <a:prstGeom prst="rect">
            <a:avLst/>
          </a:prstGeom>
          <a:noFill/>
          <a:ln>
            <a:noFill/>
          </a:ln>
        </p:spPr>
      </p:pic>
      <p:sp>
        <p:nvSpPr>
          <p:cNvPr id="196" name="Google Shape;196;p4"/>
          <p:cNvSpPr txBox="1"/>
          <p:nvPr/>
        </p:nvSpPr>
        <p:spPr>
          <a:xfrm>
            <a:off x="5943600" y="1627632"/>
            <a:ext cx="5943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444444"/>
                </a:solidFill>
                <a:latin typeface="Calibri"/>
                <a:ea typeface="Calibri"/>
                <a:cs typeface="Calibri"/>
                <a:sym typeface="Calibri"/>
              </a:rPr>
              <a:t>Grain: Monthly Snapshot</a:t>
            </a:r>
            <a:endParaRPr/>
          </a:p>
        </p:txBody>
      </p:sp>
      <p:sp>
        <p:nvSpPr>
          <p:cNvPr id="197" name="Google Shape;197;p4"/>
          <p:cNvSpPr/>
          <p:nvPr/>
        </p:nvSpPr>
        <p:spPr>
          <a:xfrm>
            <a:off x="5943600" y="1920240"/>
            <a:ext cx="1664208" cy="20116"/>
          </a:xfrm>
          <a:prstGeom prst="rect">
            <a:avLst/>
          </a:prstGeom>
          <a:solidFill>
            <a:srgbClr val="2A9DC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8" name="Google Shape;198;p4"/>
          <p:cNvSpPr txBox="1"/>
          <p:nvPr/>
        </p:nvSpPr>
        <p:spPr>
          <a:xfrm>
            <a:off x="5943600" y="2011680"/>
            <a:ext cx="5943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444444"/>
                </a:solidFill>
                <a:latin typeface="Calibri"/>
                <a:ea typeface="Calibri"/>
                <a:cs typeface="Calibri"/>
                <a:sym typeface="Calibri"/>
              </a:rPr>
              <a:t>One row per active subscription per month-end. Rejected event grain: cannot produce month-end counts without re-deriving on every query.</a:t>
            </a:r>
            <a:endParaRPr/>
          </a:p>
        </p:txBody>
      </p:sp>
      <p:sp>
        <p:nvSpPr>
          <p:cNvPr id="199" name="Google Shape;199;p4"/>
          <p:cNvSpPr txBox="1"/>
          <p:nvPr/>
        </p:nvSpPr>
        <p:spPr>
          <a:xfrm>
            <a:off x="5943600" y="3044952"/>
            <a:ext cx="5943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444444"/>
                </a:solidFill>
                <a:latin typeface="Calibri"/>
                <a:ea typeface="Calibri"/>
                <a:cs typeface="Calibri"/>
                <a:sym typeface="Calibri"/>
              </a:rPr>
              <a:t>Measures</a:t>
            </a:r>
            <a:endParaRPr/>
          </a:p>
        </p:txBody>
      </p:sp>
      <p:sp>
        <p:nvSpPr>
          <p:cNvPr id="200" name="Google Shape;200;p4"/>
          <p:cNvSpPr/>
          <p:nvPr/>
        </p:nvSpPr>
        <p:spPr>
          <a:xfrm>
            <a:off x="5943600" y="3337560"/>
            <a:ext cx="1664208" cy="20116"/>
          </a:xfrm>
          <a:prstGeom prst="rect">
            <a:avLst/>
          </a:prstGeom>
          <a:solidFill>
            <a:srgbClr val="2A9DC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4"/>
          <p:cNvSpPr txBox="1"/>
          <p:nvPr/>
        </p:nvSpPr>
        <p:spPr>
          <a:xfrm>
            <a:off x="5943600" y="3429000"/>
            <a:ext cx="5943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444444"/>
                </a:solidFill>
                <a:latin typeface="Calibri"/>
                <a:ea typeface="Calibri"/>
                <a:cs typeface="Calibri"/>
                <a:sym typeface="Calibri"/>
              </a:rPr>
              <a:t>mrr_amount (semi-additive: sums within a month, not across months), seats (semi-additive), rollout_notif_count (additive). Rejected aggregate MRR by tier: computable as a query.</a:t>
            </a:r>
            <a:endParaRPr/>
          </a:p>
        </p:txBody>
      </p:sp>
      <p:sp>
        <p:nvSpPr>
          <p:cNvPr id="202" name="Google Shape;202;p4"/>
          <p:cNvSpPr txBox="1"/>
          <p:nvPr/>
        </p:nvSpPr>
        <p:spPr>
          <a:xfrm>
            <a:off x="5943600" y="4462272"/>
            <a:ext cx="5943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444444"/>
                </a:solidFill>
                <a:latin typeface="Calibri"/>
                <a:ea typeface="Calibri"/>
                <a:cs typeface="Calibri"/>
                <a:sym typeface="Calibri"/>
              </a:rPr>
              <a:t>Dimensions</a:t>
            </a:r>
            <a:endParaRPr/>
          </a:p>
        </p:txBody>
      </p:sp>
      <p:sp>
        <p:nvSpPr>
          <p:cNvPr id="203" name="Google Shape;203;p4"/>
          <p:cNvSpPr/>
          <p:nvPr/>
        </p:nvSpPr>
        <p:spPr>
          <a:xfrm>
            <a:off x="5943600" y="4754880"/>
            <a:ext cx="1664208" cy="20116"/>
          </a:xfrm>
          <a:prstGeom prst="rect">
            <a:avLst/>
          </a:prstGeom>
          <a:solidFill>
            <a:srgbClr val="2A9DC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4" name="Google Shape;204;p4"/>
          <p:cNvSpPr txBox="1"/>
          <p:nvPr/>
        </p:nvSpPr>
        <p:spPr>
          <a:xfrm>
            <a:off x="5943600" y="4846320"/>
            <a:ext cx="5943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444444"/>
                </a:solidFill>
                <a:latin typeface="Calibri"/>
                <a:ea typeface="Calibri"/>
                <a:cs typeface="Calibri"/>
                <a:sym typeface="Calibri"/>
              </a:rPr>
              <a:t>dim_plan (tier, monthly_price, is_proplus), dim_org (industry, country), dim_date (pre-built). Rejected dim_user (answers none of the three questions).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5"/>
          <p:cNvSpPr/>
          <p:nvPr/>
        </p:nvSpPr>
        <p:spPr>
          <a:xfrm>
            <a:off x="0" y="0"/>
            <a:ext cx="12191695" cy="1051560"/>
          </a:xfrm>
          <a:prstGeom prst="rect">
            <a:avLst/>
          </a:prstGeom>
          <a:solidFill>
            <a:srgbClr val="1B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5"/>
          <p:cNvSpPr txBox="1"/>
          <p:nvPr/>
        </p:nvSpPr>
        <p:spPr>
          <a:xfrm>
            <a:off x="365760" y="155448"/>
            <a:ext cx="11430000" cy="49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600">
                <a:solidFill>
                  <a:srgbClr val="FFFFFF"/>
                </a:solidFill>
                <a:latin typeface="Calibri"/>
                <a:ea typeface="Calibri"/>
                <a:cs typeface="Calibri"/>
                <a:sym typeface="Calibri"/>
              </a:rPr>
              <a:t>Q1: </a:t>
            </a:r>
            <a:r>
              <a:rPr b="1" i="0" lang="en-US" sz="2600" u="none" cap="none" strike="noStrike">
                <a:solidFill>
                  <a:srgbClr val="FFFFFF"/>
                </a:solidFill>
                <a:latin typeface="Calibri"/>
                <a:ea typeface="Calibri"/>
                <a:cs typeface="Calibri"/>
                <a:sym typeface="Calibri"/>
              </a:rPr>
              <a:t>Pro+ Grew in January, Then Stopped</a:t>
            </a:r>
            <a:endParaRPr/>
          </a:p>
        </p:txBody>
      </p:sp>
      <p:sp>
        <p:nvSpPr>
          <p:cNvPr id="212" name="Google Shape;212;p5"/>
          <p:cNvSpPr txBox="1"/>
          <p:nvPr/>
        </p:nvSpPr>
        <p:spPr>
          <a:xfrm>
            <a:off x="365760" y="1097280"/>
            <a:ext cx="1143000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300" u="none" cap="none" strike="noStrike">
                <a:solidFill>
                  <a:srgbClr val="444444"/>
                </a:solidFill>
                <a:latin typeface="Calibri"/>
                <a:ea typeface="Calibri"/>
                <a:cs typeface="Calibri"/>
                <a:sym typeface="Calibri"/>
              </a:rPr>
              <a:t>Month-end count of orgs on Pro or Enterprise, reconstructed from the subscription change log.</a:t>
            </a:r>
            <a:endParaRPr/>
          </a:p>
        </p:txBody>
      </p:sp>
      <p:sp>
        <p:nvSpPr>
          <p:cNvPr id="213" name="Google Shape;213;p5"/>
          <p:cNvSpPr/>
          <p:nvPr/>
        </p:nvSpPr>
        <p:spPr>
          <a:xfrm>
            <a:off x="365760" y="1490472"/>
            <a:ext cx="11430000" cy="27432"/>
          </a:xfrm>
          <a:prstGeom prst="rect">
            <a:avLst/>
          </a:prstGeom>
          <a:solidFill>
            <a:srgbClr val="2A9DC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4" name="Google Shape;214;p5"/>
          <p:cNvSpPr/>
          <p:nvPr/>
        </p:nvSpPr>
        <p:spPr>
          <a:xfrm>
            <a:off x="5715000" y="1572768"/>
            <a:ext cx="18288" cy="5074920"/>
          </a:xfrm>
          <a:prstGeom prst="rect">
            <a:avLst/>
          </a:prstGeom>
          <a:solidFill>
            <a:srgbClr val="CCCC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Q1.PNG" id="215" name="Google Shape;215;p5"/>
          <p:cNvPicPr preferRelativeResize="0"/>
          <p:nvPr/>
        </p:nvPicPr>
        <p:blipFill rotWithShape="1">
          <a:blip r:embed="rId3">
            <a:alphaModFix/>
          </a:blip>
          <a:srcRect b="0" l="0" r="0" t="0"/>
          <a:stretch/>
        </p:blipFill>
        <p:spPr>
          <a:xfrm>
            <a:off x="274320" y="1627632"/>
            <a:ext cx="5166360" cy="4572000"/>
          </a:xfrm>
          <a:prstGeom prst="rect">
            <a:avLst/>
          </a:prstGeom>
          <a:noFill/>
          <a:ln>
            <a:noFill/>
          </a:ln>
        </p:spPr>
      </p:pic>
      <p:sp>
        <p:nvSpPr>
          <p:cNvPr id="216" name="Google Shape;216;p5"/>
          <p:cNvSpPr txBox="1"/>
          <p:nvPr/>
        </p:nvSpPr>
        <p:spPr>
          <a:xfrm>
            <a:off x="274320" y="6245352"/>
            <a:ext cx="516636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900" u="none" cap="none" strike="noStrike">
                <a:solidFill>
                  <a:srgbClr val="888888"/>
                </a:solidFill>
                <a:latin typeface="Calibri"/>
                <a:ea typeface="Calibri"/>
                <a:cs typeface="Calibri"/>
                <a:sym typeface="Calibri"/>
              </a:rPr>
              <a:t>Metabase: marts_marts.fact_subscription + dim_plan</a:t>
            </a:r>
            <a:endParaRPr/>
          </a:p>
        </p:txBody>
      </p:sp>
      <p:sp>
        <p:nvSpPr>
          <p:cNvPr id="217" name="Google Shape;217;p5"/>
          <p:cNvSpPr/>
          <p:nvPr/>
        </p:nvSpPr>
        <p:spPr>
          <a:xfrm>
            <a:off x="5897880" y="1719072"/>
            <a:ext cx="5897880" cy="1188720"/>
          </a:xfrm>
          <a:prstGeom prst="rect">
            <a:avLst/>
          </a:prstGeom>
          <a:solidFill>
            <a:srgbClr val="E8F4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5"/>
          <p:cNvSpPr txBox="1"/>
          <p:nvPr/>
        </p:nvSpPr>
        <p:spPr>
          <a:xfrm>
            <a:off x="6035040" y="1810512"/>
            <a:ext cx="5623560" cy="10058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444444"/>
                </a:solidFill>
                <a:latin typeface="Calibri"/>
                <a:ea typeface="Calibri"/>
                <a:cs typeface="Calibri"/>
                <a:sym typeface="Calibri"/>
              </a:rPr>
              <a:t>Growth of 3 orgs happened between January and February, immediately after Rollouts launched on January 1. Nothing has moved since.</a:t>
            </a:r>
            <a:endParaRPr/>
          </a:p>
        </p:txBody>
      </p:sp>
      <p:sp>
        <p:nvSpPr>
          <p:cNvPr id="219" name="Google Shape;219;p5"/>
          <p:cNvSpPr/>
          <p:nvPr/>
        </p:nvSpPr>
        <p:spPr>
          <a:xfrm>
            <a:off x="5897880" y="3017520"/>
            <a:ext cx="5897880" cy="960120"/>
          </a:xfrm>
          <a:prstGeom prst="rect">
            <a:avLst/>
          </a:prstGeom>
          <a:solidFill>
            <a:srgbClr val="E8F4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5"/>
          <p:cNvSpPr txBox="1"/>
          <p:nvPr/>
        </p:nvSpPr>
        <p:spPr>
          <a:xfrm>
            <a:off x="6035040" y="3108960"/>
            <a:ext cx="562356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444444"/>
                </a:solidFill>
                <a:latin typeface="Calibri"/>
                <a:ea typeface="Calibri"/>
                <a:cs typeface="Calibri"/>
                <a:sym typeface="Calibri"/>
              </a:rPr>
              <a:t>April's count of 29 is the denominator for the 60% adoption target in Q2.</a:t>
            </a:r>
            <a:endParaRPr/>
          </a:p>
        </p:txBody>
      </p:sp>
      <p:sp>
        <p:nvSpPr>
          <p:cNvPr id="221" name="Google Shape;221;p5"/>
          <p:cNvSpPr/>
          <p:nvPr/>
        </p:nvSpPr>
        <p:spPr>
          <a:xfrm>
            <a:off x="5897880" y="4096512"/>
            <a:ext cx="5897880" cy="1005840"/>
          </a:xfrm>
          <a:prstGeom prst="rect">
            <a:avLst/>
          </a:prstGeom>
          <a:solidFill>
            <a:srgbClr val="E8F4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5"/>
          <p:cNvSpPr txBox="1"/>
          <p:nvPr/>
        </p:nvSpPr>
        <p:spPr>
          <a:xfrm>
            <a:off x="6035040" y="4187952"/>
            <a:ext cx="562356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444444"/>
                </a:solidFill>
                <a:latin typeface="Calibri"/>
                <a:ea typeface="Calibri"/>
                <a:cs typeface="Calibri"/>
                <a:sym typeface="Calibri"/>
              </a:rPr>
              <a:t>The number is reproducible: one dbt build command gives the same result every time, unlike the prior manual CSV process.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6"/>
          <p:cNvSpPr/>
          <p:nvPr/>
        </p:nvSpPr>
        <p:spPr>
          <a:xfrm>
            <a:off x="0" y="0"/>
            <a:ext cx="12191695" cy="1051560"/>
          </a:xfrm>
          <a:prstGeom prst="rect">
            <a:avLst/>
          </a:prstGeom>
          <a:solidFill>
            <a:srgbClr val="1B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6"/>
          <p:cNvSpPr txBox="1"/>
          <p:nvPr/>
        </p:nvSpPr>
        <p:spPr>
          <a:xfrm>
            <a:off x="365760" y="155448"/>
            <a:ext cx="11430000" cy="49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600">
                <a:solidFill>
                  <a:srgbClr val="FFFFFF"/>
                </a:solidFill>
                <a:latin typeface="Calibri"/>
                <a:ea typeface="Calibri"/>
                <a:cs typeface="Calibri"/>
                <a:sym typeface="Calibri"/>
              </a:rPr>
              <a:t>Q2: </a:t>
            </a:r>
            <a:r>
              <a:rPr b="1" i="0" lang="en-US" sz="2600" u="none" cap="none" strike="noStrike">
                <a:solidFill>
                  <a:srgbClr val="FFFFFF"/>
                </a:solidFill>
                <a:latin typeface="Calibri"/>
                <a:ea typeface="Calibri"/>
                <a:cs typeface="Calibri"/>
                <a:sym typeface="Calibri"/>
              </a:rPr>
              <a:t>Adoption at 48.3% -- 12 Points Below the 60% Target</a:t>
            </a:r>
            <a:endParaRPr/>
          </a:p>
        </p:txBody>
      </p:sp>
      <p:sp>
        <p:nvSpPr>
          <p:cNvPr id="230" name="Google Shape;230;p6"/>
          <p:cNvSpPr txBox="1"/>
          <p:nvPr/>
        </p:nvSpPr>
        <p:spPr>
          <a:xfrm>
            <a:off x="365760" y="1097280"/>
            <a:ext cx="1143000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300" u="none" cap="none" strike="noStrike">
                <a:solidFill>
                  <a:srgbClr val="444444"/>
                </a:solidFill>
                <a:latin typeface="Calibri"/>
                <a:ea typeface="Calibri"/>
                <a:cs typeface="Calibri"/>
                <a:sym typeface="Calibri"/>
              </a:rPr>
              <a:t>Share of April 2026 Pro+ orgs that fired at least one rollout_, rollback_, or threshold_ notification since January 2026.</a:t>
            </a:r>
            <a:endParaRPr/>
          </a:p>
        </p:txBody>
      </p:sp>
      <p:sp>
        <p:nvSpPr>
          <p:cNvPr id="231" name="Google Shape;231;p6"/>
          <p:cNvSpPr/>
          <p:nvPr/>
        </p:nvSpPr>
        <p:spPr>
          <a:xfrm>
            <a:off x="365760" y="1490472"/>
            <a:ext cx="11430000" cy="27432"/>
          </a:xfrm>
          <a:prstGeom prst="rect">
            <a:avLst/>
          </a:prstGeom>
          <a:solidFill>
            <a:srgbClr val="2A9DC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2" name="Google Shape;232;p6"/>
          <p:cNvSpPr/>
          <p:nvPr/>
        </p:nvSpPr>
        <p:spPr>
          <a:xfrm>
            <a:off x="5715000" y="1572768"/>
            <a:ext cx="18288" cy="5074920"/>
          </a:xfrm>
          <a:prstGeom prst="rect">
            <a:avLst/>
          </a:prstGeom>
          <a:solidFill>
            <a:srgbClr val="CCCC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3" name="Google Shape;233;p6"/>
          <p:cNvSpPr/>
          <p:nvPr/>
        </p:nvSpPr>
        <p:spPr>
          <a:xfrm>
            <a:off x="365760" y="1719072"/>
            <a:ext cx="5120640" cy="1005840"/>
          </a:xfrm>
          <a:prstGeom prst="rect">
            <a:avLst/>
          </a:prstGeom>
          <a:solidFill>
            <a:srgbClr val="FDEEE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4" name="Google Shape;234;p6"/>
          <p:cNvSpPr txBox="1"/>
          <p:nvPr/>
        </p:nvSpPr>
        <p:spPr>
          <a:xfrm>
            <a:off x="502920" y="1810512"/>
            <a:ext cx="484632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C0392B"/>
                </a:solidFill>
                <a:latin typeface="Calibri"/>
                <a:ea typeface="Calibri"/>
                <a:cs typeface="Calibri"/>
                <a:sym typeface="Calibri"/>
              </a:rPr>
              <a:t>14 of 29 Pro+ orgs adopted Rollouts  |  48.3%, below the 60% target</a:t>
            </a:r>
            <a:endParaRPr/>
          </a:p>
        </p:txBody>
      </p:sp>
      <p:sp>
        <p:nvSpPr>
          <p:cNvPr id="235" name="Google Shape;235;p6"/>
          <p:cNvSpPr/>
          <p:nvPr/>
        </p:nvSpPr>
        <p:spPr>
          <a:xfrm>
            <a:off x="365760" y="2834640"/>
            <a:ext cx="5120640" cy="1005840"/>
          </a:xfrm>
          <a:prstGeom prst="rect">
            <a:avLst/>
          </a:prstGeom>
          <a:solidFill>
            <a:srgbClr val="E8F4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6"/>
          <p:cNvSpPr txBox="1"/>
          <p:nvPr/>
        </p:nvSpPr>
        <p:spPr>
          <a:xfrm>
            <a:off x="502920" y="2926080"/>
            <a:ext cx="484632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444444"/>
                </a:solidFill>
                <a:latin typeface="Calibri"/>
                <a:ea typeface="Calibri"/>
                <a:cs typeface="Calibri"/>
                <a:sym typeface="Calibri"/>
              </a:rPr>
              <a:t>15 orgs have never fired a rollout notification  |  These are the renewal risk orgs</a:t>
            </a:r>
            <a:endParaRPr/>
          </a:p>
        </p:txBody>
      </p:sp>
      <p:pic>
        <p:nvPicPr>
          <p:cNvPr descr="Q2.PNG" id="237" name="Google Shape;237;p6"/>
          <p:cNvPicPr preferRelativeResize="0"/>
          <p:nvPr/>
        </p:nvPicPr>
        <p:blipFill rotWithShape="1">
          <a:blip r:embed="rId3">
            <a:alphaModFix/>
          </a:blip>
          <a:srcRect b="0" l="0" r="0" t="0"/>
          <a:stretch/>
        </p:blipFill>
        <p:spPr>
          <a:xfrm>
            <a:off x="274325" y="3977652"/>
            <a:ext cx="5212074" cy="2536125"/>
          </a:xfrm>
          <a:prstGeom prst="rect">
            <a:avLst/>
          </a:prstGeom>
          <a:noFill/>
          <a:ln>
            <a:noFill/>
          </a:ln>
        </p:spPr>
      </p:pic>
      <p:sp>
        <p:nvSpPr>
          <p:cNvPr id="238" name="Google Shape;238;p6"/>
          <p:cNvSpPr txBox="1"/>
          <p:nvPr/>
        </p:nvSpPr>
        <p:spPr>
          <a:xfrm>
            <a:off x="274320" y="6513775"/>
            <a:ext cx="5212200" cy="230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900" u="none" cap="none" strike="noStrike">
                <a:solidFill>
                  <a:srgbClr val="888888"/>
                </a:solidFill>
                <a:latin typeface="Calibri"/>
                <a:ea typeface="Calibri"/>
                <a:cs typeface="Calibri"/>
                <a:sym typeface="Calibri"/>
              </a:rPr>
              <a:t>Metabase: fact_subscription + notif_count_month</a:t>
            </a:r>
            <a:endParaRPr/>
          </a:p>
        </p:txBody>
      </p:sp>
      <p:sp>
        <p:nvSpPr>
          <p:cNvPr id="239" name="Google Shape;239;p6"/>
          <p:cNvSpPr/>
          <p:nvPr/>
        </p:nvSpPr>
        <p:spPr>
          <a:xfrm>
            <a:off x="5897880" y="1719072"/>
            <a:ext cx="5943600" cy="1325880"/>
          </a:xfrm>
          <a:prstGeom prst="rect">
            <a:avLst/>
          </a:prstGeom>
          <a:solidFill>
            <a:srgbClr val="E8F4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0" name="Google Shape;240;p6"/>
          <p:cNvSpPr txBox="1"/>
          <p:nvPr/>
        </p:nvSpPr>
        <p:spPr>
          <a:xfrm>
            <a:off x="6035040" y="1810512"/>
            <a:ext cx="5669280" cy="1143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444444"/>
                </a:solidFill>
                <a:latin typeface="Calibri"/>
                <a:ea typeface="Calibri"/>
                <a:cs typeface="Calibri"/>
                <a:sym typeface="Calibri"/>
              </a:rPr>
              <a:t>Event filter uses ESCAPE clause on rollout_, rollback_, threshold_ prefixes -- not a wildcard -- so only true Rollouts events count.</a:t>
            </a:r>
            <a:endParaRPr/>
          </a:p>
        </p:txBody>
      </p:sp>
      <p:sp>
        <p:nvSpPr>
          <p:cNvPr id="241" name="Google Shape;241;p6"/>
          <p:cNvSpPr/>
          <p:nvPr/>
        </p:nvSpPr>
        <p:spPr>
          <a:xfrm>
            <a:off x="5897880" y="3200400"/>
            <a:ext cx="2697480" cy="1051560"/>
          </a:xfrm>
          <a:prstGeom prst="rect">
            <a:avLst/>
          </a:prstGeom>
          <a:solidFill>
            <a:srgbClr val="1B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2" name="Google Shape;242;p6"/>
          <p:cNvSpPr txBox="1"/>
          <p:nvPr/>
        </p:nvSpPr>
        <p:spPr>
          <a:xfrm>
            <a:off x="5943600" y="3264408"/>
            <a:ext cx="2606040" cy="4754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700" u="none" cap="none" strike="noStrike">
                <a:solidFill>
                  <a:srgbClr val="FFFFFF"/>
                </a:solidFill>
                <a:latin typeface="Calibri"/>
                <a:ea typeface="Calibri"/>
                <a:cs typeface="Calibri"/>
                <a:sym typeface="Calibri"/>
              </a:rPr>
              <a:t>48.3%</a:t>
            </a:r>
            <a:endParaRPr/>
          </a:p>
        </p:txBody>
      </p:sp>
      <p:sp>
        <p:nvSpPr>
          <p:cNvPr id="243" name="Google Shape;243;p6"/>
          <p:cNvSpPr txBox="1"/>
          <p:nvPr/>
        </p:nvSpPr>
        <p:spPr>
          <a:xfrm>
            <a:off x="5971032" y="3749039"/>
            <a:ext cx="2551176" cy="40233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FFFFFF"/>
                </a:solidFill>
                <a:latin typeface="Calibri"/>
                <a:ea typeface="Calibri"/>
                <a:cs typeface="Calibri"/>
                <a:sym typeface="Calibri"/>
              </a:rPr>
              <a:t>Current adoption (April 2026)</a:t>
            </a:r>
            <a:endParaRPr/>
          </a:p>
        </p:txBody>
      </p:sp>
      <p:sp>
        <p:nvSpPr>
          <p:cNvPr id="244" name="Google Shape;244;p6"/>
          <p:cNvSpPr/>
          <p:nvPr/>
        </p:nvSpPr>
        <p:spPr>
          <a:xfrm>
            <a:off x="8732520" y="3200400"/>
            <a:ext cx="2651760" cy="1051560"/>
          </a:xfrm>
          <a:prstGeom prst="rect">
            <a:avLst/>
          </a:prstGeom>
          <a:solidFill>
            <a:srgbClr val="1B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5" name="Google Shape;245;p6"/>
          <p:cNvSpPr txBox="1"/>
          <p:nvPr/>
        </p:nvSpPr>
        <p:spPr>
          <a:xfrm>
            <a:off x="8778240" y="3264408"/>
            <a:ext cx="2560320" cy="4754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700" u="none" cap="none" strike="noStrike">
                <a:solidFill>
                  <a:srgbClr val="FFFFFF"/>
                </a:solidFill>
                <a:latin typeface="Calibri"/>
                <a:ea typeface="Calibri"/>
                <a:cs typeface="Calibri"/>
                <a:sym typeface="Calibri"/>
              </a:rPr>
              <a:t>60%</a:t>
            </a:r>
            <a:endParaRPr/>
          </a:p>
        </p:txBody>
      </p:sp>
      <p:sp>
        <p:nvSpPr>
          <p:cNvPr id="246" name="Google Shape;246;p6"/>
          <p:cNvSpPr txBox="1"/>
          <p:nvPr/>
        </p:nvSpPr>
        <p:spPr>
          <a:xfrm>
            <a:off x="8805672" y="3749039"/>
            <a:ext cx="2505456" cy="40233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FFFFFF"/>
                </a:solidFill>
                <a:latin typeface="Calibri"/>
                <a:ea typeface="Calibri"/>
                <a:cs typeface="Calibri"/>
                <a:sym typeface="Calibri"/>
              </a:rPr>
              <a:t>CPO review target</a:t>
            </a:r>
            <a:endParaRPr/>
          </a:p>
        </p:txBody>
      </p:sp>
      <p:sp>
        <p:nvSpPr>
          <p:cNvPr id="247" name="Google Shape;247;p6"/>
          <p:cNvSpPr/>
          <p:nvPr/>
        </p:nvSpPr>
        <p:spPr>
          <a:xfrm>
            <a:off x="5897880" y="4407408"/>
            <a:ext cx="5943600" cy="822960"/>
          </a:xfrm>
          <a:prstGeom prst="rect">
            <a:avLst/>
          </a:prstGeom>
          <a:solidFill>
            <a:srgbClr val="E8F4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6"/>
          <p:cNvSpPr txBox="1"/>
          <p:nvPr/>
        </p:nvSpPr>
        <p:spPr>
          <a:xfrm>
            <a:off x="6035040" y="4498848"/>
            <a:ext cx="566928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444444"/>
                </a:solidFill>
                <a:latin typeface="Calibri"/>
                <a:ea typeface="Calibri"/>
                <a:cs typeface="Calibri"/>
                <a:sym typeface="Calibri"/>
              </a:rPr>
              <a:t>Target gap: 4 more orgs need to adopt Rollouts to reach 60%.</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7"/>
          <p:cNvSpPr/>
          <p:nvPr/>
        </p:nvSpPr>
        <p:spPr>
          <a:xfrm>
            <a:off x="0" y="0"/>
            <a:ext cx="12191695" cy="1051560"/>
          </a:xfrm>
          <a:prstGeom prst="rect">
            <a:avLst/>
          </a:prstGeom>
          <a:solidFill>
            <a:srgbClr val="1B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5" name="Google Shape;255;p7"/>
          <p:cNvSpPr txBox="1"/>
          <p:nvPr/>
        </p:nvSpPr>
        <p:spPr>
          <a:xfrm>
            <a:off x="365760" y="155448"/>
            <a:ext cx="11430000" cy="49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600">
                <a:solidFill>
                  <a:srgbClr val="FFFFFF"/>
                </a:solidFill>
                <a:latin typeface="Calibri"/>
                <a:ea typeface="Calibri"/>
                <a:cs typeface="Calibri"/>
                <a:sym typeface="Calibri"/>
              </a:rPr>
              <a:t>Q3: </a:t>
            </a:r>
            <a:r>
              <a:rPr b="1" i="0" lang="en-US" sz="2600" u="none" cap="none" strike="noStrike">
                <a:solidFill>
                  <a:srgbClr val="FFFFFF"/>
                </a:solidFill>
                <a:latin typeface="Calibri"/>
                <a:ea typeface="Calibri"/>
                <a:cs typeface="Calibri"/>
                <a:sym typeface="Calibri"/>
              </a:rPr>
              <a:t>MRR Is Flat. Enterprise Carries 70%. Pro Has Not Grown.</a:t>
            </a:r>
            <a:endParaRPr/>
          </a:p>
        </p:txBody>
      </p:sp>
      <p:sp>
        <p:nvSpPr>
          <p:cNvPr id="256" name="Google Shape;256;p7"/>
          <p:cNvSpPr txBox="1"/>
          <p:nvPr/>
        </p:nvSpPr>
        <p:spPr>
          <a:xfrm>
            <a:off x="365760" y="1097280"/>
            <a:ext cx="1143000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300" u="none" cap="none" strike="noStrike">
                <a:solidFill>
                  <a:srgbClr val="444444"/>
                </a:solidFill>
                <a:latin typeface="Calibri"/>
                <a:ea typeface="Calibri"/>
                <a:cs typeface="Calibri"/>
                <a:sym typeface="Calibri"/>
              </a:rPr>
              <a:t>Monthly MRR = monthly_price x seats, summed by tier. Semi-additive: do not sum across months.</a:t>
            </a:r>
            <a:endParaRPr/>
          </a:p>
        </p:txBody>
      </p:sp>
      <p:sp>
        <p:nvSpPr>
          <p:cNvPr id="257" name="Google Shape;257;p7"/>
          <p:cNvSpPr/>
          <p:nvPr/>
        </p:nvSpPr>
        <p:spPr>
          <a:xfrm>
            <a:off x="365760" y="1490472"/>
            <a:ext cx="11430000" cy="27432"/>
          </a:xfrm>
          <a:prstGeom prst="rect">
            <a:avLst/>
          </a:prstGeom>
          <a:solidFill>
            <a:srgbClr val="2A9DC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8" name="Google Shape;258;p7"/>
          <p:cNvSpPr/>
          <p:nvPr/>
        </p:nvSpPr>
        <p:spPr>
          <a:xfrm>
            <a:off x="6405029" y="1563622"/>
            <a:ext cx="3840600" cy="1234500"/>
          </a:xfrm>
          <a:prstGeom prst="rect">
            <a:avLst/>
          </a:prstGeom>
          <a:solidFill>
            <a:srgbClr val="FDEEE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7"/>
          <p:cNvSpPr txBox="1"/>
          <p:nvPr/>
        </p:nvSpPr>
        <p:spPr>
          <a:xfrm>
            <a:off x="6542190" y="1655062"/>
            <a:ext cx="35661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C0392B"/>
                </a:solidFill>
                <a:latin typeface="Calibri"/>
                <a:ea typeface="Calibri"/>
                <a:cs typeface="Calibri"/>
                <a:sym typeface="Calibri"/>
              </a:rPr>
              <a:t>Pro MRR flat at $50,955 since February. Rollouts was supposed to drive Starter-to-Pro upgrades. It has not.</a:t>
            </a:r>
            <a:endParaRPr/>
          </a:p>
        </p:txBody>
      </p:sp>
      <p:sp>
        <p:nvSpPr>
          <p:cNvPr id="260" name="Google Shape;260;p7"/>
          <p:cNvSpPr/>
          <p:nvPr/>
        </p:nvSpPr>
        <p:spPr>
          <a:xfrm>
            <a:off x="6405029" y="2935222"/>
            <a:ext cx="3840600" cy="1234500"/>
          </a:xfrm>
          <a:prstGeom prst="rect">
            <a:avLst/>
          </a:prstGeom>
          <a:solidFill>
            <a:srgbClr val="E8F4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7"/>
          <p:cNvSpPr txBox="1"/>
          <p:nvPr/>
        </p:nvSpPr>
        <p:spPr>
          <a:xfrm>
            <a:off x="6542190" y="3026662"/>
            <a:ext cx="3566100" cy="60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444444"/>
                </a:solidFill>
                <a:latin typeface="Calibri"/>
                <a:ea typeface="Calibri"/>
                <a:cs typeface="Calibri"/>
                <a:sym typeface="Calibri"/>
              </a:rPr>
              <a:t>Starter MRR down 21% over four months with no corresponding Pro growth. Those customers are leaving, not upgrading.</a:t>
            </a:r>
            <a:endParaRPr/>
          </a:p>
        </p:txBody>
      </p:sp>
      <p:pic>
        <p:nvPicPr>
          <p:cNvPr id="262" name="Google Shape;262;p7"/>
          <p:cNvPicPr preferRelativeResize="0"/>
          <p:nvPr/>
        </p:nvPicPr>
        <p:blipFill>
          <a:blip r:embed="rId3">
            <a:alphaModFix/>
          </a:blip>
          <a:stretch>
            <a:fillRect/>
          </a:stretch>
        </p:blipFill>
        <p:spPr>
          <a:xfrm>
            <a:off x="365750" y="1581900"/>
            <a:ext cx="4836725" cy="5175349"/>
          </a:xfrm>
          <a:prstGeom prst="rect">
            <a:avLst/>
          </a:prstGeom>
          <a:noFill/>
          <a:ln>
            <a:noFill/>
          </a:ln>
        </p:spPr>
      </p:pic>
      <p:sp>
        <p:nvSpPr>
          <p:cNvPr id="263" name="Google Shape;263;p7"/>
          <p:cNvSpPr/>
          <p:nvPr/>
        </p:nvSpPr>
        <p:spPr>
          <a:xfrm>
            <a:off x="5715000" y="1572768"/>
            <a:ext cx="18300" cy="5074800"/>
          </a:xfrm>
          <a:prstGeom prst="rect">
            <a:avLst/>
          </a:prstGeom>
          <a:solidFill>
            <a:srgbClr val="CCCCC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9"/>
          <p:cNvSpPr/>
          <p:nvPr/>
        </p:nvSpPr>
        <p:spPr>
          <a:xfrm>
            <a:off x="0" y="0"/>
            <a:ext cx="12191695" cy="6858000"/>
          </a:xfrm>
          <a:prstGeom prst="rect">
            <a:avLst/>
          </a:prstGeom>
          <a:solidFill>
            <a:srgbClr val="1B2A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0" name="Google Shape;270;p9"/>
          <p:cNvSpPr txBox="1"/>
          <p:nvPr/>
        </p:nvSpPr>
        <p:spPr>
          <a:xfrm>
            <a:off x="1828800" y="2514600"/>
            <a:ext cx="8534095" cy="1828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5400" u="none" cap="none" strike="noStrike">
                <a:solidFill>
                  <a:srgbClr val="FFFFFF"/>
                </a:solidFill>
                <a:latin typeface="Calibri"/>
                <a:ea typeface="Calibri"/>
                <a:cs typeface="Calibri"/>
                <a:sym typeface="Calibri"/>
              </a:rPr>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