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5"/>
    <p:sldMasterId id="214748370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Quantico"/>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0B409B-9F6A-4205-9B8C-546D759218A4}">
  <a:tblStyle styleId="{240B409B-9F6A-4205-9B8C-546D759218A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ntico-bold.fntdata"/><Relationship Id="rId22" Type="http://schemas.openxmlformats.org/officeDocument/2006/relationships/font" Target="fonts/Quantico-boldItalic.fntdata"/><Relationship Id="rId21" Type="http://schemas.openxmlformats.org/officeDocument/2006/relationships/font" Target="fonts/Quantico-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font" Target="fonts/Quantico-regular.fntdata"/><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9d3faca5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9d3faca5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a:t>Melani: </a:t>
            </a:r>
            <a:r>
              <a:rPr lang="en"/>
              <a:t>Hello, </a:t>
            </a:r>
            <a:r>
              <a:rPr lang="en"/>
              <a:t>we’re Optimus Prime Consulting…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9d3faca55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9d3faca55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a:solidFill>
                  <a:schemeClr val="dk1"/>
                </a:solidFill>
              </a:rPr>
              <a:t>Melani: </a:t>
            </a:r>
            <a:r>
              <a:rPr lang="en"/>
              <a:t>…and we are </a:t>
            </a:r>
            <a:r>
              <a:rPr lang="en"/>
              <a:t>going to explain our production solutions for the following issue.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9802b271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9802b271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t>Melani:</a:t>
            </a:r>
            <a:r>
              <a:rPr lang="en"/>
              <a:t> The problem we’re faced with is that the facility in Taiwan was severely damaged in a flood and can only operate at 35% capacity. This facility usually produces 40% of Orange Electronics global output, </a:t>
            </a:r>
            <a:r>
              <a:rPr lang="en"/>
              <a:t>which</a:t>
            </a:r>
            <a:r>
              <a:rPr lang="en"/>
              <a:t> is </a:t>
            </a:r>
            <a:r>
              <a:rPr lang="en"/>
              <a:t>especially</a:t>
            </a:r>
            <a:r>
              <a:rPr lang="en"/>
              <a:t> an issue with Black Friday deliveries coming up. Luckily, the facilities in India and Mexico still remain fully </a:t>
            </a:r>
            <a:r>
              <a:rPr lang="en"/>
              <a:t>operational, so the task was to reallocate production across the three facilities to fulfill both the week 45 and week 46 delivery windows. Since this situation could lead to a critical loss in revenue and jeopardize customer relationships, we were provided a $15 million dollar emergency budget to cover the costs of overtime and express shipping. Another main goal was to minimize the total cost of production which includes base production costs, standard shipping costs, and any penalties incurred from late deliveries to customers.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9802b271e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9802b271e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a:t>Melani:</a:t>
            </a:r>
            <a:r>
              <a:rPr lang="en"/>
              <a:t> A closer look at the impact of the October 3rd flood in Taiwan reveals the options for production going forward. For the Taiwan facility, it normally handles 150,000 units per week, but due to the flood, it’s </a:t>
            </a:r>
            <a:r>
              <a:rPr lang="en"/>
              <a:t>currently</a:t>
            </a:r>
            <a:r>
              <a:rPr lang="en"/>
              <a:t> operating at 35% capacity and can produce 52,500 units a week without </a:t>
            </a:r>
            <a:r>
              <a:rPr lang="en"/>
              <a:t>overtime</a:t>
            </a:r>
            <a:r>
              <a:rPr lang="en"/>
              <a:t> and 65,625 units with. The facility in India is fully </a:t>
            </a:r>
            <a:r>
              <a:rPr lang="en"/>
              <a:t>operational being able to produce 80,000 units a week normally, and 100,000 units at max capacity. Similarly, the Mexico facility can produce 40,000 units at normal capacity and 50,000 units a week with overtime. In the facility capacity chart, you can see how much of a loss in production was taken at the Taiwan facility due to the flooding.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9d3faca55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9d3faca55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7eb9a0399cb01f9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7eb9a0399cb01f9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7eb9a0399cb01f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7eb9a0399cb01f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9820d1d95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9820d1d95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9d3faca55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9d3faca55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9d3faca55f_0_10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9d3faca55f_0_10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9d3faca55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9d3faca55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53" name="Shape 53"/>
        <p:cNvGrpSpPr/>
        <p:nvPr/>
      </p:nvGrpSpPr>
      <p:grpSpPr>
        <a:xfrm>
          <a:off x="0" y="0"/>
          <a:ext cx="0" cy="0"/>
          <a:chOff x="0" y="0"/>
          <a:chExt cx="0" cy="0"/>
        </a:xfrm>
      </p:grpSpPr>
      <p:sp>
        <p:nvSpPr>
          <p:cNvPr id="54" name="Google Shape;54;p14"/>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5" name="Google Shape;55;p14"/>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6" name="Google Shape;56;p14"/>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7" name="Google Shape;57;p14"/>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58" name="Google Shape;58;p14"/>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59" name="Shape 59"/>
        <p:cNvGrpSpPr/>
        <p:nvPr/>
      </p:nvGrpSpPr>
      <p:grpSpPr>
        <a:xfrm>
          <a:off x="0" y="0"/>
          <a:ext cx="0" cy="0"/>
          <a:chOff x="0" y="0"/>
          <a:chExt cx="0" cy="0"/>
        </a:xfrm>
      </p:grpSpPr>
      <p:sp>
        <p:nvSpPr>
          <p:cNvPr id="60" name="Google Shape;60;p15"/>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61" name="Google Shape;61;p15"/>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2" name="Google Shape;62;p15"/>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3" name="Google Shape;63;p15"/>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64" name="Google Shape;64;p15"/>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65" name="Google Shape;65;p15"/>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66" name="Google Shape;66;p15"/>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67" name="Shape 67"/>
        <p:cNvGrpSpPr/>
        <p:nvPr/>
      </p:nvGrpSpPr>
      <p:grpSpPr>
        <a:xfrm>
          <a:off x="0" y="0"/>
          <a:ext cx="0" cy="0"/>
          <a:chOff x="0" y="0"/>
          <a:chExt cx="0" cy="0"/>
        </a:xfrm>
      </p:grpSpPr>
      <p:sp>
        <p:nvSpPr>
          <p:cNvPr id="68" name="Google Shape;68;p16"/>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9" name="Google Shape;69;p16"/>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0" name="Google Shape;70;p16"/>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1" name="Google Shape;71;p16"/>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2" name="Google Shape;72;p16"/>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73" name="Google Shape;73;p16"/>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4" name="Google Shape;74;p16"/>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5" name="Google Shape;75;p16"/>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6" name="Google Shape;76;p16"/>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77" name="Google Shape;77;p16"/>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78" name="Google Shape;78;p16"/>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79" name="Google Shape;79;p16"/>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80" name="Google Shape;80;p16"/>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81" name="Google Shape;81;p16"/>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82" name="Shape 82"/>
        <p:cNvGrpSpPr/>
        <p:nvPr/>
      </p:nvGrpSpPr>
      <p:grpSpPr>
        <a:xfrm>
          <a:off x="0" y="0"/>
          <a:ext cx="0" cy="0"/>
          <a:chOff x="0" y="0"/>
          <a:chExt cx="0" cy="0"/>
        </a:xfrm>
      </p:grpSpPr>
      <p:sp>
        <p:nvSpPr>
          <p:cNvPr id="83" name="Google Shape;83;p17"/>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4" name="Google Shape;84;p17"/>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5" name="Google Shape;85;p17"/>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6" name="Google Shape;86;p17"/>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87" name="Google Shape;87;p17"/>
          <p:cNvSpPr/>
          <p:nvPr>
            <p:ph idx="2" type="pic"/>
          </p:nvPr>
        </p:nvSpPr>
        <p:spPr>
          <a:xfrm>
            <a:off x="1801500" y="1497750"/>
            <a:ext cx="1801500" cy="1822500"/>
          </a:xfrm>
          <a:prstGeom prst="snip1Rect">
            <a:avLst>
              <a:gd fmla="val 17337" name="adj"/>
            </a:avLst>
          </a:prstGeom>
          <a:noFill/>
          <a:ln>
            <a:noFill/>
          </a:ln>
        </p:spPr>
      </p:sp>
      <p:sp>
        <p:nvSpPr>
          <p:cNvPr id="88" name="Google Shape;88;p17"/>
          <p:cNvSpPr/>
          <p:nvPr>
            <p:ph idx="3" type="pic"/>
          </p:nvPr>
        </p:nvSpPr>
        <p:spPr>
          <a:xfrm>
            <a:off x="1801500" y="3320250"/>
            <a:ext cx="1801500" cy="1822500"/>
          </a:xfrm>
          <a:prstGeom prst="snip1Rect">
            <a:avLst>
              <a:gd fmla="val 17337" name="adj"/>
            </a:avLst>
          </a:prstGeom>
          <a:noFill/>
          <a:ln>
            <a:noFill/>
          </a:ln>
        </p:spPr>
      </p:sp>
      <p:sp>
        <p:nvSpPr>
          <p:cNvPr id="89" name="Google Shape;89;p17"/>
          <p:cNvSpPr/>
          <p:nvPr>
            <p:ph idx="4" type="pic"/>
          </p:nvPr>
        </p:nvSpPr>
        <p:spPr>
          <a:xfrm>
            <a:off x="0" y="1497750"/>
            <a:ext cx="1801500" cy="1822500"/>
          </a:xfrm>
          <a:prstGeom prst="snip1Rect">
            <a:avLst>
              <a:gd fmla="val 17337" name="adj"/>
            </a:avLst>
          </a:prstGeom>
          <a:noFill/>
          <a:ln>
            <a:noFill/>
          </a:ln>
        </p:spPr>
      </p:sp>
      <p:sp>
        <p:nvSpPr>
          <p:cNvPr id="90" name="Google Shape;90;p17"/>
          <p:cNvSpPr/>
          <p:nvPr>
            <p:ph idx="5" type="pic"/>
          </p:nvPr>
        </p:nvSpPr>
        <p:spPr>
          <a:xfrm>
            <a:off x="0" y="3320250"/>
            <a:ext cx="1801500" cy="1822500"/>
          </a:xfrm>
          <a:prstGeom prst="snip1Rect">
            <a:avLst>
              <a:gd fmla="val 17337" name="adj"/>
            </a:avLst>
          </a:prstGeom>
          <a:noFill/>
          <a:ln>
            <a:noFill/>
          </a:ln>
        </p:spPr>
      </p:sp>
      <p:sp>
        <p:nvSpPr>
          <p:cNvPr id="91" name="Google Shape;91;p17"/>
          <p:cNvSpPr/>
          <p:nvPr>
            <p:ph idx="6" type="pic"/>
          </p:nvPr>
        </p:nvSpPr>
        <p:spPr>
          <a:xfrm>
            <a:off x="3603000" y="1497750"/>
            <a:ext cx="1801500" cy="1822500"/>
          </a:xfrm>
          <a:prstGeom prst="snip1Rect">
            <a:avLst>
              <a:gd fmla="val 17337" name="adj"/>
            </a:avLst>
          </a:prstGeom>
          <a:noFill/>
          <a:ln>
            <a:noFill/>
          </a:ln>
        </p:spPr>
      </p:sp>
      <p:sp>
        <p:nvSpPr>
          <p:cNvPr id="92" name="Google Shape;92;p17"/>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93" name="Shape 93"/>
        <p:cNvGrpSpPr/>
        <p:nvPr/>
      </p:nvGrpSpPr>
      <p:grpSpPr>
        <a:xfrm>
          <a:off x="0" y="0"/>
          <a:ext cx="0" cy="0"/>
          <a:chOff x="0" y="0"/>
          <a:chExt cx="0" cy="0"/>
        </a:xfrm>
      </p:grpSpPr>
      <p:sp>
        <p:nvSpPr>
          <p:cNvPr id="94" name="Google Shape;94;p18"/>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5" name="Google Shape;95;p18"/>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6" name="Google Shape;96;p18"/>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7" name="Google Shape;97;p18"/>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98" name="Google Shape;98;p18"/>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99" name="Google Shape;99;p18"/>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0" name="Google Shape;100;p18"/>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101" name="Google Shape;101;p18"/>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02" name="Google Shape;102;p18"/>
          <p:cNvSpPr/>
          <p:nvPr>
            <p:ph idx="5" type="pic"/>
          </p:nvPr>
        </p:nvSpPr>
        <p:spPr>
          <a:xfrm>
            <a:off x="0" y="1502400"/>
            <a:ext cx="5404500" cy="3639600"/>
          </a:xfrm>
          <a:prstGeom prst="snip1Rect">
            <a:avLst>
              <a:gd fmla="val 16026" name="adj"/>
            </a:avLst>
          </a:prstGeom>
          <a:noFill/>
          <a:ln>
            <a:noFill/>
          </a:ln>
        </p:spPr>
      </p:sp>
      <p:sp>
        <p:nvSpPr>
          <p:cNvPr id="103" name="Google Shape;103;p18"/>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04" name="Google Shape;104;p18"/>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105" name="Shape 105"/>
        <p:cNvGrpSpPr/>
        <p:nvPr/>
      </p:nvGrpSpPr>
      <p:grpSpPr>
        <a:xfrm>
          <a:off x="0" y="0"/>
          <a:ext cx="0" cy="0"/>
          <a:chOff x="0" y="0"/>
          <a:chExt cx="0" cy="0"/>
        </a:xfrm>
      </p:grpSpPr>
      <p:sp>
        <p:nvSpPr>
          <p:cNvPr id="106" name="Google Shape;106;p19"/>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 name="Google Shape;107;p19"/>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108" name="Google Shape;108;p19"/>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109" name="Google Shape;109;p19"/>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110" name="Shape 110"/>
        <p:cNvGrpSpPr/>
        <p:nvPr/>
      </p:nvGrpSpPr>
      <p:grpSpPr>
        <a:xfrm>
          <a:off x="0" y="0"/>
          <a:ext cx="0" cy="0"/>
          <a:chOff x="0" y="0"/>
          <a:chExt cx="0" cy="0"/>
        </a:xfrm>
      </p:grpSpPr>
      <p:sp>
        <p:nvSpPr>
          <p:cNvPr id="111" name="Google Shape;111;p20"/>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2" name="Google Shape;112;p20"/>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3" name="Google Shape;113;p20"/>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4" name="Google Shape;114;p20"/>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5" name="Google Shape;115;p20"/>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116" name="Google Shape;116;p20"/>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117" name="Google Shape;117;p20"/>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118" name="Shape 118"/>
        <p:cNvGrpSpPr/>
        <p:nvPr/>
      </p:nvGrpSpPr>
      <p:grpSpPr>
        <a:xfrm>
          <a:off x="0" y="0"/>
          <a:ext cx="0" cy="0"/>
          <a:chOff x="0" y="0"/>
          <a:chExt cx="0" cy="0"/>
        </a:xfrm>
      </p:grpSpPr>
      <p:sp>
        <p:nvSpPr>
          <p:cNvPr id="119" name="Google Shape;119;p21"/>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0" name="Google Shape;120;p21"/>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1" name="Google Shape;121;p21"/>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2" name="Google Shape;122;p21"/>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123" name="Google Shape;123;p21"/>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124" name="Google Shape;124;p21"/>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125" name="Google Shape;125;p21"/>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126" name="Shape 126"/>
        <p:cNvGrpSpPr/>
        <p:nvPr/>
      </p:nvGrpSpPr>
      <p:grpSpPr>
        <a:xfrm>
          <a:off x="0" y="0"/>
          <a:ext cx="0" cy="0"/>
          <a:chOff x="0" y="0"/>
          <a:chExt cx="0" cy="0"/>
        </a:xfrm>
      </p:grpSpPr>
      <p:sp>
        <p:nvSpPr>
          <p:cNvPr id="127" name="Google Shape;127;p22"/>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8" name="Google Shape;128;p22"/>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29" name="Google Shape;129;p22"/>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30" name="Google Shape;130;p22"/>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131" name="Google Shape;131;p22"/>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132" name="Google Shape;132;p22"/>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133" name="Google Shape;133;p22"/>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134" name="Shape 134"/>
        <p:cNvGrpSpPr/>
        <p:nvPr/>
      </p:nvGrpSpPr>
      <p:grpSpPr>
        <a:xfrm>
          <a:off x="0" y="0"/>
          <a:ext cx="0" cy="0"/>
          <a:chOff x="0" y="0"/>
          <a:chExt cx="0" cy="0"/>
        </a:xfrm>
      </p:grpSpPr>
      <p:sp>
        <p:nvSpPr>
          <p:cNvPr id="135" name="Google Shape;135;p23"/>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6" name="Google Shape;136;p23"/>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7" name="Google Shape;137;p23"/>
          <p:cNvSpPr/>
          <p:nvPr>
            <p:ph idx="2" type="pic"/>
          </p:nvPr>
        </p:nvSpPr>
        <p:spPr>
          <a:xfrm flipH="1">
            <a:off x="4930693" y="619550"/>
            <a:ext cx="2100300" cy="1513500"/>
          </a:xfrm>
          <a:prstGeom prst="snip1Rect">
            <a:avLst>
              <a:gd fmla="val 0" name="adj"/>
            </a:avLst>
          </a:prstGeom>
          <a:noFill/>
          <a:ln>
            <a:noFill/>
          </a:ln>
        </p:spPr>
      </p:sp>
      <p:sp>
        <p:nvSpPr>
          <p:cNvPr id="138" name="Google Shape;138;p23"/>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139" name="Google Shape;139;p23"/>
          <p:cNvSpPr/>
          <p:nvPr>
            <p:ph idx="3" type="pic"/>
          </p:nvPr>
        </p:nvSpPr>
        <p:spPr>
          <a:xfrm flipH="1">
            <a:off x="696043" y="2125400"/>
            <a:ext cx="2129100" cy="1513500"/>
          </a:xfrm>
          <a:prstGeom prst="snip1Rect">
            <a:avLst>
              <a:gd fmla="val 0" name="adj"/>
            </a:avLst>
          </a:prstGeom>
          <a:noFill/>
          <a:ln>
            <a:noFill/>
          </a:ln>
        </p:spPr>
      </p:sp>
      <p:sp>
        <p:nvSpPr>
          <p:cNvPr id="140" name="Google Shape;140;p23"/>
          <p:cNvSpPr/>
          <p:nvPr>
            <p:ph idx="4" type="pic"/>
          </p:nvPr>
        </p:nvSpPr>
        <p:spPr>
          <a:xfrm flipH="1">
            <a:off x="4930693" y="3635300"/>
            <a:ext cx="2100300" cy="1513500"/>
          </a:xfrm>
          <a:prstGeom prst="snip1Rect">
            <a:avLst>
              <a:gd fmla="val 0" name="adj"/>
            </a:avLst>
          </a:prstGeom>
          <a:noFill/>
          <a:ln>
            <a:noFill/>
          </a:ln>
        </p:spPr>
      </p:sp>
      <p:sp>
        <p:nvSpPr>
          <p:cNvPr id="141" name="Google Shape;141;p23"/>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2" name="Google Shape;142;p23"/>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3" name="Google Shape;143;p23"/>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144" name="Google Shape;144;p23"/>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45" name="Google Shape;145;p23"/>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46" name="Google Shape;146;p23"/>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mt="10000"/>
          </a:blip>
          <a:srcRect b="0" l="789" r="12433" t="0"/>
          <a:stretch/>
        </p:blipFill>
        <p:spPr>
          <a:xfrm>
            <a:off x="0" y="-125"/>
            <a:ext cx="6696900" cy="5143500"/>
          </a:xfrm>
          <a:prstGeom prst="snip1Rect">
            <a:avLst>
              <a:gd fmla="val 16667" name="adj"/>
            </a:avLst>
          </a:prstGeom>
          <a:noFill/>
          <a:ln>
            <a:noFill/>
          </a:ln>
        </p:spPr>
      </p:pic>
      <p:sp>
        <p:nvSpPr>
          <p:cNvPr id="149" name="Google Shape;149;p24"/>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0" name="Google Shape;150;p24"/>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1" name="Google Shape;151;p24"/>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2" name="Google Shape;152;p24"/>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3" name="Google Shape;153;p24"/>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4" name="Google Shape;154;p24"/>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55" name="Google Shape;155;p24"/>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156" name="Shape 156"/>
        <p:cNvGrpSpPr/>
        <p:nvPr/>
      </p:nvGrpSpPr>
      <p:grpSpPr>
        <a:xfrm>
          <a:off x="0" y="0"/>
          <a:ext cx="0" cy="0"/>
          <a:chOff x="0" y="0"/>
          <a:chExt cx="0" cy="0"/>
        </a:xfrm>
      </p:grpSpPr>
      <p:sp>
        <p:nvSpPr>
          <p:cNvPr id="157" name="Google Shape;157;p25"/>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58" name="Google Shape;158;p25"/>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59" name="Google Shape;159;p25"/>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60" name="Google Shape;160;p25"/>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61" name="Google Shape;161;p25"/>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62" name="Google Shape;162;p25"/>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63" name="Google Shape;163;p25"/>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164" name="Google Shape;164;p25"/>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65" name="Google Shape;165;p25"/>
          <p:cNvSpPr/>
          <p:nvPr>
            <p:ph idx="5" type="pic"/>
          </p:nvPr>
        </p:nvSpPr>
        <p:spPr>
          <a:xfrm>
            <a:off x="75" y="2673275"/>
            <a:ext cx="3400800" cy="2471400"/>
          </a:xfrm>
          <a:prstGeom prst="snip1Rect">
            <a:avLst>
              <a:gd fmla="val 21231" name="adj"/>
            </a:avLst>
          </a:prstGeom>
          <a:noFill/>
          <a:ln>
            <a:noFill/>
          </a:ln>
        </p:spPr>
      </p:sp>
      <p:sp>
        <p:nvSpPr>
          <p:cNvPr id="166" name="Google Shape;166;p25"/>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67" name="Google Shape;167;p25"/>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68" name="Google Shape;168;p25"/>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69" name="Google Shape;169;p25"/>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70" name="Shape 170"/>
        <p:cNvGrpSpPr/>
        <p:nvPr/>
      </p:nvGrpSpPr>
      <p:grpSpPr>
        <a:xfrm>
          <a:off x="0" y="0"/>
          <a:ext cx="0" cy="0"/>
          <a:chOff x="0" y="0"/>
          <a:chExt cx="0" cy="0"/>
        </a:xfrm>
      </p:grpSpPr>
      <p:sp>
        <p:nvSpPr>
          <p:cNvPr id="171" name="Google Shape;171;p26"/>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72" name="Google Shape;172;p26"/>
          <p:cNvSpPr/>
          <p:nvPr>
            <p:ph idx="2" type="pic"/>
          </p:nvPr>
        </p:nvSpPr>
        <p:spPr>
          <a:xfrm>
            <a:off x="75" y="2673275"/>
            <a:ext cx="3014400" cy="2471400"/>
          </a:xfrm>
          <a:prstGeom prst="snip1Rect">
            <a:avLst>
              <a:gd fmla="val 0" name="adj"/>
            </a:avLst>
          </a:prstGeom>
          <a:noFill/>
          <a:ln>
            <a:noFill/>
          </a:ln>
        </p:spPr>
      </p:sp>
      <p:sp>
        <p:nvSpPr>
          <p:cNvPr id="173" name="Google Shape;173;p26"/>
          <p:cNvSpPr/>
          <p:nvPr>
            <p:ph idx="3" type="pic"/>
          </p:nvPr>
        </p:nvSpPr>
        <p:spPr>
          <a:xfrm>
            <a:off x="5341625" y="-3800"/>
            <a:ext cx="3802500" cy="1899300"/>
          </a:xfrm>
          <a:prstGeom prst="snip1Rect">
            <a:avLst>
              <a:gd fmla="val 17337" name="adj"/>
            </a:avLst>
          </a:prstGeom>
          <a:noFill/>
          <a:ln>
            <a:noFill/>
          </a:ln>
        </p:spPr>
      </p:sp>
      <p:sp>
        <p:nvSpPr>
          <p:cNvPr id="174" name="Google Shape;174;p26"/>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5" name="Google Shape;175;p26"/>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6" name="Google Shape;176;p26"/>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77" name="Google Shape;177;p26"/>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78" name="Google Shape;178;p26"/>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79" name="Google Shape;179;p26"/>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80" name="Shape 180"/>
        <p:cNvGrpSpPr/>
        <p:nvPr/>
      </p:nvGrpSpPr>
      <p:grpSpPr>
        <a:xfrm>
          <a:off x="0" y="0"/>
          <a:ext cx="0" cy="0"/>
          <a:chOff x="0" y="0"/>
          <a:chExt cx="0" cy="0"/>
        </a:xfrm>
      </p:grpSpPr>
      <p:sp>
        <p:nvSpPr>
          <p:cNvPr id="181" name="Google Shape;181;p27"/>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2" name="Google Shape;182;p27"/>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3" name="Google Shape;183;p27"/>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4" name="Google Shape;184;p27"/>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5" name="Google Shape;185;p27"/>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6" name="Google Shape;186;p27"/>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7" name="Google Shape;187;p27"/>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88" name="Google Shape;188;p27"/>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89" name="Google Shape;189;p27"/>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0" name="Google Shape;190;p27"/>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1" name="Google Shape;191;p27"/>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2" name="Google Shape;192;p27"/>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3" name="Google Shape;193;p27"/>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4" name="Google Shape;194;p27"/>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5" name="Google Shape;195;p27"/>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6" name="Google Shape;196;p27"/>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7" name="Google Shape;197;p27"/>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8" name="Google Shape;198;p27"/>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99" name="Google Shape;199;p27"/>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200" name="Google Shape;200;p27"/>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201" name="Shape 201"/>
        <p:cNvGrpSpPr/>
        <p:nvPr/>
      </p:nvGrpSpPr>
      <p:grpSpPr>
        <a:xfrm>
          <a:off x="0" y="0"/>
          <a:ext cx="0" cy="0"/>
          <a:chOff x="0" y="0"/>
          <a:chExt cx="0" cy="0"/>
        </a:xfrm>
      </p:grpSpPr>
      <p:sp>
        <p:nvSpPr>
          <p:cNvPr id="202" name="Google Shape;202;p28"/>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3" name="Google Shape;203;p28"/>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4" name="Google Shape;204;p28"/>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05" name="Google Shape;205;p28"/>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206" name="Google Shape;206;p28"/>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207" name="Google Shape;207;p28"/>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08" name="Google Shape;208;p28"/>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09" name="Google Shape;209;p28"/>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10" name="Google Shape;210;p28"/>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211" name="Google Shape;211;p28"/>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212" name="Google Shape;212;p28"/>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213" name="Shape 213"/>
        <p:cNvGrpSpPr/>
        <p:nvPr/>
      </p:nvGrpSpPr>
      <p:grpSpPr>
        <a:xfrm>
          <a:off x="0" y="0"/>
          <a:ext cx="0" cy="0"/>
          <a:chOff x="0" y="0"/>
          <a:chExt cx="0" cy="0"/>
        </a:xfrm>
      </p:grpSpPr>
      <p:sp>
        <p:nvSpPr>
          <p:cNvPr id="214" name="Google Shape;214;p29"/>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5" name="Google Shape;215;p29"/>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6" name="Google Shape;216;p29"/>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7" name="Google Shape;217;p29"/>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18" name="Google Shape;218;p29"/>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219" name="Google Shape;219;p29"/>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20" name="Google Shape;220;p29"/>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21" name="Google Shape;221;p29"/>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222" name="Google Shape;222;p29"/>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223" name="Google Shape;223;p29"/>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4" name="Google Shape;224;p29"/>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25" name="Google Shape;225;p29"/>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26" name="Google Shape;226;p29"/>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7" name="Google Shape;227;p29"/>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8" name="Google Shape;228;p29"/>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229" name="Google Shape;229;p29"/>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0" name="Google Shape;230;p29"/>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1" name="Google Shape;231;p29"/>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2" name="Google Shape;232;p29"/>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233" name="Google Shape;233;p29"/>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234" name="Shape 234"/>
        <p:cNvGrpSpPr/>
        <p:nvPr/>
      </p:nvGrpSpPr>
      <p:grpSpPr>
        <a:xfrm>
          <a:off x="0" y="0"/>
          <a:ext cx="0" cy="0"/>
          <a:chOff x="0" y="0"/>
          <a:chExt cx="0" cy="0"/>
        </a:xfrm>
      </p:grpSpPr>
      <p:sp>
        <p:nvSpPr>
          <p:cNvPr id="235" name="Google Shape;235;p30"/>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6" name="Google Shape;236;p30"/>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7" name="Google Shape;237;p30"/>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8" name="Google Shape;238;p30"/>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39" name="Google Shape;239;p30"/>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40" name="Google Shape;240;p30"/>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1" name="Google Shape;241;p30"/>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2" name="Google Shape;242;p30"/>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3" name="Google Shape;243;p30"/>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4" name="Google Shape;244;p30"/>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5" name="Google Shape;245;p30"/>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6" name="Google Shape;246;p30"/>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7" name="Google Shape;247;p30"/>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48" name="Google Shape;248;p30"/>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49" name="Google Shape;249;p30"/>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50" name="Google Shape;250;p30"/>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1" name="Google Shape;251;p30"/>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2" name="Google Shape;252;p30"/>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3" name="Google Shape;253;p30"/>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4" name="Google Shape;254;p30"/>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255" name="Google Shape;255;p30"/>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6" name="Google Shape;256;p30"/>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7" name="Google Shape;257;p30"/>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8" name="Google Shape;258;p30"/>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59" name="Google Shape;259;p30"/>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260" name="Shape 260"/>
        <p:cNvGrpSpPr/>
        <p:nvPr/>
      </p:nvGrpSpPr>
      <p:grpSpPr>
        <a:xfrm>
          <a:off x="0" y="0"/>
          <a:ext cx="0" cy="0"/>
          <a:chOff x="0" y="0"/>
          <a:chExt cx="0" cy="0"/>
        </a:xfrm>
      </p:grpSpPr>
      <p:sp>
        <p:nvSpPr>
          <p:cNvPr id="261" name="Google Shape;261;p31"/>
          <p:cNvSpPr/>
          <p:nvPr>
            <p:ph idx="2" type="pic"/>
          </p:nvPr>
        </p:nvSpPr>
        <p:spPr>
          <a:xfrm>
            <a:off x="-1600" y="1969350"/>
            <a:ext cx="9144000" cy="3174600"/>
          </a:xfrm>
          <a:prstGeom prst="snip1Rect">
            <a:avLst>
              <a:gd fmla="val 19548" name="adj"/>
            </a:avLst>
          </a:prstGeom>
          <a:noFill/>
          <a:ln>
            <a:noFill/>
          </a:ln>
        </p:spPr>
      </p:sp>
      <p:sp>
        <p:nvSpPr>
          <p:cNvPr id="262" name="Google Shape;262;p31"/>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3" name="Google Shape;263;p31"/>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4" name="Google Shape;264;p31"/>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5" name="Google Shape;265;p31"/>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6" name="Google Shape;266;p31"/>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7" name="Google Shape;267;p31"/>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68" name="Google Shape;268;p31"/>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69" name="Google Shape;269;p31"/>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70" name="Google Shape;270;p31"/>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1" name="Google Shape;271;p31"/>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2" name="Google Shape;272;p31"/>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3" name="Google Shape;273;p31"/>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74" name="Google Shape;274;p31"/>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275" name="Google Shape;275;p31"/>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276" name="Shape 276"/>
        <p:cNvGrpSpPr/>
        <p:nvPr/>
      </p:nvGrpSpPr>
      <p:grpSpPr>
        <a:xfrm>
          <a:off x="0" y="0"/>
          <a:ext cx="0" cy="0"/>
          <a:chOff x="0" y="0"/>
          <a:chExt cx="0" cy="0"/>
        </a:xfrm>
      </p:grpSpPr>
      <p:sp>
        <p:nvSpPr>
          <p:cNvPr id="277" name="Google Shape;277;p3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78" name="Google Shape;278;p3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79" name="Google Shape;279;p3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80" name="Google Shape;280;p32"/>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1" name="Google Shape;281;p32"/>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2" name="Google Shape;282;p32"/>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3" name="Google Shape;283;p32"/>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4" name="Google Shape;284;p32"/>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5" name="Google Shape;285;p32"/>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6" name="Google Shape;286;p32"/>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7" name="Google Shape;287;p32"/>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8" name="Google Shape;288;p32"/>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89" name="Google Shape;289;p32"/>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290" name="Shape 290"/>
        <p:cNvGrpSpPr/>
        <p:nvPr/>
      </p:nvGrpSpPr>
      <p:grpSpPr>
        <a:xfrm>
          <a:off x="0" y="0"/>
          <a:ext cx="0" cy="0"/>
          <a:chOff x="0" y="0"/>
          <a:chExt cx="0" cy="0"/>
        </a:xfrm>
      </p:grpSpPr>
      <p:sp>
        <p:nvSpPr>
          <p:cNvPr id="291" name="Google Shape;291;p33"/>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92" name="Google Shape;292;p33"/>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293" name="Google Shape;293;p33"/>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294" name="Google Shape;294;p33"/>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5" name="Google Shape;295;p33"/>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96" name="Google Shape;296;p33"/>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7" name="Google Shape;297;p33"/>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98" name="Google Shape;298;p33"/>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99" name="Google Shape;299;p33"/>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300" name="Google Shape;300;p33"/>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301" name="Shape 301"/>
        <p:cNvGrpSpPr/>
        <p:nvPr/>
      </p:nvGrpSpPr>
      <p:grpSpPr>
        <a:xfrm>
          <a:off x="0" y="0"/>
          <a:ext cx="0" cy="0"/>
          <a:chOff x="0" y="0"/>
          <a:chExt cx="0" cy="0"/>
        </a:xfrm>
      </p:grpSpPr>
      <p:sp>
        <p:nvSpPr>
          <p:cNvPr id="302" name="Google Shape;302;p34"/>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303" name="Google Shape;303;p34"/>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4" name="Google Shape;304;p34"/>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05" name="Google Shape;305;p34"/>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06" name="Google Shape;306;p34"/>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07" name="Google Shape;307;p34"/>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08" name="Google Shape;308;p34"/>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09" name="Google Shape;309;p34"/>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10" name="Google Shape;310;p34"/>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311" name="Google Shape;311;p34"/>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312" name="Google Shape;312;p34"/>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313" name="Shape 313"/>
        <p:cNvGrpSpPr/>
        <p:nvPr/>
      </p:nvGrpSpPr>
      <p:grpSpPr>
        <a:xfrm>
          <a:off x="0" y="0"/>
          <a:ext cx="0" cy="0"/>
          <a:chOff x="0" y="0"/>
          <a:chExt cx="0" cy="0"/>
        </a:xfrm>
      </p:grpSpPr>
      <p:sp>
        <p:nvSpPr>
          <p:cNvPr id="314" name="Google Shape;314;p35"/>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15" name="Google Shape;315;p35"/>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16" name="Google Shape;316;p35"/>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7" name="Google Shape;317;p35"/>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8" name="Google Shape;318;p35"/>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19" name="Google Shape;319;p35"/>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20" name="Google Shape;320;p35"/>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321" name="Google Shape;321;p35"/>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2" name="Google Shape;322;p35"/>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3" name="Google Shape;323;p35"/>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4" name="Google Shape;324;p35"/>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25" name="Google Shape;325;p35"/>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6" name="Google Shape;326;p35"/>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7" name="Google Shape;327;p35"/>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8" name="Google Shape;328;p35"/>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329" name="Google Shape;329;p35"/>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0" name="Google Shape;330;p35"/>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1" name="Google Shape;331;p35"/>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2" name="Google Shape;332;p35"/>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3" name="Google Shape;333;p35"/>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4" name="Google Shape;334;p35"/>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5" name="Google Shape;335;p35"/>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6" name="Google Shape;336;p35"/>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7" name="Google Shape;337;p35"/>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8" name="Google Shape;338;p35"/>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39" name="Google Shape;339;p35"/>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340" name="Shape 340"/>
        <p:cNvGrpSpPr/>
        <p:nvPr/>
      </p:nvGrpSpPr>
      <p:grpSpPr>
        <a:xfrm>
          <a:off x="0" y="0"/>
          <a:ext cx="0" cy="0"/>
          <a:chOff x="0" y="0"/>
          <a:chExt cx="0" cy="0"/>
        </a:xfrm>
      </p:grpSpPr>
      <p:sp>
        <p:nvSpPr>
          <p:cNvPr id="341" name="Google Shape;341;p36"/>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2" name="Google Shape;342;p36"/>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3" name="Google Shape;343;p36"/>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344" name="Google Shape;344;p36"/>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45" name="Google Shape;345;p36"/>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46" name="Google Shape;346;p36"/>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7" name="Google Shape;347;p36"/>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8" name="Google Shape;348;p36"/>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49" name="Google Shape;349;p36"/>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350" name="Shape 350"/>
        <p:cNvGrpSpPr/>
        <p:nvPr/>
      </p:nvGrpSpPr>
      <p:grpSpPr>
        <a:xfrm>
          <a:off x="0" y="0"/>
          <a:ext cx="0" cy="0"/>
          <a:chOff x="0" y="0"/>
          <a:chExt cx="0" cy="0"/>
        </a:xfrm>
      </p:grpSpPr>
      <p:sp>
        <p:nvSpPr>
          <p:cNvPr id="351" name="Google Shape;351;p37"/>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2" name="Google Shape;352;p37"/>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53" name="Google Shape;353;p37"/>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354" name="Google Shape;354;p37"/>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355" name="Shape 355"/>
        <p:cNvGrpSpPr/>
        <p:nvPr/>
      </p:nvGrpSpPr>
      <p:grpSpPr>
        <a:xfrm>
          <a:off x="0" y="0"/>
          <a:ext cx="0" cy="0"/>
          <a:chOff x="0" y="0"/>
          <a:chExt cx="0" cy="0"/>
        </a:xfrm>
      </p:grpSpPr>
      <p:sp>
        <p:nvSpPr>
          <p:cNvPr id="356" name="Google Shape;356;p38"/>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7" name="Google Shape;357;p38"/>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8" name="Google Shape;358;p38"/>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59" name="Google Shape;359;p38"/>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60" name="Google Shape;360;p38"/>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61" name="Google Shape;361;p38"/>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2" name="Google Shape;362;p38"/>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3" name="Google Shape;363;p38"/>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4" name="Google Shape;364;p38"/>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5" name="Google Shape;365;p38"/>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6" name="Google Shape;366;p38"/>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67" name="Google Shape;367;p38"/>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68" name="Google Shape;368;p38"/>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369" name="Shape 369"/>
        <p:cNvGrpSpPr/>
        <p:nvPr/>
      </p:nvGrpSpPr>
      <p:grpSpPr>
        <a:xfrm>
          <a:off x="0" y="0"/>
          <a:ext cx="0" cy="0"/>
          <a:chOff x="0" y="0"/>
          <a:chExt cx="0" cy="0"/>
        </a:xfrm>
      </p:grpSpPr>
      <p:sp>
        <p:nvSpPr>
          <p:cNvPr id="370" name="Google Shape;370;p39"/>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1" name="Google Shape;371;p39"/>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2" name="Google Shape;372;p39"/>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3" name="Google Shape;373;p39"/>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74" name="Google Shape;374;p39"/>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75" name="Google Shape;375;p39"/>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76" name="Google Shape;376;p39"/>
          <p:cNvSpPr/>
          <p:nvPr>
            <p:ph idx="2" type="pic"/>
          </p:nvPr>
        </p:nvSpPr>
        <p:spPr>
          <a:xfrm>
            <a:off x="387475" y="3575855"/>
            <a:ext cx="1309500" cy="1050000"/>
          </a:xfrm>
          <a:prstGeom prst="snip1Rect">
            <a:avLst>
              <a:gd fmla="val 16667" name="adj"/>
            </a:avLst>
          </a:prstGeom>
          <a:noFill/>
          <a:ln>
            <a:noFill/>
          </a:ln>
        </p:spPr>
      </p:sp>
      <p:sp>
        <p:nvSpPr>
          <p:cNvPr id="377" name="Google Shape;377;p39"/>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78" name="Google Shape;378;p39"/>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9" name="Shape 379"/>
        <p:cNvGrpSpPr/>
        <p:nvPr/>
      </p:nvGrpSpPr>
      <p:grpSpPr>
        <a:xfrm>
          <a:off x="0" y="0"/>
          <a:ext cx="0" cy="0"/>
          <a:chOff x="0" y="0"/>
          <a:chExt cx="0" cy="0"/>
        </a:xfrm>
      </p:grpSpPr>
      <p:sp>
        <p:nvSpPr>
          <p:cNvPr id="380" name="Google Shape;380;p40"/>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3" name="Google Shape;383;p41"/>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4" name="Shape 384"/>
        <p:cNvGrpSpPr/>
        <p:nvPr/>
      </p:nvGrpSpPr>
      <p:grpSpPr>
        <a:xfrm>
          <a:off x="0" y="0"/>
          <a:ext cx="0" cy="0"/>
          <a:chOff x="0" y="0"/>
          <a:chExt cx="0" cy="0"/>
        </a:xfrm>
      </p:grpSpPr>
      <p:sp>
        <p:nvSpPr>
          <p:cNvPr id="385" name="Google Shape;385;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6" name="Shape 386"/>
        <p:cNvGrpSpPr/>
        <p:nvPr/>
      </p:nvGrpSpPr>
      <p:grpSpPr>
        <a:xfrm>
          <a:off x="0" y="0"/>
          <a:ext cx="0" cy="0"/>
          <a:chOff x="0" y="0"/>
          <a:chExt cx="0" cy="0"/>
        </a:xfrm>
      </p:grpSpPr>
      <p:sp>
        <p:nvSpPr>
          <p:cNvPr id="387" name="Google Shape;387;p43"/>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88" name="Google Shape;388;p43"/>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9" name="Shape 389"/>
        <p:cNvGrpSpPr/>
        <p:nvPr/>
      </p:nvGrpSpPr>
      <p:grpSpPr>
        <a:xfrm>
          <a:off x="0" y="0"/>
          <a:ext cx="0" cy="0"/>
          <a:chOff x="0" y="0"/>
          <a:chExt cx="0" cy="0"/>
        </a:xfrm>
      </p:grpSpPr>
      <p:sp>
        <p:nvSpPr>
          <p:cNvPr id="390" name="Google Shape;390;p44"/>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1" name="Shape 391"/>
        <p:cNvGrpSpPr/>
        <p:nvPr/>
      </p:nvGrpSpPr>
      <p:grpSpPr>
        <a:xfrm>
          <a:off x="0" y="0"/>
          <a:ext cx="0" cy="0"/>
          <a:chOff x="0" y="0"/>
          <a:chExt cx="0" cy="0"/>
        </a:xfrm>
      </p:grpSpPr>
      <p:sp>
        <p:nvSpPr>
          <p:cNvPr id="392" name="Google Shape;392;p45"/>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3" name="Google Shape;393;p45"/>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394" name="Google Shape;394;p45"/>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5" name="Shape 395"/>
        <p:cNvGrpSpPr/>
        <p:nvPr/>
      </p:nvGrpSpPr>
      <p:grpSpPr>
        <a:xfrm>
          <a:off x="0" y="0"/>
          <a:ext cx="0" cy="0"/>
          <a:chOff x="0" y="0"/>
          <a:chExt cx="0" cy="0"/>
        </a:xfrm>
      </p:grpSpPr>
      <p:sp>
        <p:nvSpPr>
          <p:cNvPr id="396" name="Google Shape;396;p46"/>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7" name="Shape 397"/>
        <p:cNvGrpSpPr/>
        <p:nvPr/>
      </p:nvGrpSpPr>
      <p:grpSpPr>
        <a:xfrm>
          <a:off x="0" y="0"/>
          <a:ext cx="0" cy="0"/>
          <a:chOff x="0" y="0"/>
          <a:chExt cx="0" cy="0"/>
        </a:xfrm>
      </p:grpSpPr>
      <p:sp>
        <p:nvSpPr>
          <p:cNvPr id="398" name="Google Shape;398;p47"/>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99" name="Google Shape;399;p47"/>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0" name="Shape 40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1" name="Shape 401"/>
        <p:cNvGrpSpPr/>
        <p:nvPr/>
      </p:nvGrpSpPr>
      <p:grpSpPr>
        <a:xfrm>
          <a:off x="0" y="0"/>
          <a:ext cx="0" cy="0"/>
          <a:chOff x="0" y="0"/>
          <a:chExt cx="0" cy="0"/>
        </a:xfrm>
      </p:grpSpPr>
      <p:sp>
        <p:nvSpPr>
          <p:cNvPr id="402" name="Google Shape;402;p49"/>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3" name="Google Shape;403;p49"/>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4" name="Google Shape;404;p49"/>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5" name="Google Shape;405;p49"/>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6" name="Google Shape;406;p49"/>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7" name="Google Shape;407;p49"/>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08" name="Google Shape;408;p49"/>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9" name="Shape 409"/>
        <p:cNvGrpSpPr/>
        <p:nvPr/>
      </p:nvGrpSpPr>
      <p:grpSpPr>
        <a:xfrm>
          <a:off x="0" y="0"/>
          <a:ext cx="0" cy="0"/>
          <a:chOff x="0" y="0"/>
          <a:chExt cx="0" cy="0"/>
        </a:xfrm>
      </p:grpSpPr>
      <p:sp>
        <p:nvSpPr>
          <p:cNvPr id="410" name="Google Shape;410;p5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50"/>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2" name="Google Shape;41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13" name="Shape 413"/>
        <p:cNvGrpSpPr/>
        <p:nvPr/>
      </p:nvGrpSpPr>
      <p:grpSpPr>
        <a:xfrm>
          <a:off x="0" y="0"/>
          <a:ext cx="0" cy="0"/>
          <a:chOff x="0" y="0"/>
          <a:chExt cx="0" cy="0"/>
        </a:xfrm>
      </p:grpSpPr>
      <p:sp>
        <p:nvSpPr>
          <p:cNvPr id="414" name="Google Shape;414;p51"/>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5" name="Google Shape;415;p51"/>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6" name="Google Shape;416;p51"/>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17" name="Google Shape;417;p51"/>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18" name="Google Shape;418;p51"/>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9" name="Shape 419"/>
        <p:cNvGrpSpPr/>
        <p:nvPr/>
      </p:nvGrpSpPr>
      <p:grpSpPr>
        <a:xfrm>
          <a:off x="0" y="0"/>
          <a:ext cx="0" cy="0"/>
          <a:chOff x="0" y="0"/>
          <a:chExt cx="0" cy="0"/>
        </a:xfrm>
      </p:grpSpPr>
      <p:sp>
        <p:nvSpPr>
          <p:cNvPr id="420" name="Google Shape;420;p52"/>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1" name="Google Shape;421;p52"/>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2" name="Google Shape;422;p52"/>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3" name="Google Shape;423;p52"/>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4" name="Google Shape;424;p52"/>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5" name="Google Shape;425;p52"/>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26" name="Google Shape;426;p52"/>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7" name="Shape 427"/>
        <p:cNvGrpSpPr/>
        <p:nvPr/>
      </p:nvGrpSpPr>
      <p:grpSpPr>
        <a:xfrm>
          <a:off x="0" y="0"/>
          <a:ext cx="0" cy="0"/>
          <a:chOff x="0" y="0"/>
          <a:chExt cx="0" cy="0"/>
        </a:xfrm>
      </p:grpSpPr>
      <p:sp>
        <p:nvSpPr>
          <p:cNvPr id="428" name="Google Shape;428;p53"/>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29" name="Google Shape;429;p53"/>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0" name="Google Shape;430;p53"/>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1" name="Google Shape;431;p53"/>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432" name="Google Shape;432;p53"/>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3" name="Google Shape;433;p53"/>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4" name="Google Shape;434;p53"/>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5" name="Google Shape;435;p53"/>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436" name="Google Shape;436;p53"/>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7" name="Shape 437"/>
        <p:cNvGrpSpPr/>
        <p:nvPr/>
      </p:nvGrpSpPr>
      <p:grpSpPr>
        <a:xfrm>
          <a:off x="0" y="0"/>
          <a:ext cx="0" cy="0"/>
          <a:chOff x="0" y="0"/>
          <a:chExt cx="0" cy="0"/>
        </a:xfrm>
      </p:grpSpPr>
      <p:sp>
        <p:nvSpPr>
          <p:cNvPr id="438" name="Google Shape;438;p5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9" name="Google Shape;43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0" name="Shape 440"/>
        <p:cNvGrpSpPr/>
        <p:nvPr/>
      </p:nvGrpSpPr>
      <p:grpSpPr>
        <a:xfrm>
          <a:off x="0" y="0"/>
          <a:ext cx="0" cy="0"/>
          <a:chOff x="0" y="0"/>
          <a:chExt cx="0" cy="0"/>
        </a:xfrm>
      </p:grpSpPr>
      <p:sp>
        <p:nvSpPr>
          <p:cNvPr id="441" name="Google Shape;441;p55"/>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42" name="Google Shape;442;p55"/>
          <p:cNvSpPr/>
          <p:nvPr>
            <p:ph idx="2" type="pic"/>
          </p:nvPr>
        </p:nvSpPr>
        <p:spPr>
          <a:xfrm>
            <a:off x="4804825" y="1133300"/>
            <a:ext cx="4027500" cy="2392800"/>
          </a:xfrm>
          <a:prstGeom prst="rect">
            <a:avLst/>
          </a:prstGeom>
          <a:noFill/>
          <a:ln>
            <a:noFill/>
          </a:ln>
        </p:spPr>
      </p:sp>
      <p:sp>
        <p:nvSpPr>
          <p:cNvPr id="443" name="Google Shape;443;p55"/>
          <p:cNvSpPr/>
          <p:nvPr>
            <p:ph idx="3" type="pic"/>
          </p:nvPr>
        </p:nvSpPr>
        <p:spPr>
          <a:xfrm>
            <a:off x="311725" y="1133300"/>
            <a:ext cx="4027500" cy="2392800"/>
          </a:xfrm>
          <a:prstGeom prst="rect">
            <a:avLst/>
          </a:prstGeom>
          <a:noFill/>
          <a:ln>
            <a:noFill/>
          </a:ln>
        </p:spPr>
      </p:sp>
      <p:sp>
        <p:nvSpPr>
          <p:cNvPr id="444" name="Google Shape;444;p55"/>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45" name="Google Shape;445;p55"/>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6" name="Google Shape;446;p55"/>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47" name="Google Shape;447;p55"/>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8" name="Shape 448"/>
        <p:cNvGrpSpPr/>
        <p:nvPr/>
      </p:nvGrpSpPr>
      <p:grpSpPr>
        <a:xfrm>
          <a:off x="0" y="0"/>
          <a:ext cx="0" cy="0"/>
          <a:chOff x="0" y="0"/>
          <a:chExt cx="0" cy="0"/>
        </a:xfrm>
      </p:grpSpPr>
      <p:sp>
        <p:nvSpPr>
          <p:cNvPr id="449" name="Google Shape;449;p56"/>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0" name="Google Shape;450;p56"/>
          <p:cNvSpPr/>
          <p:nvPr>
            <p:ph idx="2" type="pic"/>
          </p:nvPr>
        </p:nvSpPr>
        <p:spPr>
          <a:xfrm>
            <a:off x="6205225" y="1128325"/>
            <a:ext cx="2627100" cy="2273100"/>
          </a:xfrm>
          <a:prstGeom prst="rect">
            <a:avLst/>
          </a:prstGeom>
          <a:noFill/>
          <a:ln>
            <a:noFill/>
          </a:ln>
        </p:spPr>
      </p:sp>
      <p:sp>
        <p:nvSpPr>
          <p:cNvPr id="451" name="Google Shape;451;p56"/>
          <p:cNvSpPr/>
          <p:nvPr>
            <p:ph idx="3" type="pic"/>
          </p:nvPr>
        </p:nvSpPr>
        <p:spPr>
          <a:xfrm>
            <a:off x="311725" y="1128325"/>
            <a:ext cx="2627100" cy="2273100"/>
          </a:xfrm>
          <a:prstGeom prst="rect">
            <a:avLst/>
          </a:prstGeom>
          <a:noFill/>
          <a:ln>
            <a:noFill/>
          </a:ln>
        </p:spPr>
      </p:sp>
      <p:sp>
        <p:nvSpPr>
          <p:cNvPr id="452" name="Google Shape;452;p56"/>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3" name="Google Shape;453;p56"/>
          <p:cNvSpPr/>
          <p:nvPr>
            <p:ph idx="5" type="pic"/>
          </p:nvPr>
        </p:nvSpPr>
        <p:spPr>
          <a:xfrm>
            <a:off x="3255250" y="1128325"/>
            <a:ext cx="2627100" cy="2273100"/>
          </a:xfrm>
          <a:prstGeom prst="rect">
            <a:avLst/>
          </a:prstGeom>
          <a:noFill/>
          <a:ln>
            <a:noFill/>
          </a:ln>
        </p:spPr>
      </p:sp>
      <p:sp>
        <p:nvSpPr>
          <p:cNvPr id="454" name="Google Shape;454;p56"/>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55" name="Google Shape;455;p56"/>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6" name="Google Shape;456;p56"/>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57" name="Google Shape;457;p56"/>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58" name="Google Shape;458;p56"/>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9" name="Shape 459"/>
        <p:cNvGrpSpPr/>
        <p:nvPr/>
      </p:nvGrpSpPr>
      <p:grpSpPr>
        <a:xfrm>
          <a:off x="0" y="0"/>
          <a:ext cx="0" cy="0"/>
          <a:chOff x="0" y="0"/>
          <a:chExt cx="0" cy="0"/>
        </a:xfrm>
      </p:grpSpPr>
      <p:sp>
        <p:nvSpPr>
          <p:cNvPr id="460" name="Google Shape;46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1" name="Shape 461"/>
        <p:cNvGrpSpPr/>
        <p:nvPr/>
      </p:nvGrpSpPr>
      <p:grpSpPr>
        <a:xfrm>
          <a:off x="0" y="0"/>
          <a:ext cx="0" cy="0"/>
          <a:chOff x="0" y="0"/>
          <a:chExt cx="0" cy="0"/>
        </a:xfrm>
      </p:grpSpPr>
      <p:sp>
        <p:nvSpPr>
          <p:cNvPr id="462" name="Google Shape;462;p58"/>
          <p:cNvSpPr/>
          <p:nvPr>
            <p:ph idx="2" type="pic"/>
          </p:nvPr>
        </p:nvSpPr>
        <p:spPr>
          <a:xfrm>
            <a:off x="3389600" y="118913"/>
            <a:ext cx="1643700" cy="1535100"/>
          </a:xfrm>
          <a:prstGeom prst="rect">
            <a:avLst/>
          </a:prstGeom>
          <a:noFill/>
          <a:ln>
            <a:noFill/>
          </a:ln>
        </p:spPr>
      </p:sp>
      <p:sp>
        <p:nvSpPr>
          <p:cNvPr id="463" name="Google Shape;463;p58"/>
          <p:cNvSpPr/>
          <p:nvPr>
            <p:ph idx="3" type="pic"/>
          </p:nvPr>
        </p:nvSpPr>
        <p:spPr>
          <a:xfrm>
            <a:off x="5195935" y="118913"/>
            <a:ext cx="1643700" cy="1535100"/>
          </a:xfrm>
          <a:prstGeom prst="rect">
            <a:avLst/>
          </a:prstGeom>
          <a:noFill/>
          <a:ln>
            <a:noFill/>
          </a:ln>
        </p:spPr>
      </p:sp>
      <p:sp>
        <p:nvSpPr>
          <p:cNvPr id="464" name="Google Shape;464;p58"/>
          <p:cNvSpPr/>
          <p:nvPr>
            <p:ph idx="4" type="pic"/>
          </p:nvPr>
        </p:nvSpPr>
        <p:spPr>
          <a:xfrm>
            <a:off x="7002270" y="118913"/>
            <a:ext cx="1643700" cy="1535100"/>
          </a:xfrm>
          <a:prstGeom prst="rect">
            <a:avLst/>
          </a:prstGeom>
          <a:noFill/>
          <a:ln>
            <a:noFill/>
          </a:ln>
        </p:spPr>
      </p:sp>
      <p:sp>
        <p:nvSpPr>
          <p:cNvPr id="465" name="Google Shape;465;p58"/>
          <p:cNvSpPr/>
          <p:nvPr>
            <p:ph idx="5" type="pic"/>
          </p:nvPr>
        </p:nvSpPr>
        <p:spPr>
          <a:xfrm>
            <a:off x="3389588" y="1804212"/>
            <a:ext cx="1643700" cy="1535100"/>
          </a:xfrm>
          <a:prstGeom prst="rect">
            <a:avLst/>
          </a:prstGeom>
          <a:noFill/>
          <a:ln>
            <a:noFill/>
          </a:ln>
        </p:spPr>
      </p:sp>
      <p:sp>
        <p:nvSpPr>
          <p:cNvPr id="466" name="Google Shape;466;p58"/>
          <p:cNvSpPr/>
          <p:nvPr>
            <p:ph idx="6" type="pic"/>
          </p:nvPr>
        </p:nvSpPr>
        <p:spPr>
          <a:xfrm>
            <a:off x="5195922" y="1804212"/>
            <a:ext cx="1643700" cy="1535100"/>
          </a:xfrm>
          <a:prstGeom prst="rect">
            <a:avLst/>
          </a:prstGeom>
          <a:noFill/>
          <a:ln>
            <a:noFill/>
          </a:ln>
        </p:spPr>
      </p:sp>
      <p:sp>
        <p:nvSpPr>
          <p:cNvPr id="467" name="Google Shape;467;p58"/>
          <p:cNvSpPr/>
          <p:nvPr>
            <p:ph idx="7" type="pic"/>
          </p:nvPr>
        </p:nvSpPr>
        <p:spPr>
          <a:xfrm>
            <a:off x="7002257" y="1804212"/>
            <a:ext cx="1643700" cy="1535100"/>
          </a:xfrm>
          <a:prstGeom prst="rect">
            <a:avLst/>
          </a:prstGeom>
          <a:noFill/>
          <a:ln>
            <a:noFill/>
          </a:ln>
        </p:spPr>
      </p:sp>
      <p:sp>
        <p:nvSpPr>
          <p:cNvPr id="468" name="Google Shape;468;p58"/>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9" name="Google Shape;469;p58"/>
          <p:cNvSpPr/>
          <p:nvPr>
            <p:ph idx="8" type="pic"/>
          </p:nvPr>
        </p:nvSpPr>
        <p:spPr>
          <a:xfrm>
            <a:off x="3389588" y="3489487"/>
            <a:ext cx="1643700" cy="1535100"/>
          </a:xfrm>
          <a:prstGeom prst="rect">
            <a:avLst/>
          </a:prstGeom>
          <a:noFill/>
          <a:ln>
            <a:noFill/>
          </a:ln>
        </p:spPr>
      </p:sp>
      <p:sp>
        <p:nvSpPr>
          <p:cNvPr id="470" name="Google Shape;470;p58"/>
          <p:cNvSpPr/>
          <p:nvPr>
            <p:ph idx="9" type="pic"/>
          </p:nvPr>
        </p:nvSpPr>
        <p:spPr>
          <a:xfrm>
            <a:off x="5195922" y="3489487"/>
            <a:ext cx="1643700" cy="1535100"/>
          </a:xfrm>
          <a:prstGeom prst="rect">
            <a:avLst/>
          </a:prstGeom>
          <a:noFill/>
          <a:ln>
            <a:noFill/>
          </a:ln>
        </p:spPr>
      </p:sp>
      <p:sp>
        <p:nvSpPr>
          <p:cNvPr id="471" name="Google Shape;47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2.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52" name="Google Shape;52;p13"/>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9"/>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Project Phase 1</a:t>
            </a:r>
            <a:endParaRPr/>
          </a:p>
          <a:p>
            <a:pPr indent="0" lvl="0" marL="0" rtl="0" algn="l">
              <a:spcBef>
                <a:spcPts val="0"/>
              </a:spcBef>
              <a:spcAft>
                <a:spcPts val="0"/>
              </a:spcAft>
              <a:buSzPts val="1100"/>
              <a:buNone/>
            </a:pPr>
            <a:r>
              <a:t/>
            </a:r>
            <a:endParaRPr/>
          </a:p>
        </p:txBody>
      </p:sp>
      <p:sp>
        <p:nvSpPr>
          <p:cNvPr id="477" name="Google Shape;477;p59"/>
          <p:cNvSpPr txBox="1"/>
          <p:nvPr>
            <p:ph type="title"/>
          </p:nvPr>
        </p:nvSpPr>
        <p:spPr>
          <a:xfrm>
            <a:off x="876900" y="874250"/>
            <a:ext cx="52131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6600"/>
              <a:t>Optimus Prime Consulting</a:t>
            </a:r>
            <a:endParaRPr sz="6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descr="Shape where the section titles go" id="482" name="Google Shape;482;p60"/>
          <p:cNvSpPr/>
          <p:nvPr/>
        </p:nvSpPr>
        <p:spPr>
          <a:xfrm flipH="1">
            <a:off x="3144900" y="3437851"/>
            <a:ext cx="5999100" cy="862800"/>
          </a:xfrm>
          <a:prstGeom prst="snip1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483" name="Google Shape;483;p60"/>
          <p:cNvSpPr/>
          <p:nvPr/>
        </p:nvSpPr>
        <p:spPr>
          <a:xfrm flipH="1">
            <a:off x="3144900" y="2581602"/>
            <a:ext cx="5999100" cy="862800"/>
          </a:xfrm>
          <a:prstGeom prst="snip1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484" name="Google Shape;484;p60"/>
          <p:cNvSpPr/>
          <p:nvPr/>
        </p:nvSpPr>
        <p:spPr>
          <a:xfrm flipH="1">
            <a:off x="3144900" y="1718827"/>
            <a:ext cx="5999100" cy="8628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485" name="Google Shape;485;p60"/>
          <p:cNvSpPr/>
          <p:nvPr/>
        </p:nvSpPr>
        <p:spPr>
          <a:xfrm flipH="1">
            <a:off x="3144900" y="856153"/>
            <a:ext cx="5999100" cy="862800"/>
          </a:xfrm>
          <a:prstGeom prst="snip1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486" name="Google Shape;486;p60"/>
          <p:cNvSpPr/>
          <p:nvPr/>
        </p:nvSpPr>
        <p:spPr>
          <a:xfrm flipH="1">
            <a:off x="3144899" y="-200"/>
            <a:ext cx="5999100" cy="862800"/>
          </a:xfrm>
          <a:prstGeom prst="snip1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hape where the section titles go" id="487" name="Google Shape;487;p60"/>
          <p:cNvSpPr/>
          <p:nvPr/>
        </p:nvSpPr>
        <p:spPr>
          <a:xfrm flipH="1">
            <a:off x="3144900" y="4300651"/>
            <a:ext cx="5999100" cy="8628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Quantico"/>
              <a:ea typeface="Quantico"/>
              <a:cs typeface="Quantico"/>
              <a:sym typeface="Quantico"/>
            </a:endParaRPr>
          </a:p>
        </p:txBody>
      </p:sp>
      <p:sp>
        <p:nvSpPr>
          <p:cNvPr descr="Spaces to add section titles" id="488" name="Google Shape;488;p60"/>
          <p:cNvSpPr txBox="1"/>
          <p:nvPr>
            <p:ph idx="1" type="subTitle"/>
          </p:nvPr>
        </p:nvSpPr>
        <p:spPr>
          <a:xfrm>
            <a:off x="411875" y="285750"/>
            <a:ext cx="2156700" cy="4527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1000"/>
              <a:buNone/>
            </a:pPr>
            <a:r>
              <a:rPr lang="en" sz="3000"/>
              <a:t>Agenda</a:t>
            </a:r>
            <a:endParaRPr sz="3000"/>
          </a:p>
        </p:txBody>
      </p:sp>
      <p:sp>
        <p:nvSpPr>
          <p:cNvPr descr="Spaces to add section titles" id="489" name="Google Shape;489;p60"/>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Problem Overview  </a:t>
            </a:r>
            <a:r>
              <a:rPr lang="en" sz="1200">
                <a:latin typeface="Quantico"/>
                <a:ea typeface="Quantico"/>
                <a:cs typeface="Quantico"/>
                <a:sym typeface="Quantico"/>
              </a:rPr>
              <a:t>(01)</a:t>
            </a:r>
            <a:r>
              <a:rPr lang="en"/>
              <a:t> </a:t>
            </a:r>
            <a:endParaRPr/>
          </a:p>
        </p:txBody>
      </p:sp>
      <p:sp>
        <p:nvSpPr>
          <p:cNvPr descr="Spaces to add section titles" id="490" name="Google Shape;490;p60"/>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Impact on Production </a:t>
            </a:r>
            <a:r>
              <a:rPr lang="en" sz="1200">
                <a:latin typeface="Quantico"/>
                <a:ea typeface="Quantico"/>
                <a:cs typeface="Quantico"/>
                <a:sym typeface="Quantico"/>
              </a:rPr>
              <a:t>(02)</a:t>
            </a:r>
            <a:r>
              <a:rPr lang="en"/>
              <a:t> </a:t>
            </a:r>
            <a:endParaRPr/>
          </a:p>
        </p:txBody>
      </p:sp>
      <p:sp>
        <p:nvSpPr>
          <p:cNvPr descr="Spaces to add section titles" id="491" name="Google Shape;491;p60"/>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Methodology and Key Assumptions  </a:t>
            </a:r>
            <a:r>
              <a:rPr lang="en" sz="1200">
                <a:latin typeface="Quantico"/>
                <a:ea typeface="Quantico"/>
                <a:cs typeface="Quantico"/>
                <a:sym typeface="Quantico"/>
              </a:rPr>
              <a:t>(03)</a:t>
            </a:r>
            <a:r>
              <a:rPr lang="en"/>
              <a:t> </a:t>
            </a:r>
            <a:endParaRPr/>
          </a:p>
        </p:txBody>
      </p:sp>
      <p:sp>
        <p:nvSpPr>
          <p:cNvPr descr="Spaces to add section titles" id="492" name="Google Shape;492;p60"/>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p>
            <a:pPr indent="0" lvl="0" marL="0" rtl="0" algn="l">
              <a:lnSpc>
                <a:spcPct val="80000"/>
              </a:lnSpc>
              <a:spcBef>
                <a:spcPts val="0"/>
              </a:spcBef>
              <a:spcAft>
                <a:spcPts val="0"/>
              </a:spcAft>
              <a:buSzPts val="1000"/>
              <a:buNone/>
            </a:pPr>
            <a:r>
              <a:rPr lang="en"/>
              <a:t>Recommended Solution  with  Financial Impact </a:t>
            </a:r>
            <a:r>
              <a:rPr lang="en" sz="1200">
                <a:latin typeface="Quantico"/>
                <a:ea typeface="Quantico"/>
                <a:cs typeface="Quantico"/>
                <a:sym typeface="Quantico"/>
              </a:rPr>
              <a:t>(04)</a:t>
            </a:r>
            <a:r>
              <a:rPr lang="en"/>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1"/>
          <p:cNvSpPr txBox="1"/>
          <p:nvPr>
            <p:ph idx="1" type="subTitle"/>
          </p:nvPr>
        </p:nvSpPr>
        <p:spPr>
          <a:xfrm>
            <a:off x="331475" y="392775"/>
            <a:ext cx="3429300" cy="8169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sz="3000">
                <a:solidFill>
                  <a:schemeClr val="accent4"/>
                </a:solidFill>
                <a:highlight>
                  <a:schemeClr val="lt1"/>
                </a:highlight>
              </a:rPr>
              <a:t>Problem Overview</a:t>
            </a:r>
            <a:endParaRPr sz="3000">
              <a:solidFill>
                <a:schemeClr val="accent4"/>
              </a:solidFill>
              <a:highlight>
                <a:schemeClr val="lt1"/>
              </a:highlight>
            </a:endParaRPr>
          </a:p>
        </p:txBody>
      </p:sp>
      <p:sp>
        <p:nvSpPr>
          <p:cNvPr id="498" name="Google Shape;498;p61"/>
          <p:cNvSpPr txBox="1"/>
          <p:nvPr>
            <p:ph idx="2" type="subTitle"/>
          </p:nvPr>
        </p:nvSpPr>
        <p:spPr>
          <a:xfrm>
            <a:off x="209871" y="1662375"/>
            <a:ext cx="3967500" cy="452700"/>
          </a:xfrm>
          <a:prstGeom prst="rect">
            <a:avLst/>
          </a:prstGeom>
        </p:spPr>
        <p:txBody>
          <a:bodyPr anchorCtr="0" anchor="ctr" bIns="0" lIns="0" spcFirstLastPara="1" rIns="91425" wrap="square" tIns="0">
            <a:noAutofit/>
          </a:bodyPr>
          <a:lstStyle/>
          <a:p>
            <a:pPr indent="-292100" lvl="0" marL="457200" rtl="0" algn="l">
              <a:spcBef>
                <a:spcPts val="0"/>
              </a:spcBef>
              <a:spcAft>
                <a:spcPts val="0"/>
              </a:spcAft>
              <a:buSzPts val="1000"/>
              <a:buChar char="-"/>
            </a:pPr>
            <a:r>
              <a:rPr lang="en"/>
              <a:t>October 3rd Flood: In Taiwan, which severely impacted the Kaohsiung facility</a:t>
            </a:r>
            <a:endParaRPr/>
          </a:p>
        </p:txBody>
      </p:sp>
      <p:sp>
        <p:nvSpPr>
          <p:cNvPr id="499" name="Google Shape;499;p61"/>
          <p:cNvSpPr txBox="1"/>
          <p:nvPr>
            <p:ph idx="3" type="subTitle"/>
          </p:nvPr>
        </p:nvSpPr>
        <p:spPr>
          <a:xfrm>
            <a:off x="209871" y="2896395"/>
            <a:ext cx="3967500" cy="452700"/>
          </a:xfrm>
          <a:prstGeom prst="rect">
            <a:avLst/>
          </a:prstGeom>
        </p:spPr>
        <p:txBody>
          <a:bodyPr anchorCtr="0" anchor="ctr" bIns="0" lIns="0" spcFirstLastPara="1" rIns="91425" wrap="square" tIns="0">
            <a:noAutofit/>
          </a:bodyPr>
          <a:lstStyle/>
          <a:p>
            <a:pPr indent="-292100" lvl="0" marL="457200" rtl="0" algn="l">
              <a:spcBef>
                <a:spcPts val="0"/>
              </a:spcBef>
              <a:spcAft>
                <a:spcPts val="0"/>
              </a:spcAft>
              <a:buSzPts val="1000"/>
              <a:buChar char="-"/>
            </a:pPr>
            <a:r>
              <a:rPr lang="en"/>
              <a:t>The Kaohsiung facility produces 40% of our global output → Now operates at 35% capacity</a:t>
            </a:r>
            <a:endParaRPr/>
          </a:p>
        </p:txBody>
      </p:sp>
      <p:sp>
        <p:nvSpPr>
          <p:cNvPr id="500" name="Google Shape;500;p61"/>
          <p:cNvSpPr txBox="1"/>
          <p:nvPr>
            <p:ph idx="4" type="subTitle"/>
          </p:nvPr>
        </p:nvSpPr>
        <p:spPr>
          <a:xfrm>
            <a:off x="209871" y="4028078"/>
            <a:ext cx="3967500" cy="452700"/>
          </a:xfrm>
          <a:prstGeom prst="rect">
            <a:avLst/>
          </a:prstGeom>
        </p:spPr>
        <p:txBody>
          <a:bodyPr anchorCtr="0" anchor="ctr" bIns="0" lIns="0" spcFirstLastPara="1" rIns="91425" wrap="square" tIns="0">
            <a:noAutofit/>
          </a:bodyPr>
          <a:lstStyle/>
          <a:p>
            <a:pPr indent="-292100" lvl="0" marL="457200" rtl="0" algn="l">
              <a:spcBef>
                <a:spcPts val="0"/>
              </a:spcBef>
              <a:spcAft>
                <a:spcPts val="0"/>
              </a:spcAft>
              <a:buSzPts val="1000"/>
              <a:buChar char="-"/>
            </a:pPr>
            <a:r>
              <a:rPr lang="en"/>
              <a:t>Chennai, and Guadalajara facilities remain fully operational</a:t>
            </a:r>
            <a:endParaRPr/>
          </a:p>
        </p:txBody>
      </p:sp>
      <p:sp>
        <p:nvSpPr>
          <p:cNvPr id="501" name="Google Shape;501;p61"/>
          <p:cNvSpPr txBox="1"/>
          <p:nvPr>
            <p:ph idx="5" type="subTitle"/>
          </p:nvPr>
        </p:nvSpPr>
        <p:spPr>
          <a:xfrm>
            <a:off x="3836013" y="392776"/>
            <a:ext cx="5659800" cy="452700"/>
          </a:xfrm>
          <a:prstGeom prst="rect">
            <a:avLst/>
          </a:prstGeom>
        </p:spPr>
        <p:txBody>
          <a:bodyPr anchorCtr="0" anchor="ctr" bIns="0" lIns="0" spcFirstLastPara="1" rIns="91425" wrap="square" tIns="0">
            <a:noAutofit/>
          </a:bodyPr>
          <a:lstStyle/>
          <a:p>
            <a:pPr indent="-292100" lvl="0" marL="457200" rtl="0" algn="l">
              <a:spcBef>
                <a:spcPts val="0"/>
              </a:spcBef>
              <a:spcAft>
                <a:spcPts val="0"/>
              </a:spcAft>
              <a:buClr>
                <a:srgbClr val="F6B26B"/>
              </a:buClr>
              <a:buSzPts val="1000"/>
              <a:buChar char="-"/>
            </a:pPr>
            <a:r>
              <a:rPr lang="en">
                <a:solidFill>
                  <a:srgbClr val="FF9900"/>
                </a:solidFill>
              </a:rPr>
              <a:t>Two Critical Delivery Windows:</a:t>
            </a:r>
            <a:endParaRPr>
              <a:solidFill>
                <a:srgbClr val="FF9900"/>
              </a:solidFill>
            </a:endParaRPr>
          </a:p>
        </p:txBody>
      </p:sp>
      <p:sp>
        <p:nvSpPr>
          <p:cNvPr id="502" name="Google Shape;502;p61"/>
          <p:cNvSpPr txBox="1"/>
          <p:nvPr>
            <p:ph idx="6" type="subTitle"/>
          </p:nvPr>
        </p:nvSpPr>
        <p:spPr>
          <a:xfrm>
            <a:off x="3836013" y="1027564"/>
            <a:ext cx="5659800" cy="452700"/>
          </a:xfrm>
          <a:prstGeom prst="rect">
            <a:avLst/>
          </a:prstGeom>
        </p:spPr>
        <p:txBody>
          <a:bodyPr anchorCtr="0" anchor="ctr" bIns="0" lIns="0" spcFirstLastPara="1" rIns="91425" wrap="square" tIns="0">
            <a:noAutofit/>
          </a:bodyPr>
          <a:lstStyle/>
          <a:p>
            <a:pPr indent="-292100" lvl="0" marL="914400" rtl="0" algn="l">
              <a:spcBef>
                <a:spcPts val="0"/>
              </a:spcBef>
              <a:spcAft>
                <a:spcPts val="0"/>
              </a:spcAft>
              <a:buClr>
                <a:srgbClr val="BEDEFF"/>
              </a:buClr>
              <a:buSzPts val="1000"/>
              <a:buChar char="-"/>
            </a:pPr>
            <a:r>
              <a:rPr lang="en">
                <a:solidFill>
                  <a:srgbClr val="BEDEFF"/>
                </a:solidFill>
              </a:rPr>
              <a:t>Week 45, November 10, 2025</a:t>
            </a:r>
            <a:endParaRPr>
              <a:solidFill>
                <a:srgbClr val="BEDEFF"/>
              </a:solidFill>
            </a:endParaRPr>
          </a:p>
          <a:p>
            <a:pPr indent="-292100" lvl="0" marL="914400" rtl="0" algn="l">
              <a:spcBef>
                <a:spcPts val="0"/>
              </a:spcBef>
              <a:spcAft>
                <a:spcPts val="0"/>
              </a:spcAft>
              <a:buClr>
                <a:srgbClr val="BEDEFF"/>
              </a:buClr>
              <a:buSzPts val="1000"/>
              <a:buChar char="-"/>
            </a:pPr>
            <a:r>
              <a:rPr lang="en">
                <a:solidFill>
                  <a:srgbClr val="BEDEFF"/>
                </a:solidFill>
              </a:rPr>
              <a:t>Week 46, November 17, 2025</a:t>
            </a:r>
            <a:endParaRPr>
              <a:solidFill>
                <a:srgbClr val="BEDEFF"/>
              </a:solidFill>
            </a:endParaRPr>
          </a:p>
        </p:txBody>
      </p:sp>
      <p:sp>
        <p:nvSpPr>
          <p:cNvPr id="503" name="Google Shape;503;p61"/>
          <p:cNvSpPr txBox="1"/>
          <p:nvPr>
            <p:ph idx="7" type="subTitle"/>
          </p:nvPr>
        </p:nvSpPr>
        <p:spPr>
          <a:xfrm>
            <a:off x="3836028" y="3166800"/>
            <a:ext cx="4637400" cy="452700"/>
          </a:xfrm>
          <a:prstGeom prst="rect">
            <a:avLst/>
          </a:prstGeom>
        </p:spPr>
        <p:txBody>
          <a:bodyPr anchorCtr="0" anchor="ctr" bIns="0" lIns="0" spcFirstLastPara="1" rIns="91425" wrap="square" tIns="0">
            <a:noAutofit/>
          </a:bodyPr>
          <a:lstStyle/>
          <a:p>
            <a:pPr indent="-292100" lvl="0" marL="457200" rtl="0" algn="l">
              <a:spcBef>
                <a:spcPts val="0"/>
              </a:spcBef>
              <a:spcAft>
                <a:spcPts val="0"/>
              </a:spcAft>
              <a:buClr>
                <a:srgbClr val="FF9900"/>
              </a:buClr>
              <a:buSzPts val="1000"/>
              <a:buChar char="-"/>
            </a:pPr>
            <a:r>
              <a:rPr lang="en">
                <a:solidFill>
                  <a:srgbClr val="FF9900"/>
                </a:solidFill>
              </a:rPr>
              <a:t>Key Problem:</a:t>
            </a:r>
            <a:endParaRPr>
              <a:solidFill>
                <a:srgbClr val="FF9900"/>
              </a:solidFill>
            </a:endParaRPr>
          </a:p>
          <a:p>
            <a:pPr indent="0" lvl="0" marL="457200" rtl="0" algn="l">
              <a:spcBef>
                <a:spcPts val="0"/>
              </a:spcBef>
              <a:spcAft>
                <a:spcPts val="0"/>
              </a:spcAft>
              <a:buNone/>
            </a:pPr>
            <a:r>
              <a:t/>
            </a:r>
            <a:endParaRPr sz="1000">
              <a:solidFill>
                <a:srgbClr val="BEDEFF"/>
              </a:solidFill>
            </a:endParaRPr>
          </a:p>
          <a:p>
            <a:pPr indent="-292100" lvl="1" marL="914400" rtl="0" algn="l">
              <a:spcBef>
                <a:spcPts val="0"/>
              </a:spcBef>
              <a:spcAft>
                <a:spcPts val="0"/>
              </a:spcAft>
              <a:buClr>
                <a:srgbClr val="BEDEFF"/>
              </a:buClr>
              <a:buSzPts val="1000"/>
              <a:buChar char="-"/>
            </a:pPr>
            <a:r>
              <a:rPr lang="en">
                <a:solidFill>
                  <a:srgbClr val="BEDEFF"/>
                </a:solidFill>
              </a:rPr>
              <a:t>Need to reallocate production across the 3 facilities to fulfill both delivery weeks on time </a:t>
            </a:r>
            <a:endParaRPr>
              <a:solidFill>
                <a:srgbClr val="BEDEFF"/>
              </a:solidFill>
            </a:endParaRPr>
          </a:p>
          <a:p>
            <a:pPr indent="0" lvl="0" marL="914400" rtl="0" algn="l">
              <a:spcBef>
                <a:spcPts val="0"/>
              </a:spcBef>
              <a:spcAft>
                <a:spcPts val="0"/>
              </a:spcAft>
              <a:buNone/>
            </a:pPr>
            <a:r>
              <a:t/>
            </a:r>
            <a:endParaRPr>
              <a:solidFill>
                <a:srgbClr val="BEDEFF"/>
              </a:solidFill>
            </a:endParaRPr>
          </a:p>
          <a:p>
            <a:pPr indent="-292100" lvl="1" marL="914400" rtl="0" algn="l">
              <a:spcBef>
                <a:spcPts val="0"/>
              </a:spcBef>
              <a:spcAft>
                <a:spcPts val="0"/>
              </a:spcAft>
              <a:buClr>
                <a:srgbClr val="BEDEFF"/>
              </a:buClr>
              <a:buSzPts val="1000"/>
              <a:buChar char="-"/>
            </a:pPr>
            <a:r>
              <a:rPr lang="en">
                <a:solidFill>
                  <a:srgbClr val="BEDEFF"/>
                </a:solidFill>
              </a:rPr>
              <a:t>Within a $15 million emergency budget</a:t>
            </a:r>
            <a:endParaRPr>
              <a:solidFill>
                <a:srgbClr val="BEDEFF"/>
              </a:solidFill>
            </a:endParaRPr>
          </a:p>
          <a:p>
            <a:pPr indent="0" lvl="0" marL="457200" rtl="0" algn="l">
              <a:spcBef>
                <a:spcPts val="0"/>
              </a:spcBef>
              <a:spcAft>
                <a:spcPts val="0"/>
              </a:spcAft>
              <a:buNone/>
            </a:pPr>
            <a:r>
              <a:t/>
            </a:r>
            <a:endParaRPr>
              <a:solidFill>
                <a:srgbClr val="BEDEFF"/>
              </a:solidFill>
            </a:endParaRPr>
          </a:p>
          <a:p>
            <a:pPr indent="-292100" lvl="1" marL="914400" rtl="0" algn="l">
              <a:spcBef>
                <a:spcPts val="0"/>
              </a:spcBef>
              <a:spcAft>
                <a:spcPts val="0"/>
              </a:spcAft>
              <a:buClr>
                <a:srgbClr val="BEDEFF"/>
              </a:buClr>
              <a:buSzPts val="1000"/>
              <a:buChar char="-"/>
            </a:pPr>
            <a:r>
              <a:rPr lang="en">
                <a:solidFill>
                  <a:srgbClr val="BEDEFF"/>
                </a:solidFill>
              </a:rPr>
              <a:t>Need to minimizing total cost</a:t>
            </a:r>
            <a:endParaRPr>
              <a:solidFill>
                <a:srgbClr val="BEDE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2"/>
          <p:cNvSpPr txBox="1"/>
          <p:nvPr>
            <p:ph idx="1" type="subTitle"/>
          </p:nvPr>
        </p:nvSpPr>
        <p:spPr>
          <a:xfrm>
            <a:off x="411875" y="389750"/>
            <a:ext cx="4962000" cy="8169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sz="3000">
                <a:solidFill>
                  <a:schemeClr val="accent4"/>
                </a:solidFill>
                <a:highlight>
                  <a:schemeClr val="lt1"/>
                </a:highlight>
              </a:rPr>
              <a:t>Impact on Production</a:t>
            </a:r>
            <a:endParaRPr sz="3000">
              <a:solidFill>
                <a:schemeClr val="accent4"/>
              </a:solidFill>
              <a:highlight>
                <a:schemeClr val="lt1"/>
              </a:highlight>
            </a:endParaRPr>
          </a:p>
        </p:txBody>
      </p:sp>
      <p:graphicFrame>
        <p:nvGraphicFramePr>
          <p:cNvPr id="509" name="Google Shape;509;p62"/>
          <p:cNvGraphicFramePr/>
          <p:nvPr/>
        </p:nvGraphicFramePr>
        <p:xfrm>
          <a:off x="952500" y="873575"/>
          <a:ext cx="3000000" cy="3000000"/>
        </p:xfrm>
        <a:graphic>
          <a:graphicData uri="http://schemas.openxmlformats.org/drawingml/2006/table">
            <a:tbl>
              <a:tblPr>
                <a:noFill/>
                <a:tableStyleId>{240B409B-9F6A-4205-9B8C-546D759218A4}</a:tableStyleId>
              </a:tblPr>
              <a:tblGrid>
                <a:gridCol w="1809750"/>
                <a:gridCol w="1809750"/>
                <a:gridCol w="1809750"/>
                <a:gridCol w="1809750"/>
              </a:tblGrid>
              <a:tr h="381000">
                <a:tc>
                  <a:txBody>
                    <a:bodyPr/>
                    <a:lstStyle/>
                    <a:p>
                      <a:pPr indent="0" lvl="0" marL="0" rtl="0" algn="ctr">
                        <a:spcBef>
                          <a:spcPts val="0"/>
                        </a:spcBef>
                        <a:spcAft>
                          <a:spcPts val="0"/>
                        </a:spcAft>
                        <a:buNone/>
                      </a:pPr>
                      <a:r>
                        <a:rPr b="1" lang="en" sz="1000">
                          <a:solidFill>
                            <a:srgbClr val="BEDEFF"/>
                          </a:solidFill>
                        </a:rPr>
                        <a:t>Facility</a:t>
                      </a:r>
                      <a:endParaRPr b="1" sz="1000">
                        <a:solidFill>
                          <a:srgbClr val="BEDEFF"/>
                        </a:solidFill>
                      </a:endParaRPr>
                    </a:p>
                  </a:txBody>
                  <a:tcPr marT="91425" marB="91425" marR="91425" marL="91425"/>
                </a:tc>
                <a:tc>
                  <a:txBody>
                    <a:bodyPr/>
                    <a:lstStyle/>
                    <a:p>
                      <a:pPr indent="0" lvl="0" marL="0" rtl="0" algn="ctr">
                        <a:spcBef>
                          <a:spcPts val="0"/>
                        </a:spcBef>
                        <a:spcAft>
                          <a:spcPts val="0"/>
                        </a:spcAft>
                        <a:buNone/>
                      </a:pPr>
                      <a:r>
                        <a:rPr b="1" lang="en" sz="1000">
                          <a:solidFill>
                            <a:srgbClr val="BEDEFF"/>
                          </a:solidFill>
                        </a:rPr>
                        <a:t>Normal Capacity After the Flooding</a:t>
                      </a:r>
                      <a:endParaRPr b="1" sz="1000">
                        <a:solidFill>
                          <a:srgbClr val="BEDEFF"/>
                        </a:solidFill>
                      </a:endParaRPr>
                    </a:p>
                  </a:txBody>
                  <a:tcPr marT="91425" marB="91425" marR="91425" marL="91425"/>
                </a:tc>
                <a:tc>
                  <a:txBody>
                    <a:bodyPr/>
                    <a:lstStyle/>
                    <a:p>
                      <a:pPr indent="0" lvl="0" marL="0" rtl="0" algn="ctr">
                        <a:spcBef>
                          <a:spcPts val="0"/>
                        </a:spcBef>
                        <a:spcAft>
                          <a:spcPts val="0"/>
                        </a:spcAft>
                        <a:buNone/>
                      </a:pPr>
                      <a:r>
                        <a:rPr b="1" lang="en" sz="1000">
                          <a:solidFill>
                            <a:srgbClr val="BEDEFF"/>
                          </a:solidFill>
                        </a:rPr>
                        <a:t>Max Capacity With Overtime</a:t>
                      </a:r>
                      <a:endParaRPr b="1" sz="1000">
                        <a:solidFill>
                          <a:srgbClr val="BEDEFF"/>
                        </a:solidFill>
                      </a:endParaRPr>
                    </a:p>
                  </a:txBody>
                  <a:tcPr marT="91425" marB="91425" marR="91425" marL="91425"/>
                </a:tc>
                <a:tc>
                  <a:txBody>
                    <a:bodyPr/>
                    <a:lstStyle/>
                    <a:p>
                      <a:pPr indent="0" lvl="0" marL="0" rtl="0" algn="ctr">
                        <a:spcBef>
                          <a:spcPts val="0"/>
                        </a:spcBef>
                        <a:spcAft>
                          <a:spcPts val="0"/>
                        </a:spcAft>
                        <a:buNone/>
                      </a:pPr>
                      <a:r>
                        <a:rPr b="1" lang="en" sz="1000">
                          <a:solidFill>
                            <a:srgbClr val="BEDEFF"/>
                          </a:solidFill>
                        </a:rPr>
                        <a:t>Current Status</a:t>
                      </a:r>
                      <a:endParaRPr b="1" sz="1000">
                        <a:solidFill>
                          <a:srgbClr val="BEDEFF"/>
                        </a:solidFill>
                      </a:endParaRPr>
                    </a:p>
                  </a:txBody>
                  <a:tcPr marT="91425" marB="91425" marR="91425" marL="91425"/>
                </a:tc>
              </a:tr>
              <a:tr h="381000">
                <a:tc>
                  <a:txBody>
                    <a:bodyPr/>
                    <a:lstStyle/>
                    <a:p>
                      <a:pPr indent="0" lvl="0" marL="0" rtl="0" algn="l">
                        <a:spcBef>
                          <a:spcPts val="0"/>
                        </a:spcBef>
                        <a:spcAft>
                          <a:spcPts val="0"/>
                        </a:spcAft>
                        <a:buNone/>
                      </a:pPr>
                      <a:r>
                        <a:rPr lang="en" sz="1000">
                          <a:solidFill>
                            <a:srgbClr val="BEDEFF"/>
                          </a:solidFill>
                        </a:rPr>
                        <a:t>Kaohsiung, Taiwan</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52,500 units</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65,625 units</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Operating at 35% capacity due to the flood</a:t>
                      </a:r>
                      <a:endParaRPr sz="1000">
                        <a:solidFill>
                          <a:srgbClr val="BEDEFF"/>
                        </a:solidFill>
                      </a:endParaRPr>
                    </a:p>
                  </a:txBody>
                  <a:tcPr marT="91425" marB="91425" marR="91425" marL="91425"/>
                </a:tc>
              </a:tr>
              <a:tr h="381000">
                <a:tc>
                  <a:txBody>
                    <a:bodyPr/>
                    <a:lstStyle/>
                    <a:p>
                      <a:pPr indent="0" lvl="0" marL="0" rtl="0" algn="l">
                        <a:spcBef>
                          <a:spcPts val="0"/>
                        </a:spcBef>
                        <a:spcAft>
                          <a:spcPts val="0"/>
                        </a:spcAft>
                        <a:buNone/>
                      </a:pPr>
                      <a:r>
                        <a:rPr lang="en" sz="1000">
                          <a:solidFill>
                            <a:srgbClr val="BEDEFF"/>
                          </a:solidFill>
                        </a:rPr>
                        <a:t>Chennai, India</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80,000 units</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100,000 units</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Fully </a:t>
                      </a:r>
                      <a:r>
                        <a:rPr lang="en" sz="1000">
                          <a:solidFill>
                            <a:srgbClr val="BEDEFF"/>
                          </a:solidFill>
                        </a:rPr>
                        <a:t>O</a:t>
                      </a:r>
                      <a:r>
                        <a:rPr lang="en" sz="1000">
                          <a:solidFill>
                            <a:srgbClr val="BEDEFF"/>
                          </a:solidFill>
                        </a:rPr>
                        <a:t>perational</a:t>
                      </a:r>
                      <a:endParaRPr sz="1000">
                        <a:solidFill>
                          <a:srgbClr val="BEDEFF"/>
                        </a:solidFill>
                      </a:endParaRPr>
                    </a:p>
                  </a:txBody>
                  <a:tcPr marT="91425" marB="91425" marR="91425" marL="91425"/>
                </a:tc>
              </a:tr>
              <a:tr h="381000">
                <a:tc>
                  <a:txBody>
                    <a:bodyPr/>
                    <a:lstStyle/>
                    <a:p>
                      <a:pPr indent="0" lvl="0" marL="0" rtl="0" algn="l">
                        <a:spcBef>
                          <a:spcPts val="0"/>
                        </a:spcBef>
                        <a:spcAft>
                          <a:spcPts val="0"/>
                        </a:spcAft>
                        <a:buNone/>
                      </a:pPr>
                      <a:r>
                        <a:rPr lang="en" sz="1000">
                          <a:solidFill>
                            <a:srgbClr val="BEDEFF"/>
                          </a:solidFill>
                        </a:rPr>
                        <a:t>Guadalajara</a:t>
                      </a:r>
                      <a:r>
                        <a:rPr lang="en" sz="1000">
                          <a:solidFill>
                            <a:srgbClr val="BEDEFF"/>
                          </a:solidFill>
                        </a:rPr>
                        <a:t>, Mexico</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40,000 units</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50,000 units</a:t>
                      </a:r>
                      <a:endParaRPr sz="1000">
                        <a:solidFill>
                          <a:srgbClr val="BEDEFF"/>
                        </a:solidFill>
                      </a:endParaRPr>
                    </a:p>
                  </a:txBody>
                  <a:tcPr marT="91425" marB="91425" marR="91425" marL="91425"/>
                </a:tc>
                <a:tc>
                  <a:txBody>
                    <a:bodyPr/>
                    <a:lstStyle/>
                    <a:p>
                      <a:pPr indent="0" lvl="0" marL="0" rtl="0" algn="l">
                        <a:spcBef>
                          <a:spcPts val="0"/>
                        </a:spcBef>
                        <a:spcAft>
                          <a:spcPts val="0"/>
                        </a:spcAft>
                        <a:buNone/>
                      </a:pPr>
                      <a:r>
                        <a:rPr lang="en" sz="1000">
                          <a:solidFill>
                            <a:srgbClr val="BEDEFF"/>
                          </a:solidFill>
                        </a:rPr>
                        <a:t>Fully Operational</a:t>
                      </a:r>
                      <a:endParaRPr sz="1000">
                        <a:solidFill>
                          <a:srgbClr val="BEDEFF"/>
                        </a:solidFill>
                      </a:endParaRPr>
                    </a:p>
                  </a:txBody>
                  <a:tcPr marT="91425" marB="91425" marR="91425" marL="91425"/>
                </a:tc>
              </a:tr>
            </a:tbl>
          </a:graphicData>
        </a:graphic>
      </p:graphicFrame>
      <p:pic>
        <p:nvPicPr>
          <p:cNvPr id="510" name="Google Shape;510;p62"/>
          <p:cNvPicPr preferRelativeResize="0"/>
          <p:nvPr/>
        </p:nvPicPr>
        <p:blipFill>
          <a:blip r:embed="rId3">
            <a:alphaModFix/>
          </a:blip>
          <a:stretch>
            <a:fillRect/>
          </a:stretch>
        </p:blipFill>
        <p:spPr>
          <a:xfrm>
            <a:off x="1929613" y="2681050"/>
            <a:ext cx="5284776" cy="2227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14" name="Shape 514"/>
        <p:cNvGrpSpPr/>
        <p:nvPr/>
      </p:nvGrpSpPr>
      <p:grpSpPr>
        <a:xfrm>
          <a:off x="0" y="0"/>
          <a:ext cx="0" cy="0"/>
          <a:chOff x="0" y="0"/>
          <a:chExt cx="0" cy="0"/>
        </a:xfrm>
      </p:grpSpPr>
      <p:sp>
        <p:nvSpPr>
          <p:cNvPr id="515" name="Google Shape;515;p63"/>
          <p:cNvSpPr/>
          <p:nvPr/>
        </p:nvSpPr>
        <p:spPr>
          <a:xfrm flipH="1" rot="5400000">
            <a:off x="4338150" y="593025"/>
            <a:ext cx="18726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16" name="Google Shape;516;p63"/>
          <p:cNvSpPr/>
          <p:nvPr/>
        </p:nvSpPr>
        <p:spPr>
          <a:xfrm flipH="1" rot="5400000">
            <a:off x="6445650" y="2466025"/>
            <a:ext cx="1869000" cy="2105700"/>
          </a:xfrm>
          <a:prstGeom prst="snip1Rect">
            <a:avLst>
              <a:gd fmla="val 15459"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17" name="Google Shape;517;p63"/>
          <p:cNvSpPr txBox="1"/>
          <p:nvPr>
            <p:ph type="title"/>
          </p:nvPr>
        </p:nvSpPr>
        <p:spPr>
          <a:xfrm>
            <a:off x="941650" y="795275"/>
            <a:ext cx="2861400" cy="8166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sz="3000"/>
              <a:t>Methodology and Key Assumptions</a:t>
            </a:r>
            <a:endParaRPr sz="3000"/>
          </a:p>
          <a:p>
            <a:pPr indent="0" lvl="0" marL="0" rtl="0" algn="l">
              <a:spcBef>
                <a:spcPts val="0"/>
              </a:spcBef>
              <a:spcAft>
                <a:spcPts val="0"/>
              </a:spcAft>
              <a:buSzPts val="3000"/>
              <a:buNone/>
            </a:pPr>
            <a:r>
              <a:t/>
            </a:r>
            <a:endParaRPr/>
          </a:p>
        </p:txBody>
      </p:sp>
      <p:sp>
        <p:nvSpPr>
          <p:cNvPr id="518" name="Google Shape;518;p63"/>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Setting up the Excel workbook in preparation for implementing formulas and solving</a:t>
            </a:r>
            <a:endParaRPr/>
          </a:p>
          <a:p>
            <a:pPr indent="0" lvl="0" marL="0" rtl="0" algn="l">
              <a:spcBef>
                <a:spcPts val="0"/>
              </a:spcBef>
              <a:spcAft>
                <a:spcPts val="0"/>
              </a:spcAft>
              <a:buSzPts val="3100"/>
              <a:buNone/>
            </a:pPr>
            <a:r>
              <a:t/>
            </a:r>
            <a:endParaRPr/>
          </a:p>
        </p:txBody>
      </p:sp>
      <p:sp>
        <p:nvSpPr>
          <p:cNvPr id="519" name="Google Shape;519;p63"/>
          <p:cNvSpPr txBox="1"/>
          <p:nvPr>
            <p:ph idx="2" type="title"/>
          </p:nvPr>
        </p:nvSpPr>
        <p:spPr>
          <a:xfrm>
            <a:off x="4399597" y="835425"/>
            <a:ext cx="1703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1.</a:t>
            </a:r>
            <a:endParaRPr/>
          </a:p>
          <a:p>
            <a:pPr indent="0" lvl="0" marL="0" rtl="0" algn="l">
              <a:spcBef>
                <a:spcPts val="0"/>
              </a:spcBef>
              <a:spcAft>
                <a:spcPts val="0"/>
              </a:spcAft>
              <a:buSzPts val="3000"/>
              <a:buNone/>
            </a:pPr>
            <a:r>
              <a:t/>
            </a:r>
            <a:endParaRPr/>
          </a:p>
        </p:txBody>
      </p:sp>
      <p:sp>
        <p:nvSpPr>
          <p:cNvPr id="520" name="Google Shape;520;p63"/>
          <p:cNvSpPr txBox="1"/>
          <p:nvPr>
            <p:ph idx="3" type="title"/>
          </p:nvPr>
        </p:nvSpPr>
        <p:spPr>
          <a:xfrm>
            <a:off x="6496050" y="835425"/>
            <a:ext cx="1856700" cy="4824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2.</a:t>
            </a:r>
            <a:endParaRPr/>
          </a:p>
          <a:p>
            <a:pPr indent="0" lvl="0" marL="0" rtl="0" algn="l">
              <a:spcBef>
                <a:spcPts val="0"/>
              </a:spcBef>
              <a:spcAft>
                <a:spcPts val="0"/>
              </a:spcAft>
              <a:buSzPts val="3000"/>
              <a:buNone/>
            </a:pPr>
            <a:r>
              <a:t/>
            </a:r>
            <a:endParaRPr/>
          </a:p>
        </p:txBody>
      </p:sp>
      <p:sp>
        <p:nvSpPr>
          <p:cNvPr id="521" name="Google Shape;521;p63"/>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Iterating  on the solver configuration and workbook formulas to reach a possible optimal solution</a:t>
            </a:r>
            <a:endParaRPr/>
          </a:p>
        </p:txBody>
      </p:sp>
      <p:sp>
        <p:nvSpPr>
          <p:cNvPr id="522" name="Google Shape;522;p63"/>
          <p:cNvSpPr txBox="1"/>
          <p:nvPr>
            <p:ph idx="4" type="title"/>
          </p:nvPr>
        </p:nvSpPr>
        <p:spPr>
          <a:xfrm>
            <a:off x="4385600" y="2797575"/>
            <a:ext cx="17763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3.</a:t>
            </a:r>
            <a:endParaRPr/>
          </a:p>
          <a:p>
            <a:pPr indent="0" lvl="0" marL="0" rtl="0" algn="l">
              <a:spcBef>
                <a:spcPts val="0"/>
              </a:spcBef>
              <a:spcAft>
                <a:spcPts val="0"/>
              </a:spcAft>
              <a:buSzPts val="3000"/>
              <a:buNone/>
            </a:pPr>
            <a:r>
              <a:t/>
            </a:r>
            <a:endParaRPr/>
          </a:p>
        </p:txBody>
      </p:sp>
      <p:sp>
        <p:nvSpPr>
          <p:cNvPr id="523" name="Google Shape;523;p63"/>
          <p:cNvSpPr txBox="1"/>
          <p:nvPr>
            <p:ph idx="5" type="title"/>
          </p:nvPr>
        </p:nvSpPr>
        <p:spPr>
          <a:xfrm>
            <a:off x="6496050" y="2797575"/>
            <a:ext cx="1703700" cy="4512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3000"/>
              <a:buNone/>
            </a:pPr>
            <a:r>
              <a:rPr lang="en"/>
              <a:t>4.</a:t>
            </a:r>
            <a:endParaRPr/>
          </a:p>
          <a:p>
            <a:pPr indent="0" lvl="0" marL="0" rtl="0" algn="l">
              <a:spcBef>
                <a:spcPts val="0"/>
              </a:spcBef>
              <a:spcAft>
                <a:spcPts val="0"/>
              </a:spcAft>
              <a:buSzPts val="3000"/>
              <a:buNone/>
            </a:pPr>
            <a:r>
              <a:t/>
            </a:r>
            <a:endParaRPr/>
          </a:p>
        </p:txBody>
      </p:sp>
      <p:sp>
        <p:nvSpPr>
          <p:cNvPr id="524" name="Google Shape;524;p63"/>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SzPts val="3100"/>
              <a:buNone/>
            </a:pPr>
            <a:r>
              <a:rPr lang="en"/>
              <a:t>Configuring the solver and executing it on the completed workbook</a:t>
            </a:r>
            <a:endParaRPr/>
          </a:p>
          <a:p>
            <a:pPr indent="0" lvl="0" marL="0" rtl="0" algn="l">
              <a:spcBef>
                <a:spcPts val="0"/>
              </a:spcBef>
              <a:spcAft>
                <a:spcPts val="0"/>
              </a:spcAft>
              <a:buSzPts val="3100"/>
              <a:buNone/>
            </a:pPr>
            <a:r>
              <a:t/>
            </a:r>
            <a:endParaRPr/>
          </a:p>
        </p:txBody>
      </p:sp>
      <p:sp>
        <p:nvSpPr>
          <p:cNvPr id="525" name="Google Shape;525;p63"/>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a:t>Validating the found solution against expected </a:t>
            </a:r>
            <a:r>
              <a:rPr lang="en"/>
              <a:t>results</a:t>
            </a:r>
            <a:r>
              <a:rPr lang="en"/>
              <a:t> and taking into account possible error sources</a:t>
            </a:r>
            <a:endParaRPr/>
          </a:p>
          <a:p>
            <a:pPr indent="0" lvl="0" marL="0" rtl="0" algn="l">
              <a:spcBef>
                <a:spcPts val="0"/>
              </a:spcBef>
              <a:spcAft>
                <a:spcPts val="0"/>
              </a:spcAft>
              <a:buSzPts val="3100"/>
              <a:buNone/>
            </a:pPr>
            <a:r>
              <a:t/>
            </a:r>
            <a:endParaRPr/>
          </a:p>
          <a:p>
            <a:pPr indent="0" lvl="0" marL="0" rtl="0" algn="l">
              <a:spcBef>
                <a:spcPts val="0"/>
              </a:spcBef>
              <a:spcAft>
                <a:spcPts val="0"/>
              </a:spcAft>
              <a:buSzPts val="3100"/>
              <a:buNone/>
            </a:pPr>
            <a:r>
              <a:t/>
            </a:r>
            <a:endParaRPr/>
          </a:p>
        </p:txBody>
      </p:sp>
      <p:sp>
        <p:nvSpPr>
          <p:cNvPr id="526" name="Google Shape;526;p63"/>
          <p:cNvSpPr txBox="1"/>
          <p:nvPr/>
        </p:nvSpPr>
        <p:spPr>
          <a:xfrm>
            <a:off x="941650" y="2260525"/>
            <a:ext cx="2753700" cy="25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EDEFF"/>
                </a:solidFill>
                <a:latin typeface="Lato"/>
                <a:ea typeface="Lato"/>
                <a:cs typeface="Lato"/>
                <a:sym typeface="Lato"/>
              </a:rPr>
              <a:t>Key assumptions:</a:t>
            </a:r>
            <a:endParaRPr sz="1200">
              <a:solidFill>
                <a:srgbClr val="BEDEFF"/>
              </a:solidFill>
              <a:latin typeface="Lato"/>
              <a:ea typeface="Lato"/>
              <a:cs typeface="Lato"/>
              <a:sym typeface="Lato"/>
            </a:endParaRPr>
          </a:p>
          <a:p>
            <a:pPr indent="-292100" lvl="0" marL="457200" rtl="0" algn="l">
              <a:spcBef>
                <a:spcPts val="0"/>
              </a:spcBef>
              <a:spcAft>
                <a:spcPts val="0"/>
              </a:spcAft>
              <a:buClr>
                <a:srgbClr val="BEDEFF"/>
              </a:buClr>
              <a:buSzPts val="1000"/>
              <a:buFont typeface="Lato"/>
              <a:buAutoNum type="arabicPeriod"/>
            </a:pPr>
            <a:r>
              <a:rPr lang="en" sz="1000">
                <a:solidFill>
                  <a:srgbClr val="BEDEFF"/>
                </a:solidFill>
                <a:latin typeface="Lato"/>
                <a:ea typeface="Lato"/>
                <a:cs typeface="Lato"/>
                <a:sym typeface="Lato"/>
              </a:rPr>
              <a:t>Cameras would be our main limiting factor</a:t>
            </a:r>
            <a:endParaRPr sz="1000">
              <a:solidFill>
                <a:srgbClr val="BEDEFF"/>
              </a:solidFill>
              <a:latin typeface="Lato"/>
              <a:ea typeface="Lato"/>
              <a:cs typeface="Lato"/>
              <a:sym typeface="Lato"/>
            </a:endParaRPr>
          </a:p>
          <a:p>
            <a:pPr indent="-292100" lvl="0" marL="457200" rtl="0" algn="l">
              <a:spcBef>
                <a:spcPts val="0"/>
              </a:spcBef>
              <a:spcAft>
                <a:spcPts val="0"/>
              </a:spcAft>
              <a:buClr>
                <a:srgbClr val="BEDEFF"/>
              </a:buClr>
              <a:buSzPts val="1000"/>
              <a:buFont typeface="Lato"/>
              <a:buAutoNum type="arabicPeriod"/>
            </a:pPr>
            <a:r>
              <a:rPr lang="en" sz="1000">
                <a:solidFill>
                  <a:srgbClr val="BEDEFF"/>
                </a:solidFill>
                <a:latin typeface="Lato"/>
                <a:ea typeface="Lato"/>
                <a:cs typeface="Lato"/>
                <a:sym typeface="Lato"/>
              </a:rPr>
              <a:t>Target on time delivery for all business partners, possibly at the cost of overtime and express shipping expenditure</a:t>
            </a:r>
            <a:endParaRPr sz="1000">
              <a:solidFill>
                <a:srgbClr val="BEDEFF"/>
              </a:solidFill>
              <a:latin typeface="Lato"/>
              <a:ea typeface="Lato"/>
              <a:cs typeface="Lato"/>
              <a:sym typeface="Lato"/>
            </a:endParaRPr>
          </a:p>
          <a:p>
            <a:pPr indent="-292100" lvl="0" marL="457200" rtl="0" algn="l">
              <a:spcBef>
                <a:spcPts val="0"/>
              </a:spcBef>
              <a:spcAft>
                <a:spcPts val="0"/>
              </a:spcAft>
              <a:buClr>
                <a:srgbClr val="BEDEFF"/>
              </a:buClr>
              <a:buSzPts val="1000"/>
              <a:buFont typeface="Lato"/>
              <a:buAutoNum type="arabicPeriod"/>
            </a:pPr>
            <a:r>
              <a:rPr lang="en" sz="1000">
                <a:solidFill>
                  <a:srgbClr val="BEDEFF"/>
                </a:solidFill>
                <a:latin typeface="Lato"/>
                <a:ea typeface="Lato"/>
                <a:cs typeface="Lato"/>
                <a:sym typeface="Lato"/>
              </a:rPr>
              <a:t>Major cost increases for a carrier was unacceptable and limited shipment sizes.</a:t>
            </a:r>
            <a:endParaRPr sz="1000">
              <a:solidFill>
                <a:srgbClr val="BEDEFF"/>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4"/>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Core Decision </a:t>
            </a:r>
            <a:r>
              <a:rPr lang="en"/>
              <a:t>variables</a:t>
            </a:r>
            <a:endParaRPr/>
          </a:p>
        </p:txBody>
      </p:sp>
      <p:pic>
        <p:nvPicPr>
          <p:cNvPr id="532" name="Google Shape;532;p64"/>
          <p:cNvPicPr preferRelativeResize="0"/>
          <p:nvPr/>
        </p:nvPicPr>
        <p:blipFill>
          <a:blip r:embed="rId3">
            <a:alphaModFix/>
          </a:blip>
          <a:stretch>
            <a:fillRect/>
          </a:stretch>
        </p:blipFill>
        <p:spPr>
          <a:xfrm>
            <a:off x="2571750" y="1524003"/>
            <a:ext cx="4000499" cy="341959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5"/>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Objective Function</a:t>
            </a:r>
            <a:endParaRPr/>
          </a:p>
        </p:txBody>
      </p:sp>
      <p:pic>
        <p:nvPicPr>
          <p:cNvPr id="538" name="Google Shape;538;p65"/>
          <p:cNvPicPr preferRelativeResize="0"/>
          <p:nvPr/>
        </p:nvPicPr>
        <p:blipFill>
          <a:blip r:embed="rId3">
            <a:alphaModFix/>
          </a:blip>
          <a:stretch>
            <a:fillRect/>
          </a:stretch>
        </p:blipFill>
        <p:spPr>
          <a:xfrm>
            <a:off x="881224" y="2393800"/>
            <a:ext cx="7381551" cy="1015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6"/>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Select Constraints</a:t>
            </a:r>
            <a:endParaRPr/>
          </a:p>
        </p:txBody>
      </p:sp>
      <p:pic>
        <p:nvPicPr>
          <p:cNvPr id="544" name="Google Shape;544;p66"/>
          <p:cNvPicPr preferRelativeResize="0"/>
          <p:nvPr/>
        </p:nvPicPr>
        <p:blipFill>
          <a:blip r:embed="rId3">
            <a:alphaModFix/>
          </a:blip>
          <a:stretch>
            <a:fillRect/>
          </a:stretch>
        </p:blipFill>
        <p:spPr>
          <a:xfrm>
            <a:off x="4352850" y="659400"/>
            <a:ext cx="4182299" cy="1535575"/>
          </a:xfrm>
          <a:prstGeom prst="rect">
            <a:avLst/>
          </a:prstGeom>
          <a:noFill/>
          <a:ln>
            <a:noFill/>
          </a:ln>
        </p:spPr>
      </p:pic>
      <p:pic>
        <p:nvPicPr>
          <p:cNvPr id="545" name="Google Shape;545;p66"/>
          <p:cNvPicPr preferRelativeResize="0"/>
          <p:nvPr/>
        </p:nvPicPr>
        <p:blipFill>
          <a:blip r:embed="rId4">
            <a:alphaModFix/>
          </a:blip>
          <a:stretch>
            <a:fillRect/>
          </a:stretch>
        </p:blipFill>
        <p:spPr>
          <a:xfrm>
            <a:off x="4623300" y="2372226"/>
            <a:ext cx="3787001" cy="2128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7"/>
          <p:cNvSpPr txBox="1"/>
          <p:nvPr>
            <p:ph type="title"/>
          </p:nvPr>
        </p:nvSpPr>
        <p:spPr>
          <a:xfrm>
            <a:off x="920550" y="904500"/>
            <a:ext cx="7226700" cy="5226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Clr>
                <a:schemeClr val="dk1"/>
              </a:buClr>
              <a:buSzPts val="1100"/>
              <a:buFont typeface="Arial"/>
              <a:buNone/>
            </a:pPr>
            <a:r>
              <a:rPr lang="en" sz="3000"/>
              <a:t>Recommended Solution Pt. 1</a:t>
            </a:r>
            <a:endParaRPr sz="3000"/>
          </a:p>
          <a:p>
            <a:pPr indent="0" lvl="0" marL="0" rtl="0" algn="l">
              <a:spcBef>
                <a:spcPts val="0"/>
              </a:spcBef>
              <a:spcAft>
                <a:spcPts val="0"/>
              </a:spcAft>
              <a:buSzPts val="3000"/>
              <a:buNone/>
            </a:pPr>
            <a:r>
              <a:t/>
            </a:r>
            <a:endParaRPr/>
          </a:p>
        </p:txBody>
      </p:sp>
      <p:sp>
        <p:nvSpPr>
          <p:cNvPr id="551" name="Google Shape;551;p67"/>
          <p:cNvSpPr txBox="1"/>
          <p:nvPr/>
        </p:nvSpPr>
        <p:spPr>
          <a:xfrm>
            <a:off x="920550" y="1524000"/>
            <a:ext cx="7975800" cy="32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dk2"/>
                </a:solidFill>
                <a:latin typeface="Lato"/>
                <a:ea typeface="Lato"/>
                <a:cs typeface="Lato"/>
                <a:sym typeface="Lato"/>
              </a:rPr>
              <a:t>Delivery Week: </a:t>
            </a:r>
            <a:endParaRPr b="1" sz="2000" u="sng">
              <a:solidFill>
                <a:schemeClr val="dk2"/>
              </a:solidFill>
              <a:latin typeface="Lato"/>
              <a:ea typeface="Lato"/>
              <a:cs typeface="Lato"/>
              <a:sym typeface="Lato"/>
            </a:endParaRPr>
          </a:p>
          <a:p>
            <a:pPr indent="0" lvl="0" marL="0" rtl="0" algn="l">
              <a:spcBef>
                <a:spcPts val="0"/>
              </a:spcBef>
              <a:spcAft>
                <a:spcPts val="0"/>
              </a:spcAft>
              <a:buNone/>
            </a:pPr>
            <a:r>
              <a:t/>
            </a:r>
            <a:endParaRPr sz="16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Week 45:</a:t>
            </a:r>
            <a:endParaRPr sz="1800">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Produce only from the </a:t>
            </a:r>
            <a:endParaRPr sz="1800">
              <a:solidFill>
                <a:schemeClr val="dk2"/>
              </a:solidFill>
              <a:latin typeface="Lato"/>
              <a:ea typeface="Lato"/>
              <a:cs typeface="Lato"/>
              <a:sym typeface="Lato"/>
            </a:endParaRPr>
          </a:p>
          <a:p>
            <a:pPr indent="0" lvl="0" marL="457200" rtl="0" algn="l">
              <a:spcBef>
                <a:spcPts val="0"/>
              </a:spcBef>
              <a:spcAft>
                <a:spcPts val="0"/>
              </a:spcAft>
              <a:buNone/>
            </a:pPr>
            <a:r>
              <a:rPr b="1" lang="en" sz="1800">
                <a:solidFill>
                  <a:schemeClr val="dk2"/>
                </a:solidFill>
                <a:latin typeface="Lato"/>
                <a:ea typeface="Lato"/>
                <a:cs typeface="Lato"/>
                <a:sym typeface="Lato"/>
              </a:rPr>
              <a:t>Guadalajara </a:t>
            </a:r>
            <a:r>
              <a:rPr lang="en" sz="1800">
                <a:solidFill>
                  <a:schemeClr val="dk2"/>
                </a:solidFill>
                <a:latin typeface="Lato"/>
                <a:ea typeface="Lato"/>
                <a:cs typeface="Lato"/>
                <a:sym typeface="Lato"/>
              </a:rPr>
              <a:t>facility</a:t>
            </a:r>
            <a:endParaRPr sz="1800">
              <a:solidFill>
                <a:schemeClr val="dk2"/>
              </a:solidFill>
              <a:latin typeface="Lato"/>
              <a:ea typeface="Lato"/>
              <a:cs typeface="Lato"/>
              <a:sym typeface="Lato"/>
            </a:endParaRPr>
          </a:p>
          <a:p>
            <a:pPr indent="-342900" lvl="2" marL="9144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~3.7 weeks of production time</a:t>
            </a:r>
            <a:endParaRPr sz="1800">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Only use </a:t>
            </a:r>
            <a:r>
              <a:rPr lang="en" sz="1800" u="sng">
                <a:solidFill>
                  <a:schemeClr val="dk2"/>
                </a:solidFill>
                <a:latin typeface="Lato"/>
                <a:ea typeface="Lato"/>
                <a:cs typeface="Lato"/>
                <a:sym typeface="Lato"/>
              </a:rPr>
              <a:t>standard shipping</a:t>
            </a:r>
            <a:endParaRPr sz="1800" u="sng">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u="sng">
                <a:solidFill>
                  <a:schemeClr val="dk2"/>
                </a:solidFill>
                <a:latin typeface="Lato"/>
                <a:ea typeface="Lato"/>
                <a:cs typeface="Lato"/>
                <a:sym typeface="Lato"/>
              </a:rPr>
              <a:t>No</a:t>
            </a:r>
            <a:r>
              <a:rPr lang="en" sz="1800">
                <a:solidFill>
                  <a:schemeClr val="dk2"/>
                </a:solidFill>
                <a:latin typeface="Lato"/>
                <a:ea typeface="Lato"/>
                <a:cs typeface="Lato"/>
                <a:sym typeface="Lato"/>
              </a:rPr>
              <a:t> overtime</a:t>
            </a:r>
            <a:endParaRPr sz="1800">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Emergency budget usage: $0</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600">
              <a:solidFill>
                <a:schemeClr val="dk2"/>
              </a:solidFill>
              <a:latin typeface="Lato"/>
              <a:ea typeface="Lato"/>
              <a:cs typeface="Lato"/>
              <a:sym typeface="Lato"/>
            </a:endParaRPr>
          </a:p>
          <a:p>
            <a:pPr indent="0" lvl="0" marL="0" rtl="0" algn="l">
              <a:spcBef>
                <a:spcPts val="0"/>
              </a:spcBef>
              <a:spcAft>
                <a:spcPts val="0"/>
              </a:spcAft>
              <a:buNone/>
            </a:pPr>
            <a:r>
              <a:t/>
            </a:r>
            <a:endParaRPr sz="1600" u="sng">
              <a:solidFill>
                <a:schemeClr val="dk2"/>
              </a:solidFill>
              <a:latin typeface="Lato"/>
              <a:ea typeface="Lato"/>
              <a:cs typeface="Lato"/>
              <a:sym typeface="Lato"/>
            </a:endParaRPr>
          </a:p>
        </p:txBody>
      </p:sp>
      <p:pic>
        <p:nvPicPr>
          <p:cNvPr id="552" name="Google Shape;552;p67" title="Screenshot 2025-10-27 at 9.16.30 PM.png"/>
          <p:cNvPicPr preferRelativeResize="0"/>
          <p:nvPr/>
        </p:nvPicPr>
        <p:blipFill>
          <a:blip r:embed="rId3">
            <a:alphaModFix/>
          </a:blip>
          <a:stretch>
            <a:fillRect/>
          </a:stretch>
        </p:blipFill>
        <p:spPr>
          <a:xfrm>
            <a:off x="5270825" y="1728538"/>
            <a:ext cx="3589025" cy="2818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8"/>
          <p:cNvSpPr txBox="1"/>
          <p:nvPr>
            <p:ph type="title"/>
          </p:nvPr>
        </p:nvSpPr>
        <p:spPr>
          <a:xfrm>
            <a:off x="920550" y="904500"/>
            <a:ext cx="7226700" cy="5226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Clr>
                <a:schemeClr val="dk1"/>
              </a:buClr>
              <a:buSzPts val="1100"/>
              <a:buFont typeface="Arial"/>
              <a:buNone/>
            </a:pPr>
            <a:r>
              <a:rPr lang="en" sz="3000"/>
              <a:t>Recommended Solution Pt. 2</a:t>
            </a:r>
            <a:endParaRPr sz="3000"/>
          </a:p>
          <a:p>
            <a:pPr indent="0" lvl="0" marL="0" rtl="0" algn="l">
              <a:spcBef>
                <a:spcPts val="0"/>
              </a:spcBef>
              <a:spcAft>
                <a:spcPts val="0"/>
              </a:spcAft>
              <a:buSzPts val="3000"/>
              <a:buNone/>
            </a:pPr>
            <a:r>
              <a:t/>
            </a:r>
            <a:endParaRPr/>
          </a:p>
        </p:txBody>
      </p:sp>
      <p:sp>
        <p:nvSpPr>
          <p:cNvPr id="558" name="Google Shape;558;p68"/>
          <p:cNvSpPr txBox="1"/>
          <p:nvPr/>
        </p:nvSpPr>
        <p:spPr>
          <a:xfrm>
            <a:off x="920550" y="1524000"/>
            <a:ext cx="7975800" cy="32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u="sng">
                <a:solidFill>
                  <a:schemeClr val="dk2"/>
                </a:solidFill>
                <a:latin typeface="Lato"/>
                <a:ea typeface="Lato"/>
                <a:cs typeface="Lato"/>
                <a:sym typeface="Lato"/>
              </a:rPr>
              <a:t>Delivery Week: </a:t>
            </a:r>
            <a:endParaRPr b="1" sz="2000" u="sng">
              <a:solidFill>
                <a:schemeClr val="dk2"/>
              </a:solidFill>
              <a:latin typeface="Lato"/>
              <a:ea typeface="Lato"/>
              <a:cs typeface="Lato"/>
              <a:sym typeface="Lato"/>
            </a:endParaRPr>
          </a:p>
          <a:p>
            <a:pPr indent="0" lvl="0" marL="0" rtl="0" algn="l">
              <a:spcBef>
                <a:spcPts val="0"/>
              </a:spcBef>
              <a:spcAft>
                <a:spcPts val="0"/>
              </a:spcAft>
              <a:buNone/>
            </a:pPr>
            <a:r>
              <a:t/>
            </a:r>
            <a:endParaRPr sz="1600">
              <a:solidFill>
                <a:schemeClr val="dk2"/>
              </a:solidFill>
              <a:latin typeface="Lato"/>
              <a:ea typeface="Lato"/>
              <a:cs typeface="Lato"/>
              <a:sym typeface="Lato"/>
            </a:endParaRPr>
          </a:p>
          <a:p>
            <a:pPr indent="0" lvl="0" marL="0" rtl="0" algn="l">
              <a:spcBef>
                <a:spcPts val="0"/>
              </a:spcBef>
              <a:spcAft>
                <a:spcPts val="0"/>
              </a:spcAft>
              <a:buNone/>
            </a:pPr>
            <a:r>
              <a:rPr lang="en" sz="1800">
                <a:solidFill>
                  <a:schemeClr val="dk2"/>
                </a:solidFill>
                <a:latin typeface="Lato"/>
                <a:ea typeface="Lato"/>
                <a:cs typeface="Lato"/>
                <a:sym typeface="Lato"/>
              </a:rPr>
              <a:t>Week 46:</a:t>
            </a:r>
            <a:endParaRPr sz="1800">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Produce only from the </a:t>
            </a:r>
            <a:endParaRPr sz="1800">
              <a:solidFill>
                <a:schemeClr val="dk2"/>
              </a:solidFill>
              <a:latin typeface="Lato"/>
              <a:ea typeface="Lato"/>
              <a:cs typeface="Lato"/>
              <a:sym typeface="Lato"/>
            </a:endParaRPr>
          </a:p>
          <a:p>
            <a:pPr indent="0" lvl="0" marL="457200" rtl="0" algn="l">
              <a:spcBef>
                <a:spcPts val="0"/>
              </a:spcBef>
              <a:spcAft>
                <a:spcPts val="0"/>
              </a:spcAft>
              <a:buNone/>
            </a:pPr>
            <a:r>
              <a:rPr b="1" lang="en" sz="1800">
                <a:solidFill>
                  <a:schemeClr val="dk2"/>
                </a:solidFill>
                <a:latin typeface="Lato"/>
                <a:ea typeface="Lato"/>
                <a:cs typeface="Lato"/>
                <a:sym typeface="Lato"/>
              </a:rPr>
              <a:t>Chennai</a:t>
            </a:r>
            <a:r>
              <a:rPr lang="en" sz="1800">
                <a:solidFill>
                  <a:schemeClr val="dk2"/>
                </a:solidFill>
                <a:latin typeface="Lato"/>
                <a:ea typeface="Lato"/>
                <a:cs typeface="Lato"/>
                <a:sym typeface="Lato"/>
              </a:rPr>
              <a:t> and </a:t>
            </a:r>
            <a:r>
              <a:rPr b="1" lang="en" sz="1800">
                <a:solidFill>
                  <a:schemeClr val="dk2"/>
                </a:solidFill>
                <a:latin typeface="Lato"/>
                <a:ea typeface="Lato"/>
                <a:cs typeface="Lato"/>
                <a:sym typeface="Lato"/>
              </a:rPr>
              <a:t> Kaohsiung </a:t>
            </a:r>
            <a:r>
              <a:rPr lang="en" sz="1800">
                <a:solidFill>
                  <a:schemeClr val="dk2"/>
                </a:solidFill>
                <a:latin typeface="Lato"/>
                <a:ea typeface="Lato"/>
                <a:cs typeface="Lato"/>
                <a:sym typeface="Lato"/>
              </a:rPr>
              <a:t>facilities</a:t>
            </a:r>
            <a:endParaRPr sz="1800">
              <a:solidFill>
                <a:schemeClr val="dk2"/>
              </a:solidFill>
              <a:latin typeface="Lato"/>
              <a:ea typeface="Lato"/>
              <a:cs typeface="Lato"/>
              <a:sym typeface="Lato"/>
            </a:endParaRPr>
          </a:p>
          <a:p>
            <a:pPr indent="-342900" lvl="2" marL="9144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~5.1 weeks of production time</a:t>
            </a:r>
            <a:endParaRPr sz="1800">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Only use </a:t>
            </a:r>
            <a:r>
              <a:rPr lang="en" sz="1800" u="sng">
                <a:solidFill>
                  <a:schemeClr val="dk2"/>
                </a:solidFill>
                <a:latin typeface="Lato"/>
                <a:ea typeface="Lato"/>
                <a:cs typeface="Lato"/>
                <a:sym typeface="Lato"/>
              </a:rPr>
              <a:t>standard shipping</a:t>
            </a:r>
            <a:endParaRPr sz="1800" u="sng">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u="sng">
                <a:solidFill>
                  <a:schemeClr val="dk2"/>
                </a:solidFill>
                <a:latin typeface="Lato"/>
                <a:ea typeface="Lato"/>
                <a:cs typeface="Lato"/>
                <a:sym typeface="Lato"/>
              </a:rPr>
              <a:t>No</a:t>
            </a:r>
            <a:r>
              <a:rPr lang="en" sz="1800">
                <a:solidFill>
                  <a:schemeClr val="dk2"/>
                </a:solidFill>
                <a:latin typeface="Lato"/>
                <a:ea typeface="Lato"/>
                <a:cs typeface="Lato"/>
                <a:sym typeface="Lato"/>
              </a:rPr>
              <a:t> overtime</a:t>
            </a:r>
            <a:endParaRPr sz="1800">
              <a:solidFill>
                <a:schemeClr val="dk2"/>
              </a:solidFill>
              <a:latin typeface="Lato"/>
              <a:ea typeface="Lato"/>
              <a:cs typeface="Lato"/>
              <a:sym typeface="Lato"/>
            </a:endParaRPr>
          </a:p>
          <a:p>
            <a:pPr indent="-342900" lvl="1" marL="457200" rtl="0" algn="l">
              <a:spcBef>
                <a:spcPts val="0"/>
              </a:spcBef>
              <a:spcAft>
                <a:spcPts val="0"/>
              </a:spcAft>
              <a:buClr>
                <a:schemeClr val="dk2"/>
              </a:buClr>
              <a:buSzPts val="1800"/>
              <a:buFont typeface="Lato"/>
              <a:buChar char="-"/>
            </a:pPr>
            <a:r>
              <a:rPr lang="en" sz="1800">
                <a:solidFill>
                  <a:schemeClr val="dk2"/>
                </a:solidFill>
                <a:latin typeface="Lato"/>
                <a:ea typeface="Lato"/>
                <a:cs typeface="Lato"/>
                <a:sym typeface="Lato"/>
              </a:rPr>
              <a:t>Emergency budget usage: $0</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800">
              <a:solidFill>
                <a:schemeClr val="dk2"/>
              </a:solidFill>
              <a:latin typeface="Lato"/>
              <a:ea typeface="Lato"/>
              <a:cs typeface="Lato"/>
              <a:sym typeface="Lato"/>
            </a:endParaRPr>
          </a:p>
          <a:p>
            <a:pPr indent="0" lvl="0" marL="0" rtl="0" algn="l">
              <a:spcBef>
                <a:spcPts val="0"/>
              </a:spcBef>
              <a:spcAft>
                <a:spcPts val="0"/>
              </a:spcAft>
              <a:buNone/>
            </a:pPr>
            <a:r>
              <a:rPr b="1" lang="en" sz="2000" u="sng">
                <a:solidFill>
                  <a:schemeClr val="dk2"/>
                </a:solidFill>
                <a:latin typeface="Lato"/>
                <a:ea typeface="Lato"/>
                <a:cs typeface="Lato"/>
                <a:sym typeface="Lato"/>
              </a:rPr>
              <a:t>Total Cost</a:t>
            </a:r>
            <a:r>
              <a:rPr lang="en" sz="2000">
                <a:solidFill>
                  <a:schemeClr val="dk2"/>
                </a:solidFill>
                <a:latin typeface="Lato"/>
                <a:ea typeface="Lato"/>
                <a:cs typeface="Lato"/>
                <a:sym typeface="Lato"/>
              </a:rPr>
              <a:t> = $289.96 M</a:t>
            </a:r>
            <a:endParaRPr sz="1800">
              <a:solidFill>
                <a:schemeClr val="dk2"/>
              </a:solidFill>
              <a:latin typeface="Lato"/>
              <a:ea typeface="Lato"/>
              <a:cs typeface="Lato"/>
              <a:sym typeface="Lato"/>
            </a:endParaRPr>
          </a:p>
          <a:p>
            <a:pPr indent="0" lvl="0" marL="0" rtl="0" algn="l">
              <a:spcBef>
                <a:spcPts val="0"/>
              </a:spcBef>
              <a:spcAft>
                <a:spcPts val="0"/>
              </a:spcAft>
              <a:buNone/>
            </a:pPr>
            <a:r>
              <a:t/>
            </a:r>
            <a:endParaRPr sz="1600">
              <a:solidFill>
                <a:schemeClr val="dk2"/>
              </a:solidFill>
              <a:latin typeface="Lato"/>
              <a:ea typeface="Lato"/>
              <a:cs typeface="Lato"/>
              <a:sym typeface="Lato"/>
            </a:endParaRPr>
          </a:p>
          <a:p>
            <a:pPr indent="0" lvl="0" marL="0" rtl="0" algn="l">
              <a:spcBef>
                <a:spcPts val="0"/>
              </a:spcBef>
              <a:spcAft>
                <a:spcPts val="0"/>
              </a:spcAft>
              <a:buNone/>
            </a:pPr>
            <a:r>
              <a:t/>
            </a:r>
            <a:endParaRPr sz="1600" u="sng">
              <a:solidFill>
                <a:schemeClr val="dk2"/>
              </a:solidFill>
              <a:latin typeface="Lato"/>
              <a:ea typeface="Lato"/>
              <a:cs typeface="Lato"/>
              <a:sym typeface="Lato"/>
            </a:endParaRPr>
          </a:p>
        </p:txBody>
      </p:sp>
      <p:pic>
        <p:nvPicPr>
          <p:cNvPr id="559" name="Google Shape;559;p68" title="Screenshot 2025-10-28 at 11.20.09 AM.png"/>
          <p:cNvPicPr preferRelativeResize="0"/>
          <p:nvPr/>
        </p:nvPicPr>
        <p:blipFill>
          <a:blip r:embed="rId3">
            <a:alphaModFix/>
          </a:blip>
          <a:stretch>
            <a:fillRect/>
          </a:stretch>
        </p:blipFill>
        <p:spPr>
          <a:xfrm>
            <a:off x="5159240" y="2270775"/>
            <a:ext cx="3913160" cy="1733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9"/>
          <p:cNvSpPr txBox="1"/>
          <p:nvPr>
            <p:ph type="title"/>
          </p:nvPr>
        </p:nvSpPr>
        <p:spPr>
          <a:xfrm>
            <a:off x="1141900" y="2122200"/>
            <a:ext cx="4005900" cy="7086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4500">
                <a:solidFill>
                  <a:schemeClr val="accent6"/>
                </a:solidFill>
              </a:rPr>
              <a:t>Questions?</a:t>
            </a:r>
            <a:endParaRPr sz="4500">
              <a:solidFill>
                <a:schemeClr val="accent6"/>
              </a:solidFill>
            </a:endParaRPr>
          </a:p>
        </p:txBody>
      </p:sp>
      <p:sp>
        <p:nvSpPr>
          <p:cNvPr descr="A question mark icon." id="565" name="Google Shape;565;p69"/>
          <p:cNvSpPr txBox="1"/>
          <p:nvPr/>
        </p:nvSpPr>
        <p:spPr>
          <a:xfrm>
            <a:off x="6517802" y="1117222"/>
            <a:ext cx="813300" cy="117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200"/>
              <a:buFont typeface="Arial"/>
              <a:buNone/>
            </a:pPr>
            <a:r>
              <a:rPr lang="en" sz="7200">
                <a:solidFill>
                  <a:schemeClr val="accent3"/>
                </a:solidFill>
                <a:latin typeface="Quantico"/>
                <a:ea typeface="Quantico"/>
                <a:cs typeface="Quantico"/>
                <a:sym typeface="Quantico"/>
              </a:rPr>
              <a:t>?</a:t>
            </a:r>
            <a:endParaRPr sz="7200">
              <a:solidFill>
                <a:schemeClr val="accent3"/>
              </a:solidFill>
              <a:latin typeface="Quantico"/>
              <a:ea typeface="Quantico"/>
              <a:cs typeface="Quantico"/>
              <a:sym typeface="Quantico"/>
            </a:endParaRPr>
          </a:p>
        </p:txBody>
      </p:sp>
      <p:sp>
        <p:nvSpPr>
          <p:cNvPr descr="An exclamation mark icon" id="566" name="Google Shape;566;p69"/>
          <p:cNvSpPr txBox="1"/>
          <p:nvPr/>
        </p:nvSpPr>
        <p:spPr>
          <a:xfrm>
            <a:off x="6665927" y="3103597"/>
            <a:ext cx="813300" cy="117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7200"/>
              <a:buFont typeface="Arial"/>
              <a:buNone/>
            </a:pPr>
            <a:r>
              <a:rPr lang="en" sz="7200">
                <a:solidFill>
                  <a:schemeClr val="accent4"/>
                </a:solidFill>
                <a:latin typeface="Quantico"/>
                <a:ea typeface="Quantico"/>
                <a:cs typeface="Quantico"/>
                <a:sym typeface="Quantico"/>
              </a:rPr>
              <a:t>!</a:t>
            </a:r>
            <a:endParaRPr sz="7200">
              <a:solidFill>
                <a:schemeClr val="accent4"/>
              </a:solidFill>
              <a:latin typeface="Quantico"/>
              <a:ea typeface="Quantico"/>
              <a:cs typeface="Quantico"/>
              <a:sym typeface="Quantic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