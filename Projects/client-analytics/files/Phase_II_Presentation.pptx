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5bc85e75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g395bc85e75a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ccc2091e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ccc2091e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d15c8a51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d15c8a51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Bottom line: We built a model that scores every active account</a:t>
            </a:r>
            <a:endParaRPr/>
          </a:p>
          <a:p>
            <a:pPr indent="0" lvl="0" marL="0" rtl="0" algn="l">
              <a:spcBef>
                <a:spcPts val="0"/>
              </a:spcBef>
              <a:spcAft>
                <a:spcPts val="0"/>
              </a:spcAft>
              <a:buClr>
                <a:schemeClr val="dk1"/>
              </a:buClr>
              <a:buSzPts val="1100"/>
              <a:buFont typeface="Arial"/>
              <a:buNone/>
            </a:pPr>
            <a:r>
              <a:rPr lang="en"/>
              <a:t>by how likely they are to churn. Out of 430 active clients, 9 came back as medium</a:t>
            </a:r>
            <a:endParaRPr/>
          </a:p>
          <a:p>
            <a:pPr indent="0" lvl="0" marL="0" rtl="0" algn="l">
              <a:spcBef>
                <a:spcPts val="0"/>
              </a:spcBef>
              <a:spcAft>
                <a:spcPts val="0"/>
              </a:spcAft>
              <a:buClr>
                <a:schemeClr val="dk1"/>
              </a:buClr>
              <a:buSzPts val="1100"/>
              <a:buFont typeface="Arial"/>
              <a:buNone/>
            </a:pPr>
            <a:r>
              <a:rPr lang="en"/>
              <a:t>or high risk.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Young Group Inc. is the most urgent — the model gives them an 86% chance of</a:t>
            </a:r>
            <a:endParaRPr/>
          </a:p>
          <a:p>
            <a:pPr indent="0" lvl="0" marL="0" rtl="0" algn="l">
              <a:spcBef>
                <a:spcPts val="0"/>
              </a:spcBef>
              <a:spcAft>
                <a:spcPts val="0"/>
              </a:spcAft>
              <a:buClr>
                <a:schemeClr val="dk1"/>
              </a:buClr>
              <a:buSzPts val="1100"/>
              <a:buFont typeface="Arial"/>
              <a:buNone/>
            </a:pPr>
            <a:r>
              <a:rPr lang="en"/>
              <a:t>churning. They're a small SMB account. The next eight range from about 30% to 53%.</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Well go into more detail regarding segments later but note that a majority of churned accounts are SMB</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t>The biggest thing the model flagged: accounts that haven't had a recent CS (Client Success team DAYS_SINCE_LAST_ACTIVITY)</a:t>
            </a:r>
            <a:endParaRPr/>
          </a:p>
          <a:p>
            <a:pPr indent="0" lvl="0" marL="0" rtl="0" algn="l">
              <a:spcBef>
                <a:spcPts val="0"/>
              </a:spcBef>
              <a:spcAft>
                <a:spcPts val="0"/>
              </a:spcAft>
              <a:buClr>
                <a:schemeClr val="dk1"/>
              </a:buClr>
              <a:buSzPts val="1100"/>
              <a:buFont typeface="Arial"/>
              <a:buNone/>
            </a:pPr>
            <a:r>
              <a:rPr lang="en"/>
              <a:t>touchpoint are far more likely to churn. That's actually good news — it means</a:t>
            </a:r>
            <a:endParaRPr/>
          </a:p>
          <a:p>
            <a:pPr indent="0" lvl="0" marL="0" rtl="0" algn="l">
              <a:spcBef>
                <a:spcPts val="0"/>
              </a:spcBef>
              <a:spcAft>
                <a:spcPts val="0"/>
              </a:spcAft>
              <a:buClr>
                <a:schemeClr val="dk1"/>
              </a:buClr>
              <a:buSzPts val="1100"/>
              <a:buFont typeface="Arial"/>
              <a:buNone/>
            </a:pPr>
            <a:r>
              <a:rPr lang="en"/>
              <a:t>the fix is something we can control. More proactive outreach, especially to</a:t>
            </a:r>
            <a:endParaRPr/>
          </a:p>
          <a:p>
            <a:pPr indent="0" lvl="0" marL="0" rtl="0" algn="l">
              <a:spcBef>
                <a:spcPts val="0"/>
              </a:spcBef>
              <a:spcAft>
                <a:spcPts val="0"/>
              </a:spcAft>
              <a:buClr>
                <a:schemeClr val="dk1"/>
              </a:buClr>
              <a:buSzPts val="1100"/>
              <a:buFont typeface="Arial"/>
              <a:buNone/>
            </a:pPr>
            <a:r>
              <a:rPr lang="en"/>
              <a:t>these 9 accounts.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The full scored list of all 430 accounts is in a CSV file</a:t>
            </a:r>
            <a:br>
              <a:rPr lang="en"/>
            </a:br>
            <a:br>
              <a:rPr lang="en"/>
            </a:br>
            <a:br>
              <a:rPr lang="en"/>
            </a:br>
            <a:r>
              <a:rPr lang="en"/>
              <a:t>Q: 'Why only 9? That seems low.'</a:t>
            </a:r>
            <a:endParaRPr/>
          </a:p>
          <a:p>
            <a:pPr indent="0" lvl="0" marL="0" rtl="0" algn="l">
              <a:spcBef>
                <a:spcPts val="0"/>
              </a:spcBef>
              <a:spcAft>
                <a:spcPts val="0"/>
              </a:spcAft>
              <a:buNone/>
            </a:pPr>
            <a:r>
              <a:rPr lang="en"/>
              <a:t>A: That's actually a positive sign. It means the vast majority of our active</a:t>
            </a:r>
            <a:endParaRPr/>
          </a:p>
          <a:p>
            <a:pPr indent="0" lvl="0" marL="0" rtl="0" algn="l">
              <a:spcBef>
                <a:spcPts val="0"/>
              </a:spcBef>
              <a:spcAft>
                <a:spcPts val="0"/>
              </a:spcAft>
              <a:buNone/>
            </a:pPr>
            <a:r>
              <a:rPr lang="en"/>
              <a:t>   accounts (421 out of 430) are in good shape. The model isn't over-alarming —</a:t>
            </a:r>
            <a:endParaRPr/>
          </a:p>
          <a:p>
            <a:pPr indent="0" lvl="0" marL="0" rtl="0" algn="l">
              <a:spcBef>
                <a:spcPts val="0"/>
              </a:spcBef>
              <a:spcAft>
                <a:spcPts val="0"/>
              </a:spcAft>
              <a:buNone/>
            </a:pPr>
            <a:r>
              <a:rPr lang="en"/>
              <a:t>   it's focused on the accounts with a real, measurable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 'What should we actually DO with this list?'</a:t>
            </a:r>
            <a:endParaRPr/>
          </a:p>
          <a:p>
            <a:pPr indent="0" lvl="0" marL="0" rtl="0" algn="l">
              <a:spcBef>
                <a:spcPts val="0"/>
              </a:spcBef>
              <a:spcAft>
                <a:spcPts val="0"/>
              </a:spcAft>
              <a:buNone/>
            </a:pPr>
            <a:r>
              <a:rPr lang="en"/>
              <a:t>A: Start with Young Group Inc. — schedule an outreach call this week. For the</a:t>
            </a:r>
            <a:endParaRPr/>
          </a:p>
          <a:p>
            <a:pPr indent="0" lvl="0" marL="0" rtl="0" algn="l">
              <a:spcBef>
                <a:spcPts val="0"/>
              </a:spcBef>
              <a:spcAft>
                <a:spcPts val="0"/>
              </a:spcAft>
              <a:buNone/>
            </a:pPr>
            <a:r>
              <a:rPr lang="en"/>
              <a:t>   other 8, I'd recommend your team review their recent activity and set up</a:t>
            </a:r>
            <a:endParaRPr/>
          </a:p>
          <a:p>
            <a:pPr indent="0" lvl="0" marL="0" rtl="0" algn="l">
              <a:spcBef>
                <a:spcPts val="0"/>
              </a:spcBef>
              <a:spcAft>
                <a:spcPts val="0"/>
              </a:spcAft>
              <a:buNone/>
            </a:pPr>
            <a:r>
              <a:rPr lang="en"/>
              <a:t>   check-ins within the next 2 weeks. The CSV has the probability scores so</a:t>
            </a:r>
            <a:endParaRPr/>
          </a:p>
          <a:p>
            <a:pPr indent="0" lvl="0" marL="0" rtl="0" algn="l">
              <a:spcBef>
                <a:spcPts val="0"/>
              </a:spcBef>
              <a:spcAft>
                <a:spcPts val="0"/>
              </a:spcAft>
              <a:buNone/>
            </a:pPr>
            <a:r>
              <a:rPr lang="en"/>
              <a:t>   you can prioritize top-down.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 'How reliable is this list?'</a:t>
            </a:r>
            <a:endParaRPr/>
          </a:p>
          <a:p>
            <a:pPr indent="0" lvl="0" marL="0" rtl="0" algn="l">
              <a:spcBef>
                <a:spcPts val="0"/>
              </a:spcBef>
              <a:spcAft>
                <a:spcPts val="0"/>
              </a:spcAft>
              <a:buNone/>
            </a:pPr>
            <a:r>
              <a:rPr lang="en"/>
              <a:t>A: The model is 97% accurate on historical data and catches 96% of actual</a:t>
            </a:r>
            <a:endParaRPr/>
          </a:p>
          <a:p>
            <a:pPr indent="0" lvl="0" marL="0" rtl="0" algn="l">
              <a:spcBef>
                <a:spcPts val="0"/>
              </a:spcBef>
              <a:spcAft>
                <a:spcPts val="0"/>
              </a:spcAft>
              <a:buNone/>
            </a:pPr>
            <a:r>
              <a:rPr lang="en"/>
              <a:t>   churners. I'll get into the details on the next slides, but the short version</a:t>
            </a:r>
            <a:endParaRPr/>
          </a:p>
          <a:p>
            <a:pPr indent="0" lvl="0" marL="0" rtl="0" algn="l">
              <a:spcBef>
                <a:spcPts val="0"/>
              </a:spcBef>
              <a:spcAft>
                <a:spcPts val="0"/>
              </a:spcAft>
              <a:buNone/>
            </a:pPr>
            <a:r>
              <a:rPr lang="en"/>
              <a:t>   is: we're very confident in these flags."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5bd5013f0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5bd5013f0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Vanessa</a:t>
            </a:r>
            <a:endParaRPr u="sng"/>
          </a:p>
          <a:p>
            <a:pPr indent="-298450" lvl="0" marL="457200" rtl="0" algn="l">
              <a:spcBef>
                <a:spcPts val="0"/>
              </a:spcBef>
              <a:spcAft>
                <a:spcPts val="0"/>
              </a:spcAft>
              <a:buSzPts val="1100"/>
              <a:buAutoNum type="arabicPeriod"/>
            </a:pPr>
            <a:r>
              <a:rPr lang="en"/>
              <a:t>Target value - why we went to aggregated invoices (realized value - early churned clients) - we did see some clients who’s full contract was not realized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ccc2091e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ccc2091e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Vanessa</a:t>
            </a:r>
            <a:r>
              <a:rPr lang="en"/>
              <a:t> - different features affect different segments differently (i.e. the relationship between each feature and each segment is different (complex)) - supports the use of Random Forest (multicollinearity) and why it is more accurate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5bd5013f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5bd5013f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Vanessa</a:t>
            </a:r>
            <a:r>
              <a:rPr lang="en"/>
              <a:t> - baseline established with Linear and Ridge did not change much in terms of Multicollinearity. However, we can see that the model was much better and more accurate with the test and training data for the Random Forest Model. </a:t>
            </a:r>
            <a:br>
              <a:rPr lang="en"/>
            </a:br>
            <a:br>
              <a:rPr lang="en"/>
            </a:br>
            <a:r>
              <a:rPr lang="en"/>
              <a:t>When looking more closely at the model in different segments, we can see the model is </a:t>
            </a:r>
            <a:r>
              <a:rPr lang="en"/>
              <a:t>decently</a:t>
            </a:r>
            <a:r>
              <a:rPr lang="en"/>
              <a:t> accurate with Strategic </a:t>
            </a:r>
            <a:r>
              <a:rPr lang="en"/>
              <a:t>accounts</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5bd5013f0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5bd5013f0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Vanessa</a:t>
            </a:r>
            <a:r>
              <a:rPr lang="en"/>
              <a:t> - Contract Value - obviously a lifetime drive, but usage is also strongly correlated. This can be an area of exploration (long term goal) and seeing when/why it is a trigger </a:t>
            </a:r>
            <a:r>
              <a:rPr lang="en"/>
              <a:t>for</a:t>
            </a:r>
            <a:r>
              <a:rPr lang="en"/>
              <a:t> certain accounts (like SMB accounts) - long term-ish goal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5bd5013f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5bd5013f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Vanessa</a:t>
            </a:r>
            <a:endParaRPr u="sng"/>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b="1" lang="en"/>
              <a:t>Immediate</a:t>
            </a:r>
            <a:r>
              <a:rPr lang="en"/>
              <a:t> - we could find ways to enforce different tiers or reevaluate the pricing model used for SMB accounts. </a:t>
            </a:r>
            <a:endParaRPr/>
          </a:p>
          <a:p>
            <a:pPr indent="-298450" lvl="0" marL="457200" rtl="0" algn="l">
              <a:spcBef>
                <a:spcPts val="0"/>
              </a:spcBef>
              <a:spcAft>
                <a:spcPts val="0"/>
              </a:spcAft>
              <a:buSzPts val="1100"/>
              <a:buChar char="●"/>
            </a:pPr>
            <a:r>
              <a:rPr b="1" lang="en"/>
              <a:t>Short term </a:t>
            </a:r>
            <a:r>
              <a:rPr lang="en"/>
              <a:t>- We profit the most from strategic accounts despite the high usage, so avoiding upselling to them and prioritizing their engagement</a:t>
            </a:r>
            <a:endParaRPr/>
          </a:p>
          <a:p>
            <a:pPr indent="-298450" lvl="0" marL="457200" rtl="0" algn="l">
              <a:spcBef>
                <a:spcPts val="0"/>
              </a:spcBef>
              <a:spcAft>
                <a:spcPts val="0"/>
              </a:spcAft>
              <a:buSzPts val="1100"/>
              <a:buChar char="●"/>
            </a:pPr>
            <a:r>
              <a:rPr b="1" lang="en"/>
              <a:t>Long term</a:t>
            </a:r>
            <a:r>
              <a:rPr lang="en"/>
              <a:t> - after total_value, we saw that ticket usage was the next highly correlated (but a *potential* point for friction for SMB accounts - we can take a look at that next and see when usage gets too high, are we likely to lose someone or retain. For further exploration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ccc2091e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ccc2091e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ccc2091e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ccc2091e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 pulled data from 8 different tables in the warehouse — everything from</a:t>
            </a:r>
            <a:endParaRPr/>
          </a:p>
          <a:p>
            <a:pPr indent="0" lvl="0" marL="0" rtl="0" algn="l">
              <a:spcBef>
                <a:spcPts val="0"/>
              </a:spcBef>
              <a:spcAft>
                <a:spcPts val="0"/>
              </a:spcAft>
              <a:buClr>
                <a:schemeClr val="dk1"/>
              </a:buClr>
              <a:buSzPts val="1100"/>
              <a:buFont typeface="Arial"/>
              <a:buNone/>
            </a:pPr>
            <a:r>
              <a:rPr lang="en"/>
              <a:t>contract details to support tickets to how often clients actually use the</a:t>
            </a:r>
            <a:endParaRPr/>
          </a:p>
          <a:p>
            <a:pPr indent="0" lvl="0" marL="0" rtl="0" algn="l">
              <a:spcBef>
                <a:spcPts val="0"/>
              </a:spcBef>
              <a:spcAft>
                <a:spcPts val="0"/>
              </a:spcAft>
              <a:buClr>
                <a:schemeClr val="dk1"/>
              </a:buClr>
              <a:buSzPts val="1100"/>
              <a:buFont typeface="Arial"/>
              <a:buNone/>
            </a:pPr>
            <a:r>
              <a:rPr lang="en"/>
              <a:t>product. We combined all of that into about 40 measurable features per account.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Our modeling population was 558 accounts — 430 active and 128 that have churned.</a:t>
            </a:r>
            <a:endParaRPr/>
          </a:p>
          <a:p>
            <a:pPr indent="0" lvl="0" marL="0" rtl="0" algn="l">
              <a:spcBef>
                <a:spcPts val="0"/>
              </a:spcBef>
              <a:spcAft>
                <a:spcPts val="0"/>
              </a:spcAft>
              <a:buClr>
                <a:schemeClr val="dk1"/>
              </a:buClr>
              <a:buSzPts val="1100"/>
              <a:buFont typeface="Arial"/>
              <a:buNone/>
            </a:pPr>
            <a:r>
              <a:rPr lang="en"/>
              <a:t>So historically, about 23% of accounts have churned. That's our baseline.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tested two different algorithms. Logistic Regression is the simpler one —</a:t>
            </a:r>
            <a:endParaRPr/>
          </a:p>
          <a:p>
            <a:pPr indent="0" lvl="0" marL="0" rtl="0" algn="l">
              <a:spcBef>
                <a:spcPts val="0"/>
              </a:spcBef>
              <a:spcAft>
                <a:spcPts val="0"/>
              </a:spcAft>
              <a:buClr>
                <a:schemeClr val="dk1"/>
              </a:buClr>
              <a:buSzPts val="1100"/>
              <a:buFont typeface="Arial"/>
              <a:buNone/>
            </a:pPr>
            <a:r>
              <a:rPr lang="en"/>
              <a:t>think of it as drawing a line that separates churned accounts from active ones.</a:t>
            </a:r>
            <a:endParaRPr/>
          </a:p>
          <a:p>
            <a:pPr indent="0" lvl="0" marL="0" rtl="0" algn="l">
              <a:spcBef>
                <a:spcPts val="0"/>
              </a:spcBef>
              <a:spcAft>
                <a:spcPts val="0"/>
              </a:spcAft>
              <a:buClr>
                <a:schemeClr val="dk1"/>
              </a:buClr>
              <a:buSzPts val="1100"/>
              <a:buFont typeface="Arial"/>
              <a:buNone/>
            </a:pPr>
            <a:r>
              <a:rPr lang="en"/>
              <a:t>It's useful because it tells you exactly which features matter and by how much.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Random Forest is more complex — it builds 200 decision trees, each looking at</a:t>
            </a:r>
            <a:endParaRPr/>
          </a:p>
          <a:p>
            <a:pPr indent="0" lvl="0" marL="0" rtl="0" algn="l">
              <a:spcBef>
                <a:spcPts val="0"/>
              </a:spcBef>
              <a:spcAft>
                <a:spcPts val="0"/>
              </a:spcAft>
              <a:buClr>
                <a:schemeClr val="dk1"/>
              </a:buClr>
              <a:buSzPts val="1100"/>
              <a:buFont typeface="Arial"/>
              <a:buNone/>
            </a:pPr>
            <a:r>
              <a:rPr lang="en"/>
              <a:t>the data from a slightly different angle, and combines their votes. It's better</a:t>
            </a:r>
            <a:endParaRPr/>
          </a:p>
          <a:p>
            <a:pPr indent="0" lvl="0" marL="0" rtl="0" algn="l">
              <a:spcBef>
                <a:spcPts val="0"/>
              </a:spcBef>
              <a:spcAft>
                <a:spcPts val="0"/>
              </a:spcAft>
              <a:buClr>
                <a:schemeClr val="dk1"/>
              </a:buClr>
              <a:buSzPts val="1100"/>
              <a:buFont typeface="Arial"/>
              <a:buNone/>
            </a:pPr>
            <a:r>
              <a:rPr lang="en"/>
              <a:t>at catching patterns that aren't straightforward.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reason we used both is validation. If a simple model and a complex model</a:t>
            </a:r>
            <a:endParaRPr/>
          </a:p>
          <a:p>
            <a:pPr indent="0" lvl="0" marL="0" rtl="0" algn="l">
              <a:spcBef>
                <a:spcPts val="0"/>
              </a:spcBef>
              <a:spcAft>
                <a:spcPts val="0"/>
              </a:spcAft>
              <a:buClr>
                <a:schemeClr val="dk1"/>
              </a:buClr>
              <a:buSzPts val="1100"/>
              <a:buFont typeface="Arial"/>
              <a:buNone/>
            </a:pPr>
            <a:r>
              <a:rPr lang="en"/>
              <a:t>both point to the same conclusions, that's a strong signal that we're finding</a:t>
            </a:r>
            <a:endParaRPr/>
          </a:p>
          <a:p>
            <a:pPr indent="0" lvl="0" marL="0" rtl="0" algn="l">
              <a:spcBef>
                <a:spcPts val="0"/>
              </a:spcBef>
              <a:spcAft>
                <a:spcPts val="0"/>
              </a:spcAft>
              <a:buClr>
                <a:schemeClr val="dk1"/>
              </a:buClr>
              <a:buSzPts val="1100"/>
              <a:buFont typeface="Arial"/>
              <a:buNone/>
            </a:pPr>
            <a:r>
              <a:rPr lang="en"/>
              <a:t>something real in the data, not just overfitting noise.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held out 20% of accounts as a test set — accounts the model never trained on —</a:t>
            </a:r>
            <a:endParaRPr/>
          </a:p>
          <a:p>
            <a:pPr indent="0" lvl="0" marL="0" rtl="0" algn="l">
              <a:spcBef>
                <a:spcPts val="0"/>
              </a:spcBef>
              <a:spcAft>
                <a:spcPts val="0"/>
              </a:spcAft>
              <a:buClr>
                <a:schemeClr val="dk1"/>
              </a:buClr>
              <a:buSzPts val="1100"/>
              <a:buFont typeface="Arial"/>
              <a:buNone/>
            </a:pPr>
            <a:r>
              <a:rPr lang="en"/>
              <a:t>so the accuracy numbers I'm about to show you are on 'unseen' data.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Q: 'What is the target variable? How do you define churn?'</a:t>
            </a:r>
            <a:endParaRPr/>
          </a:p>
          <a:p>
            <a:pPr indent="0" lvl="0" marL="0" rtl="0" algn="l">
              <a:spcBef>
                <a:spcPts val="0"/>
              </a:spcBef>
              <a:spcAft>
                <a:spcPts val="0"/>
              </a:spcAft>
              <a:buClr>
                <a:schemeClr val="dk1"/>
              </a:buClr>
              <a:buSzPts val="1100"/>
              <a:buFont typeface="Arial"/>
              <a:buNone/>
            </a:pPr>
            <a:r>
              <a:rPr lang="en"/>
              <a:t>A: We used the IS_CHURNED flag from the Accounts table. If status = 'churned',</a:t>
            </a:r>
            <a:endParaRPr/>
          </a:p>
          <a:p>
            <a:pPr indent="0" lvl="0" marL="0" rtl="0" algn="l">
              <a:spcBef>
                <a:spcPts val="0"/>
              </a:spcBef>
              <a:spcAft>
                <a:spcPts val="0"/>
              </a:spcAft>
              <a:buClr>
                <a:schemeClr val="dk1"/>
              </a:buClr>
              <a:buSzPts val="1100"/>
              <a:buFont typeface="Arial"/>
              <a:buNone/>
            </a:pPr>
            <a:r>
              <a:rPr lang="en"/>
              <a:t>   that's a 1. If status = 'active', that's a 0. We excluded prospects and</a:t>
            </a:r>
            <a:endParaRPr/>
          </a:p>
          <a:p>
            <a:pPr indent="0" lvl="0" marL="0" rtl="0" algn="l">
              <a:spcBef>
                <a:spcPts val="0"/>
              </a:spcBef>
              <a:spcAft>
                <a:spcPts val="0"/>
              </a:spcAft>
              <a:buClr>
                <a:schemeClr val="dk1"/>
              </a:buClr>
              <a:buSzPts val="1100"/>
              <a:buFont typeface="Arial"/>
              <a:buNone/>
            </a:pPr>
            <a:r>
              <a:rPr lang="en"/>
              <a:t>   implementation-only accounts since they were never fully onboarded.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ccc2091e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ccc2091e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Both models hit 97.3% accuracy on accounts they'd never seen before. Out of 112 test accounts, only 3 were wrong — 2 active accounts incorrectly flagged as churn risks, and 1 churned account was missed.</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Recall is 96.2% — the model catches 96 out of every 100 accounts that actually churn. Very few slip through.</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Precision is 92.6% — when the model says an account is at risk, it's right 93% of the time. Your team won't waste effort chasing false alarms.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Now the most important part: feature importance. This tells us WHAT the model is using to make predictions.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Number one by a wide margin: days since last CS activity. The longer an account goes without a touchpoint, the more likely they churn. This was #1 in BOTH models.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Number two: active contract count. Fewer active contracts = higher risk. Less commitment, easier to walk away.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Number three: average support resolution hours. Slow ticket resolution = higher churn. Support responsiveness directly impacts retention.</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The good news: two of these three — outreach frequency and support resolution — are things we can directly improve.</a:t>
            </a:r>
            <a:br>
              <a:rPr lang="en" sz="1200">
                <a:solidFill>
                  <a:schemeClr val="dk1"/>
                </a:solidFill>
              </a:rPr>
            </a:br>
            <a:br>
              <a:rPr lang="en" sz="1200">
                <a:solidFill>
                  <a:schemeClr val="dk1"/>
                </a:solidFill>
              </a:rPr>
            </a:br>
            <a:br>
              <a:rPr lang="en" sz="1200">
                <a:solidFill>
                  <a:schemeClr val="dk1"/>
                </a:solidFill>
              </a:rPr>
            </a:br>
            <a:r>
              <a:rPr lang="en" sz="1200">
                <a:solidFill>
                  <a:schemeClr val="dk1"/>
                </a:solidFill>
              </a:rPr>
              <a:t>Q: 'What does precision vs recall mean?'</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 Precision = 'when we flag someone, how often are we right?' 93%. Recall = 'of all actual churners, how many did we catch?' 96%.</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Q: 'Why did both models get identical scores?'</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 The signal in the data is very strong and clear. Both approaches converge because the patterns are unambiguous.</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Q: 'Can we reuse this model?'</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 Yes — re-score active accounts monthly or quarterly.</a:t>
            </a:r>
            <a:endParaRPr sz="12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ccc2091e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ccc2091e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From individual accounts to the segment level:</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SMB accounts have a 39% historical churn rate — nearly 3 times higher than Strategic at 14%. Growth is in the middle at 24%, Core at 19%.</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 right chart shows where medium and high-risk accounts land by segment. The risk concentrates in SMB and Growth. Strategic has zero flagged accounts.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br>
              <a:rPr lang="en" sz="1200">
                <a:solidFill>
                  <a:schemeClr val="dk1"/>
                </a:solidFill>
              </a:rPr>
            </a:br>
            <a:r>
              <a:rPr lang="en" sz="1200">
                <a:solidFill>
                  <a:schemeClr val="dk1"/>
                </a:solidFill>
              </a:rPr>
              <a:t>Three concrete recommendations: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First — immediate action: reach out to the 9 flagged accounts. Young Group Inc. at 86% is most urgent. Get someone on the phone this week. The other 8 should have check-ins within 2 weeks.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Second — structural change: the data says the single biggest churn preventer is regular contact. SMB accounts seem to be falling through the cracks. Even a brief quarterly check-in could make a measurable difference.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Third — support: ticket resolution time is the #3 churn driver. Bringing down average resolution hours, especially for at-risk accounts, directly reduces churn risk.</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The full scored list is in a CSV your team can start using today. We can also set this up to re-score monthly.</a:t>
            </a:r>
            <a:endParaRPr sz="1200">
              <a:solidFill>
                <a:schemeClr val="dk1"/>
              </a:solidFill>
            </a:endParaRPr>
          </a:p>
          <a:p>
            <a:pPr indent="0" lvl="0" marL="0" rtl="0" algn="l">
              <a:spcBef>
                <a:spcPts val="0"/>
              </a:spcBef>
              <a:spcAft>
                <a:spcPts val="0"/>
              </a:spcAft>
              <a:buNone/>
            </a:pPr>
            <a:br>
              <a:rPr lang="en"/>
            </a:br>
            <a:br>
              <a:rPr lang="en"/>
            </a:br>
            <a:r>
              <a:rPr lang="en" sz="1200">
                <a:solidFill>
                  <a:schemeClr val="dk1"/>
                </a:solidFill>
              </a:rPr>
              <a:t>Q: 'How often should we re-run this?'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 Monthly or quarterly. Re-score against current data so the list stays fresh.</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Q: 'Should we treat all Medium-risk accounts the same?'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 No — Denver Distribution at 53% is very different from National Materials at 31%. Use the probability to prioritize.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Q: 'What about the 421 low-risk accounts?'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 Low risk NOW, but re-scoring regularly catches any that start trending down.</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Q: 'Could we have predicted the clients we lost last year?'</a:t>
            </a:r>
            <a:endParaRPr sz="1200">
              <a:solidFill>
                <a:schemeClr val="dk1"/>
              </a:solidFill>
            </a:endParaRPr>
          </a:p>
          <a:p>
            <a:pPr indent="0" lvl="0" marL="0" rtl="0" algn="l">
              <a:spcBef>
                <a:spcPts val="0"/>
              </a:spcBef>
              <a:spcAft>
                <a:spcPts val="0"/>
              </a:spcAft>
              <a:buNone/>
            </a:pPr>
            <a:r>
              <a:rPr lang="en" sz="1200">
                <a:solidFill>
                  <a:schemeClr val="dk1"/>
                </a:solidFill>
              </a:rPr>
              <a:t>A: With 96% recall, the model very likely would have flagged most of them.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ccc2091e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ccc2091e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147 Phase II</a:t>
            </a:r>
            <a:endParaRPr/>
          </a:p>
          <a:p>
            <a:pPr indent="0" lvl="0" marL="0" rtl="0" algn="ctr">
              <a:spcBef>
                <a:spcPts val="0"/>
              </a:spcBef>
              <a:spcAft>
                <a:spcPts val="0"/>
              </a:spcAft>
              <a:buNone/>
            </a:pPr>
            <a:r>
              <a:rPr lang="en"/>
              <a:t>Client Health Analytics Initiative LTV &amp; Churn Risk Models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Yanelli Gloria  Evan Padiyil Vanessa Birrueta-Hernandez Hunter Delaney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Problem Alignment </a:t>
            </a:r>
            <a:endParaRPr/>
          </a:p>
        </p:txBody>
      </p:sp>
      <p:sp>
        <p:nvSpPr>
          <p:cNvPr id="61" name="Google Shape;61;p14"/>
          <p:cNvSpPr txBox="1"/>
          <p:nvPr/>
        </p:nvSpPr>
        <p:spPr>
          <a:xfrm>
            <a:off x="311700" y="1000000"/>
            <a:ext cx="8520600" cy="330000"/>
          </a:xfrm>
          <a:prstGeom prst="rect">
            <a:avLst/>
          </a:prstGeom>
          <a:noFill/>
          <a:ln>
            <a:noFill/>
          </a:ln>
        </p:spPr>
        <p:txBody>
          <a:bodyPr anchorCtr="0" anchor="t" bIns="0" lIns="91425" spcFirstLastPara="1" rIns="91425" wrap="square" tIns="0">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AAAAAA"/>
                </a:solidFill>
                <a:latin typeface="Arial"/>
                <a:ea typeface="Arial"/>
                <a:cs typeface="Arial"/>
                <a:sym typeface="Arial"/>
              </a:rPr>
              <a:t>Vantage has two urgent questions. We built models to answer both.</a:t>
            </a:r>
            <a:endParaRPr/>
          </a:p>
        </p:txBody>
      </p:sp>
      <p:sp>
        <p:nvSpPr>
          <p:cNvPr id="62" name="Google Shape;62;p14"/>
          <p:cNvSpPr/>
          <p:nvPr/>
        </p:nvSpPr>
        <p:spPr>
          <a:xfrm>
            <a:off x="311700" y="1400000"/>
            <a:ext cx="4100100" cy="2700000"/>
          </a:xfrm>
          <a:prstGeom prst="rect">
            <a:avLst/>
          </a:prstGeom>
          <a:solidFill>
            <a:srgbClr val="1C2B3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 name="Google Shape;63;p14"/>
          <p:cNvSpPr/>
          <p:nvPr/>
        </p:nvSpPr>
        <p:spPr>
          <a:xfrm>
            <a:off x="311700" y="1400000"/>
            <a:ext cx="80100" cy="2700000"/>
          </a:xfrm>
          <a:prstGeom prst="rect">
            <a:avLst/>
          </a:prstGeom>
          <a:solidFill>
            <a:srgbClr val="4A90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 name="Google Shape;64;p14"/>
          <p:cNvSpPr txBox="1"/>
          <p:nvPr/>
        </p:nvSpPr>
        <p:spPr>
          <a:xfrm>
            <a:off x="470000" y="1460000"/>
            <a:ext cx="3870000" cy="257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90D9"/>
                </a:solidFill>
                <a:latin typeface="Arial"/>
                <a:ea typeface="Arial"/>
                <a:cs typeface="Arial"/>
                <a:sym typeface="Arial"/>
              </a:rPr>
              <a:t>ALAN FUJIMOTO • CFO</a:t>
            </a:r>
            <a:endParaRPr/>
          </a:p>
          <a:p>
            <a:pPr indent="0" lvl="0" marL="0" marR="0" rtl="0" algn="l">
              <a:lnSpc>
                <a:spcPct val="100000"/>
              </a:lnSpc>
              <a:spcBef>
                <a:spcPts val="300"/>
              </a:spcBef>
              <a:spcAft>
                <a:spcPts val="0"/>
              </a:spcAft>
              <a:buClr>
                <a:srgbClr val="000000"/>
              </a:buClr>
              <a:buSzPts val="1800"/>
              <a:buFont typeface="Arial"/>
              <a:buNone/>
            </a:pPr>
            <a:r>
              <a:rPr b="1" i="0" lang="en" sz="1800" u="none" cap="none" strike="noStrike">
                <a:solidFill>
                  <a:srgbClr val="FFFFFF"/>
                </a:solidFill>
                <a:latin typeface="Arial"/>
                <a:ea typeface="Arial"/>
                <a:cs typeface="Arial"/>
                <a:sym typeface="Arial"/>
              </a:rPr>
              <a:t>What are our clients actually worth?</a:t>
            </a:r>
            <a:endParaRPr/>
          </a:p>
          <a:p>
            <a:pPr indent="0" lvl="0" marL="0" marR="0" rtl="0" algn="l">
              <a:lnSpc>
                <a:spcPct val="100000"/>
              </a:lnSpc>
              <a:spcBef>
                <a:spcPts val="400"/>
              </a:spcBef>
              <a:spcAft>
                <a:spcPts val="0"/>
              </a:spcAft>
              <a:buClr>
                <a:srgbClr val="000000"/>
              </a:buClr>
              <a:buSzPts val="1200"/>
              <a:buFont typeface="Arial"/>
              <a:buNone/>
            </a:pPr>
            <a:r>
              <a:rPr b="0" i="0" lang="en" sz="1200" u="none" cap="none" strike="noStrike">
                <a:solidFill>
                  <a:srgbClr val="CCCCCC"/>
                </a:solidFill>
                <a:latin typeface="Arial"/>
                <a:ea typeface="Arial"/>
                <a:cs typeface="Arial"/>
                <a:sym typeface="Arial"/>
              </a:rPr>
              <a:t>Pricing, sales targeting, and resource allocation decisions lack a clear picture of lifetime value. Some clients look expensive but drive substantial long-term revenue.</a:t>
            </a:r>
            <a:endParaRPr/>
          </a:p>
          <a:p>
            <a:pPr indent="0" lvl="0" marL="0" marR="0" rtl="0" algn="l">
              <a:lnSpc>
                <a:spcPct val="100000"/>
              </a:lnSpc>
              <a:spcBef>
                <a:spcPts val="600"/>
              </a:spcBef>
              <a:spcAft>
                <a:spcPts val="0"/>
              </a:spcAft>
              <a:buClr>
                <a:srgbClr val="000000"/>
              </a:buClr>
              <a:buSzPts val="1200"/>
              <a:buFont typeface="Arial"/>
              <a:buNone/>
            </a:pPr>
            <a:r>
              <a:rPr b="1" i="0" lang="en" sz="1200" u="none" cap="none" strike="noStrike">
                <a:solidFill>
                  <a:srgbClr val="4A90D9"/>
                </a:solidFill>
                <a:latin typeface="Arial"/>
                <a:ea typeface="Arial"/>
                <a:cs typeface="Arial"/>
                <a:sym typeface="Arial"/>
              </a:rPr>
              <a:t>Our answer: </a:t>
            </a:r>
            <a:r>
              <a:rPr b="0" i="0" lang="en" sz="1200" u="none" cap="none" strike="noStrike">
                <a:solidFill>
                  <a:srgbClr val="CCCCCC"/>
                </a:solidFill>
                <a:latin typeface="Arial"/>
                <a:ea typeface="Arial"/>
                <a:cs typeface="Arial"/>
                <a:sym typeface="Arial"/>
              </a:rPr>
              <a:t>LTV Regression Model using realized invoice revenue across 558 accounts.</a:t>
            </a:r>
            <a:endParaRPr/>
          </a:p>
        </p:txBody>
      </p:sp>
      <p:sp>
        <p:nvSpPr>
          <p:cNvPr id="65" name="Google Shape;65;p14"/>
          <p:cNvSpPr/>
          <p:nvPr/>
        </p:nvSpPr>
        <p:spPr>
          <a:xfrm>
            <a:off x="4732200" y="1400000"/>
            <a:ext cx="4100100" cy="2700000"/>
          </a:xfrm>
          <a:prstGeom prst="rect">
            <a:avLst/>
          </a:prstGeom>
          <a:solidFill>
            <a:srgbClr val="1C2B1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 name="Google Shape;66;p14"/>
          <p:cNvSpPr/>
          <p:nvPr/>
        </p:nvSpPr>
        <p:spPr>
          <a:xfrm>
            <a:off x="4732200" y="1400000"/>
            <a:ext cx="80100" cy="2700000"/>
          </a:xfrm>
          <a:prstGeom prst="rect">
            <a:avLst/>
          </a:prstGeom>
          <a:solidFill>
            <a:srgbClr val="5DBE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 name="Google Shape;67;p14"/>
          <p:cNvSpPr txBox="1"/>
          <p:nvPr/>
        </p:nvSpPr>
        <p:spPr>
          <a:xfrm>
            <a:off x="4890000" y="1460000"/>
            <a:ext cx="3870000" cy="257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5DBE6E"/>
                </a:solidFill>
                <a:latin typeface="Arial"/>
                <a:ea typeface="Arial"/>
                <a:cs typeface="Arial"/>
                <a:sym typeface="Arial"/>
              </a:rPr>
              <a:t>NATE KOWALSKI • VP CLIENT SUCCESS</a:t>
            </a:r>
            <a:endParaRPr/>
          </a:p>
          <a:p>
            <a:pPr indent="0" lvl="0" marL="0" marR="0" rtl="0" algn="l">
              <a:lnSpc>
                <a:spcPct val="100000"/>
              </a:lnSpc>
              <a:spcBef>
                <a:spcPts val="300"/>
              </a:spcBef>
              <a:spcAft>
                <a:spcPts val="0"/>
              </a:spcAft>
              <a:buClr>
                <a:srgbClr val="000000"/>
              </a:buClr>
              <a:buSzPts val="1800"/>
              <a:buFont typeface="Arial"/>
              <a:buNone/>
            </a:pPr>
            <a:r>
              <a:rPr b="1" i="0" lang="en" sz="1800" u="none" cap="none" strike="noStrike">
                <a:solidFill>
                  <a:srgbClr val="FFFFFF"/>
                </a:solidFill>
                <a:latin typeface="Arial"/>
                <a:ea typeface="Arial"/>
                <a:cs typeface="Arial"/>
                <a:sym typeface="Arial"/>
              </a:rPr>
              <a:t>Which clients are about to leave?</a:t>
            </a:r>
            <a:endParaRPr/>
          </a:p>
          <a:p>
            <a:pPr indent="0" lvl="0" marL="0" marR="0" rtl="0" algn="l">
              <a:lnSpc>
                <a:spcPct val="100000"/>
              </a:lnSpc>
              <a:spcBef>
                <a:spcPts val="400"/>
              </a:spcBef>
              <a:spcAft>
                <a:spcPts val="0"/>
              </a:spcAft>
              <a:buClr>
                <a:srgbClr val="000000"/>
              </a:buClr>
              <a:buSzPts val="1200"/>
              <a:buFont typeface="Arial"/>
              <a:buNone/>
            </a:pPr>
            <a:r>
              <a:rPr b="0" i="0" lang="en" sz="1200" u="none" cap="none" strike="noStrike">
                <a:solidFill>
                  <a:srgbClr val="CCCCCC"/>
                </a:solidFill>
                <a:latin typeface="Arial"/>
                <a:ea typeface="Arial"/>
                <a:cs typeface="Arial"/>
                <a:sym typeface="Arial"/>
              </a:rPr>
              <a:t>The team reacts to red flags after they appear. Vantage lost several clients last year that earlier intervention could have saved.</a:t>
            </a:r>
            <a:endParaRPr/>
          </a:p>
          <a:p>
            <a:pPr indent="0" lvl="0" marL="0" marR="0" rtl="0" algn="l">
              <a:lnSpc>
                <a:spcPct val="100000"/>
              </a:lnSpc>
              <a:spcBef>
                <a:spcPts val="600"/>
              </a:spcBef>
              <a:spcAft>
                <a:spcPts val="0"/>
              </a:spcAft>
              <a:buClr>
                <a:srgbClr val="000000"/>
              </a:buClr>
              <a:buSzPts val="1200"/>
              <a:buFont typeface="Arial"/>
              <a:buNone/>
            </a:pPr>
            <a:r>
              <a:rPr b="1" i="0" lang="en" sz="1200" u="none" cap="none" strike="noStrike">
                <a:solidFill>
                  <a:srgbClr val="5DBE6E"/>
                </a:solidFill>
                <a:latin typeface="Arial"/>
                <a:ea typeface="Arial"/>
                <a:cs typeface="Arial"/>
                <a:sym typeface="Arial"/>
              </a:rPr>
              <a:t>Our answer: </a:t>
            </a:r>
            <a:r>
              <a:rPr b="0" i="0" lang="en" sz="1200" u="none" cap="none" strike="noStrike">
                <a:solidFill>
                  <a:srgbClr val="CCCCCC"/>
                </a:solidFill>
                <a:latin typeface="Arial"/>
                <a:ea typeface="Arial"/>
                <a:cs typeface="Arial"/>
                <a:sym typeface="Arial"/>
              </a:rPr>
              <a:t>Churn Classification Model scoring all 430 active accounts by risk level.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397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LTV Executive Summary</a:t>
            </a:r>
            <a:endParaRPr/>
          </a:p>
        </p:txBody>
      </p:sp>
      <p:sp>
        <p:nvSpPr>
          <p:cNvPr id="73" name="Google Shape;73;p15"/>
          <p:cNvSpPr txBox="1"/>
          <p:nvPr>
            <p:ph idx="1" type="body"/>
          </p:nvPr>
        </p:nvSpPr>
        <p:spPr>
          <a:xfrm>
            <a:off x="461000" y="1031300"/>
            <a:ext cx="8138100" cy="4272000"/>
          </a:xfrm>
          <a:prstGeom prst="rect">
            <a:avLst/>
          </a:prstGeom>
        </p:spPr>
        <p:txBody>
          <a:bodyPr anchorCtr="0" anchor="t" bIns="91425" lIns="91425" spcFirstLastPara="1" rIns="91425" wrap="square" tIns="91425">
            <a:normAutofit fontScale="32500" lnSpcReduction="20000"/>
          </a:bodyPr>
          <a:lstStyle/>
          <a:p>
            <a:pPr indent="0" lvl="0" marL="0" rtl="0" algn="l">
              <a:spcBef>
                <a:spcPts val="1200"/>
              </a:spcBef>
              <a:spcAft>
                <a:spcPts val="0"/>
              </a:spcAft>
              <a:buNone/>
            </a:pPr>
            <a:r>
              <a:rPr lang="en" sz="3900"/>
              <a:t>The goal of this analysis is to better understand how much revenue each customer generates over the full course of their relationship with the company.</a:t>
            </a:r>
            <a:endParaRPr sz="3900"/>
          </a:p>
          <a:p>
            <a:pPr indent="0" lvl="0" marL="0" rtl="0" algn="l">
              <a:spcBef>
                <a:spcPts val="1200"/>
              </a:spcBef>
              <a:spcAft>
                <a:spcPts val="0"/>
              </a:spcAft>
              <a:buNone/>
            </a:pPr>
            <a:r>
              <a:rPr lang="en" sz="3900"/>
              <a:t>Even though contract values show what customers are supposed to pay, they don’t always match what the company actually collects over time. So instead of relying on projections, we built a model that estimates Lifetime Value using actual invoiced revenue and customer behavior data.</a:t>
            </a:r>
            <a:endParaRPr sz="3900"/>
          </a:p>
          <a:p>
            <a:pPr indent="0" lvl="0" marL="0" rtl="0" algn="l">
              <a:spcBef>
                <a:spcPts val="1200"/>
              </a:spcBef>
              <a:spcAft>
                <a:spcPts val="0"/>
              </a:spcAft>
              <a:buNone/>
            </a:pPr>
            <a:r>
              <a:rPr lang="en" sz="3900"/>
              <a:t>Topics that will be addressed:</a:t>
            </a:r>
            <a:endParaRPr sz="3900"/>
          </a:p>
          <a:p>
            <a:pPr indent="-309086" lvl="0" marL="457200" rtl="0" algn="l">
              <a:spcBef>
                <a:spcPts val="1200"/>
              </a:spcBef>
              <a:spcAft>
                <a:spcPts val="0"/>
              </a:spcAft>
              <a:buSzPct val="100000"/>
              <a:buChar char="●"/>
            </a:pPr>
            <a:r>
              <a:rPr lang="en" sz="3900"/>
              <a:t>How Lifetime Value was defined</a:t>
            </a:r>
            <a:br>
              <a:rPr lang="en" sz="3900"/>
            </a:br>
            <a:endParaRPr sz="3900"/>
          </a:p>
          <a:p>
            <a:pPr indent="-309086" lvl="0" marL="457200" rtl="0" algn="l">
              <a:spcBef>
                <a:spcPts val="0"/>
              </a:spcBef>
              <a:spcAft>
                <a:spcPts val="0"/>
              </a:spcAft>
              <a:buSzPct val="100000"/>
              <a:buChar char="●"/>
            </a:pPr>
            <a:r>
              <a:rPr lang="en" sz="3900"/>
              <a:t>What data was used to model it</a:t>
            </a:r>
            <a:br>
              <a:rPr lang="en" sz="3900"/>
            </a:br>
            <a:endParaRPr sz="3900"/>
          </a:p>
          <a:p>
            <a:pPr indent="-309086" lvl="0" marL="457200" rtl="0" algn="l">
              <a:spcBef>
                <a:spcPts val="0"/>
              </a:spcBef>
              <a:spcAft>
                <a:spcPts val="0"/>
              </a:spcAft>
              <a:buSzPct val="100000"/>
              <a:buChar char="●"/>
            </a:pPr>
            <a:r>
              <a:rPr lang="en" sz="3900"/>
              <a:t>How the model was built and evaluated</a:t>
            </a:r>
            <a:br>
              <a:rPr lang="en" sz="3900"/>
            </a:br>
            <a:endParaRPr sz="3900"/>
          </a:p>
          <a:p>
            <a:pPr indent="-309086" lvl="0" marL="457200" rtl="0" algn="l">
              <a:spcBef>
                <a:spcPts val="0"/>
              </a:spcBef>
              <a:spcAft>
                <a:spcPts val="0"/>
              </a:spcAft>
              <a:buSzPct val="100000"/>
              <a:buChar char="●"/>
            </a:pPr>
            <a:r>
              <a:rPr lang="en" sz="3900"/>
              <a:t>What we learned about revenue patterns across customer segments</a:t>
            </a:r>
            <a:br>
              <a:rPr lang="en" sz="3900"/>
            </a:br>
            <a:endParaRPr sz="3900"/>
          </a:p>
          <a:p>
            <a:pPr indent="0" lvl="0" marL="0" rtl="0" algn="l">
              <a:spcBef>
                <a:spcPts val="1200"/>
              </a:spcBef>
              <a:spcAft>
                <a:spcPts val="0"/>
              </a:spcAft>
              <a:buNone/>
            </a:pPr>
            <a:r>
              <a:rPr lang="en" sz="3900"/>
              <a:t>This analysis gives leadership a clearer understanding of what customers are actually worth over time so future decisions are based on real revenue patterns.</a:t>
            </a:r>
            <a:endParaRPr sz="3900"/>
          </a:p>
          <a:p>
            <a:pPr indent="0" lvl="0" marL="0" rtl="0" algn="l">
              <a:spcBef>
                <a:spcPts val="1200"/>
              </a:spcBef>
              <a:spcAft>
                <a:spcPts val="1200"/>
              </a:spcAft>
              <a:buNone/>
            </a:pPr>
            <a:r>
              <a:t/>
            </a:r>
            <a:endParaRPr sz="39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Churn Executive Summary</a:t>
            </a:r>
            <a:endParaRPr/>
          </a:p>
        </p:txBody>
      </p:sp>
      <p:sp>
        <p:nvSpPr>
          <p:cNvPr id="79" name="Google Shape;79;p16"/>
          <p:cNvSpPr txBox="1"/>
          <p:nvPr>
            <p:ph idx="1" type="body"/>
          </p:nvPr>
        </p:nvSpPr>
        <p:spPr>
          <a:xfrm>
            <a:off x="311700" y="1152475"/>
            <a:ext cx="3099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accent2"/>
                </a:solidFill>
              </a:rPr>
              <a:t>We </a:t>
            </a:r>
            <a:r>
              <a:rPr lang="en">
                <a:solidFill>
                  <a:schemeClr val="accent2"/>
                </a:solidFill>
              </a:rPr>
              <a:t>identified</a:t>
            </a:r>
            <a:r>
              <a:rPr lang="en">
                <a:solidFill>
                  <a:schemeClr val="accent2"/>
                </a:solidFill>
              </a:rPr>
              <a:t> 9 active accounts at elevated churn risk. </a:t>
            </a:r>
            <a:endParaRPr>
              <a:solidFill>
                <a:schemeClr val="accent2"/>
              </a:solidFill>
            </a:endParaRPr>
          </a:p>
          <a:p>
            <a:pPr indent="0" lvl="0" marL="0" rtl="0" algn="l">
              <a:spcBef>
                <a:spcPts val="1200"/>
              </a:spcBef>
              <a:spcAft>
                <a:spcPts val="1200"/>
              </a:spcAft>
              <a:buNone/>
            </a:pPr>
            <a:r>
              <a:rPr lang="en"/>
              <a:t>Our model scored all 430 active accounts and these are the 9 that need outreach now</a:t>
            </a:r>
            <a:endParaRPr/>
          </a:p>
        </p:txBody>
      </p:sp>
      <p:pic>
        <p:nvPicPr>
          <p:cNvPr id="80" name="Google Shape;80;p16"/>
          <p:cNvPicPr preferRelativeResize="0"/>
          <p:nvPr/>
        </p:nvPicPr>
        <p:blipFill>
          <a:blip r:embed="rId3">
            <a:alphaModFix/>
          </a:blip>
          <a:stretch>
            <a:fillRect/>
          </a:stretch>
        </p:blipFill>
        <p:spPr>
          <a:xfrm>
            <a:off x="3410700" y="1152475"/>
            <a:ext cx="5499275" cy="2206600"/>
          </a:xfrm>
          <a:prstGeom prst="rect">
            <a:avLst/>
          </a:prstGeom>
          <a:noFill/>
          <a:ln>
            <a:noFill/>
          </a:ln>
        </p:spPr>
      </p:pic>
      <p:sp>
        <p:nvSpPr>
          <p:cNvPr id="81" name="Google Shape;81;p16"/>
          <p:cNvSpPr txBox="1"/>
          <p:nvPr/>
        </p:nvSpPr>
        <p:spPr>
          <a:xfrm>
            <a:off x="3488375" y="3359075"/>
            <a:ext cx="5343900" cy="11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chemeClr val="accent3"/>
                </a:solidFill>
              </a:rPr>
              <a:t>The #1 Predictor of Churn: How long since we last contacted the account. </a:t>
            </a:r>
            <a:endParaRPr i="1" sz="1800">
              <a:solidFill>
                <a:schemeClr val="accent3"/>
              </a:solidFill>
            </a:endParaRPr>
          </a:p>
          <a:p>
            <a:pPr indent="0" lvl="0" marL="0" rtl="0" algn="l">
              <a:spcBef>
                <a:spcPts val="0"/>
              </a:spcBef>
              <a:spcAft>
                <a:spcPts val="0"/>
              </a:spcAft>
              <a:buNone/>
            </a:pPr>
            <a:r>
              <a:rPr i="1" lang="en" sz="1800">
                <a:solidFill>
                  <a:schemeClr val="accent5"/>
                </a:solidFill>
              </a:rPr>
              <a:t>The fix is proactive outreach.</a:t>
            </a:r>
            <a:br>
              <a:rPr i="1" lang="en" sz="1800">
                <a:solidFill>
                  <a:schemeClr val="lt2"/>
                </a:solidFill>
              </a:rPr>
            </a:br>
            <a:endParaRPr i="1" sz="1800">
              <a:solidFill>
                <a:schemeClr val="lt2"/>
              </a:solidFill>
            </a:endParaRPr>
          </a:p>
          <a:p>
            <a:pPr indent="0" lvl="0" marL="0" rtl="0" algn="l">
              <a:spcBef>
                <a:spcPts val="0"/>
              </a:spcBef>
              <a:spcAft>
                <a:spcPts val="0"/>
              </a:spcAft>
              <a:buNone/>
            </a:pPr>
            <a:r>
              <a:rPr lang="en" sz="1200">
                <a:solidFill>
                  <a:schemeClr val="lt2"/>
                </a:solidFill>
              </a:rPr>
              <a:t>*Full ranked list of all 430 accounts in churn_risk_list.csv</a:t>
            </a:r>
            <a:endParaRPr sz="1200">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275050" y="234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LTV</a:t>
            </a:r>
            <a:r>
              <a:rPr lang="en"/>
              <a:t>: How We Built The Model (Pt. 1)</a:t>
            </a:r>
            <a:endParaRPr/>
          </a:p>
        </p:txBody>
      </p:sp>
      <p:sp>
        <p:nvSpPr>
          <p:cNvPr id="87" name="Google Shape;87;p17"/>
          <p:cNvSpPr txBox="1"/>
          <p:nvPr>
            <p:ph idx="1" type="body"/>
          </p:nvPr>
        </p:nvSpPr>
        <p:spPr>
          <a:xfrm>
            <a:off x="4978750" y="1151425"/>
            <a:ext cx="3900000" cy="179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Features were chosen to target 4 different sections of an account:</a:t>
            </a:r>
            <a:endParaRPr sz="1300"/>
          </a:p>
          <a:p>
            <a:pPr indent="-317500" lvl="0" marL="457200" rtl="0" algn="l">
              <a:spcBef>
                <a:spcPts val="1200"/>
              </a:spcBef>
              <a:spcAft>
                <a:spcPts val="0"/>
              </a:spcAft>
              <a:buSzPts val="1400"/>
              <a:buChar char="●"/>
            </a:pPr>
            <a:r>
              <a:rPr b="1" lang="en" sz="1400">
                <a:solidFill>
                  <a:schemeClr val="dk1"/>
                </a:solidFill>
              </a:rPr>
              <a:t>Usage</a:t>
            </a:r>
            <a:r>
              <a:rPr lang="en" sz="1400"/>
              <a:t> </a:t>
            </a:r>
            <a:r>
              <a:rPr lang="en" sz="1200"/>
              <a:t>(e.g. UTILIZATION)</a:t>
            </a:r>
            <a:endParaRPr sz="1200"/>
          </a:p>
          <a:p>
            <a:pPr indent="-317500" lvl="0" marL="457200" rtl="0" algn="l">
              <a:spcBef>
                <a:spcPts val="0"/>
              </a:spcBef>
              <a:spcAft>
                <a:spcPts val="0"/>
              </a:spcAft>
              <a:buSzPts val="1400"/>
              <a:buChar char="●"/>
            </a:pPr>
            <a:r>
              <a:rPr b="1" lang="en" sz="1400">
                <a:solidFill>
                  <a:schemeClr val="dk1"/>
                </a:solidFill>
              </a:rPr>
              <a:t>Commitment</a:t>
            </a:r>
            <a:r>
              <a:rPr lang="en" sz="1400"/>
              <a:t> </a:t>
            </a:r>
            <a:r>
              <a:rPr lang="en" sz="1200"/>
              <a:t>(e.g. TENURE_DAYS)</a:t>
            </a:r>
            <a:endParaRPr sz="1200"/>
          </a:p>
          <a:p>
            <a:pPr indent="-317500" lvl="0" marL="457200" rtl="0" algn="l">
              <a:spcBef>
                <a:spcPts val="0"/>
              </a:spcBef>
              <a:spcAft>
                <a:spcPts val="0"/>
              </a:spcAft>
              <a:buSzPts val="1400"/>
              <a:buChar char="●"/>
            </a:pPr>
            <a:r>
              <a:rPr b="1" lang="en" sz="1400">
                <a:solidFill>
                  <a:schemeClr val="dk1"/>
                </a:solidFill>
              </a:rPr>
              <a:t>Engagement</a:t>
            </a:r>
            <a:r>
              <a:rPr lang="en" sz="1400"/>
              <a:t> </a:t>
            </a:r>
            <a:r>
              <a:rPr lang="en" sz="1200"/>
              <a:t>(e.g. TICKET_COUNT)</a:t>
            </a:r>
            <a:endParaRPr sz="1200"/>
          </a:p>
          <a:p>
            <a:pPr indent="-317500" lvl="0" marL="457200" rtl="0" algn="l">
              <a:spcBef>
                <a:spcPts val="0"/>
              </a:spcBef>
              <a:spcAft>
                <a:spcPts val="0"/>
              </a:spcAft>
              <a:buSzPts val="1400"/>
              <a:buChar char="●"/>
            </a:pPr>
            <a:r>
              <a:rPr b="1" lang="en" sz="1400">
                <a:solidFill>
                  <a:schemeClr val="dk1"/>
                </a:solidFill>
              </a:rPr>
              <a:t>Account Profile</a:t>
            </a:r>
            <a:r>
              <a:rPr b="1" lang="en" sz="1400"/>
              <a:t> </a:t>
            </a:r>
            <a:r>
              <a:rPr lang="en" sz="1200"/>
              <a:t>(e.g. EMPLOYEE_COUNT)</a:t>
            </a:r>
            <a:endParaRPr sz="1400"/>
          </a:p>
        </p:txBody>
      </p:sp>
      <p:sp>
        <p:nvSpPr>
          <p:cNvPr id="88" name="Google Shape;88;p17"/>
          <p:cNvSpPr txBox="1"/>
          <p:nvPr/>
        </p:nvSpPr>
        <p:spPr>
          <a:xfrm>
            <a:off x="5182900" y="3051575"/>
            <a:ext cx="3491700" cy="151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700" u="sng">
                <a:solidFill>
                  <a:schemeClr val="dk1"/>
                </a:solidFill>
              </a:rPr>
              <a:t>Models Used</a:t>
            </a:r>
            <a:endParaRPr b="1" sz="1700" u="sng">
              <a:solidFill>
                <a:schemeClr val="dk1"/>
              </a:solidFill>
            </a:endParaRPr>
          </a:p>
          <a:p>
            <a:pPr indent="0" lvl="0" marL="0" rtl="0" algn="ctr">
              <a:spcBef>
                <a:spcPts val="0"/>
              </a:spcBef>
              <a:spcAft>
                <a:spcPts val="0"/>
              </a:spcAft>
              <a:buNone/>
            </a:pPr>
            <a:r>
              <a:t/>
            </a:r>
            <a:endParaRPr b="1" sz="1200" u="sng">
              <a:solidFill>
                <a:schemeClr val="dk1"/>
              </a:solidFill>
            </a:endParaRPr>
          </a:p>
          <a:p>
            <a:pPr indent="0" lvl="0" marL="0" rtl="0" algn="l">
              <a:spcBef>
                <a:spcPts val="0"/>
              </a:spcBef>
              <a:spcAft>
                <a:spcPts val="0"/>
              </a:spcAft>
              <a:buNone/>
            </a:pPr>
            <a:r>
              <a:rPr lang="en" sz="1700">
                <a:solidFill>
                  <a:schemeClr val="accent5"/>
                </a:solidFill>
              </a:rPr>
              <a:t>Linear Regression</a:t>
            </a:r>
            <a:r>
              <a:rPr lang="en" sz="1300">
                <a:solidFill>
                  <a:schemeClr val="lt2"/>
                </a:solidFill>
              </a:rPr>
              <a:t> - Baseline Model</a:t>
            </a:r>
            <a:endParaRPr sz="1300">
              <a:solidFill>
                <a:schemeClr val="lt2"/>
              </a:solidFill>
            </a:endParaRPr>
          </a:p>
          <a:p>
            <a:pPr indent="0" lvl="0" marL="0" rtl="0" algn="l">
              <a:spcBef>
                <a:spcPts val="0"/>
              </a:spcBef>
              <a:spcAft>
                <a:spcPts val="0"/>
              </a:spcAft>
              <a:buNone/>
            </a:pPr>
            <a:r>
              <a:t/>
            </a:r>
            <a:endParaRPr sz="800">
              <a:solidFill>
                <a:schemeClr val="lt2"/>
              </a:solidFill>
            </a:endParaRPr>
          </a:p>
          <a:p>
            <a:pPr indent="0" lvl="0" marL="0" rtl="0" algn="l">
              <a:spcBef>
                <a:spcPts val="0"/>
              </a:spcBef>
              <a:spcAft>
                <a:spcPts val="0"/>
              </a:spcAft>
              <a:buNone/>
            </a:pPr>
            <a:r>
              <a:rPr lang="en" sz="1700">
                <a:solidFill>
                  <a:schemeClr val="accent5"/>
                </a:solidFill>
              </a:rPr>
              <a:t>Ridge Regression</a:t>
            </a:r>
            <a:r>
              <a:rPr lang="en" sz="1300">
                <a:solidFill>
                  <a:schemeClr val="lt2"/>
                </a:solidFill>
              </a:rPr>
              <a:t> - Similar to Linear</a:t>
            </a:r>
            <a:endParaRPr sz="1300">
              <a:solidFill>
                <a:schemeClr val="lt2"/>
              </a:solidFill>
            </a:endParaRPr>
          </a:p>
          <a:p>
            <a:pPr indent="0" lvl="0" marL="0" rtl="0" algn="l">
              <a:spcBef>
                <a:spcPts val="0"/>
              </a:spcBef>
              <a:spcAft>
                <a:spcPts val="0"/>
              </a:spcAft>
              <a:buNone/>
            </a:pPr>
            <a:r>
              <a:t/>
            </a:r>
            <a:endParaRPr sz="800">
              <a:solidFill>
                <a:schemeClr val="lt2"/>
              </a:solidFill>
            </a:endParaRPr>
          </a:p>
          <a:p>
            <a:pPr indent="0" lvl="0" marL="0" rtl="0" algn="l">
              <a:spcBef>
                <a:spcPts val="0"/>
              </a:spcBef>
              <a:spcAft>
                <a:spcPts val="0"/>
              </a:spcAft>
              <a:buNone/>
            </a:pPr>
            <a:r>
              <a:rPr lang="en" sz="1700">
                <a:solidFill>
                  <a:schemeClr val="accent5"/>
                </a:solidFill>
              </a:rPr>
              <a:t>Random Forest - </a:t>
            </a:r>
            <a:r>
              <a:rPr lang="en" sz="1300">
                <a:solidFill>
                  <a:schemeClr val="lt2"/>
                </a:solidFill>
              </a:rPr>
              <a:t>Show </a:t>
            </a:r>
            <a:r>
              <a:rPr lang="en" sz="1300">
                <a:solidFill>
                  <a:schemeClr val="lt2"/>
                </a:solidFill>
              </a:rPr>
              <a:t>Multicollinearity</a:t>
            </a:r>
            <a:r>
              <a:rPr lang="en" sz="1300">
                <a:solidFill>
                  <a:schemeClr val="lt2"/>
                </a:solidFill>
              </a:rPr>
              <a:t> </a:t>
            </a:r>
            <a:endParaRPr sz="1300">
              <a:solidFill>
                <a:schemeClr val="lt2"/>
              </a:solidFill>
            </a:endParaRPr>
          </a:p>
        </p:txBody>
      </p:sp>
      <p:sp>
        <p:nvSpPr>
          <p:cNvPr id="89" name="Google Shape;89;p17"/>
          <p:cNvSpPr txBox="1"/>
          <p:nvPr/>
        </p:nvSpPr>
        <p:spPr>
          <a:xfrm>
            <a:off x="409788" y="1078125"/>
            <a:ext cx="41841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lang="en" sz="1600" u="sng">
                <a:solidFill>
                  <a:schemeClr val="dk1"/>
                </a:solidFill>
              </a:rPr>
              <a:t>Target Value</a:t>
            </a:r>
            <a:r>
              <a:rPr lang="en" sz="1600">
                <a:solidFill>
                  <a:schemeClr val="dk1"/>
                </a:solidFill>
              </a:rPr>
              <a:t>: </a:t>
            </a:r>
            <a:r>
              <a:rPr lang="en" sz="1600">
                <a:solidFill>
                  <a:schemeClr val="dk1"/>
                </a:solidFill>
              </a:rPr>
              <a:t>TOTAL_VALUE vs </a:t>
            </a:r>
            <a:r>
              <a:rPr lang="en" sz="1600">
                <a:solidFill>
                  <a:schemeClr val="dk1"/>
                </a:solidFill>
              </a:rPr>
              <a:t>INVOICES</a:t>
            </a:r>
            <a:endParaRPr sz="1600">
              <a:solidFill>
                <a:schemeClr val="dk1"/>
              </a:solidFill>
            </a:endParaRPr>
          </a:p>
        </p:txBody>
      </p:sp>
      <p:pic>
        <p:nvPicPr>
          <p:cNvPr id="90" name="Google Shape;90;p17"/>
          <p:cNvPicPr preferRelativeResize="0"/>
          <p:nvPr/>
        </p:nvPicPr>
        <p:blipFill>
          <a:blip r:embed="rId3">
            <a:alphaModFix/>
          </a:blip>
          <a:stretch>
            <a:fillRect/>
          </a:stretch>
        </p:blipFill>
        <p:spPr>
          <a:xfrm>
            <a:off x="275050" y="1780275"/>
            <a:ext cx="4453575" cy="2659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275050" y="234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LTV</a:t>
            </a:r>
            <a:r>
              <a:rPr lang="en"/>
              <a:t>: </a:t>
            </a:r>
            <a:r>
              <a:rPr lang="en"/>
              <a:t>How We Built The Model (pt. 2)</a:t>
            </a:r>
            <a:endParaRPr/>
          </a:p>
        </p:txBody>
      </p:sp>
      <p:pic>
        <p:nvPicPr>
          <p:cNvPr id="96" name="Google Shape;96;p18" title="modeling.png"/>
          <p:cNvPicPr preferRelativeResize="0"/>
          <p:nvPr/>
        </p:nvPicPr>
        <p:blipFill>
          <a:blip r:embed="rId3">
            <a:alphaModFix/>
          </a:blip>
          <a:stretch>
            <a:fillRect/>
          </a:stretch>
        </p:blipFill>
        <p:spPr>
          <a:xfrm>
            <a:off x="1224725" y="865526"/>
            <a:ext cx="6440424" cy="41309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3769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LTV</a:t>
            </a:r>
            <a:r>
              <a:rPr lang="en"/>
              <a:t>: Evaluation (Pt. 1)</a:t>
            </a:r>
            <a:endParaRPr/>
          </a:p>
        </p:txBody>
      </p:sp>
      <p:sp>
        <p:nvSpPr>
          <p:cNvPr id="102" name="Google Shape;102;p19"/>
          <p:cNvSpPr txBox="1"/>
          <p:nvPr>
            <p:ph idx="1" type="body"/>
          </p:nvPr>
        </p:nvSpPr>
        <p:spPr>
          <a:xfrm>
            <a:off x="5143500" y="3032575"/>
            <a:ext cx="3066600" cy="1662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Despite the MAE in strategic accounts being the highest, it was less than 6% of the average LTV.</a:t>
            </a:r>
            <a:endParaRPr/>
          </a:p>
        </p:txBody>
      </p:sp>
      <p:pic>
        <p:nvPicPr>
          <p:cNvPr id="103" name="Google Shape;103;p19"/>
          <p:cNvPicPr preferRelativeResize="0"/>
          <p:nvPr/>
        </p:nvPicPr>
        <p:blipFill>
          <a:blip r:embed="rId3">
            <a:alphaModFix/>
          </a:blip>
          <a:stretch>
            <a:fillRect/>
          </a:stretch>
        </p:blipFill>
        <p:spPr>
          <a:xfrm>
            <a:off x="574325" y="1680875"/>
            <a:ext cx="4164925" cy="2888550"/>
          </a:xfrm>
          <a:prstGeom prst="rect">
            <a:avLst/>
          </a:prstGeom>
          <a:noFill/>
          <a:ln>
            <a:noFill/>
          </a:ln>
        </p:spPr>
      </p:pic>
      <p:pic>
        <p:nvPicPr>
          <p:cNvPr id="104" name="Google Shape;104;p19"/>
          <p:cNvPicPr preferRelativeResize="0"/>
          <p:nvPr/>
        </p:nvPicPr>
        <p:blipFill>
          <a:blip r:embed="rId4">
            <a:alphaModFix/>
          </a:blip>
          <a:stretch>
            <a:fillRect/>
          </a:stretch>
        </p:blipFill>
        <p:spPr>
          <a:xfrm>
            <a:off x="5143500" y="1680875"/>
            <a:ext cx="3360325" cy="1351695"/>
          </a:xfrm>
          <a:prstGeom prst="rect">
            <a:avLst/>
          </a:prstGeom>
          <a:noFill/>
          <a:ln>
            <a:noFill/>
          </a:ln>
        </p:spPr>
      </p:pic>
      <p:sp>
        <p:nvSpPr>
          <p:cNvPr id="105" name="Google Shape;105;p19"/>
          <p:cNvSpPr txBox="1"/>
          <p:nvPr/>
        </p:nvSpPr>
        <p:spPr>
          <a:xfrm>
            <a:off x="1792925" y="1185950"/>
            <a:ext cx="1727700" cy="32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u="sng">
                <a:solidFill>
                  <a:schemeClr val="dk1"/>
                </a:solidFill>
              </a:rPr>
              <a:t>All Accounts</a:t>
            </a:r>
            <a:endParaRPr sz="1800" u="sng">
              <a:solidFill>
                <a:schemeClr val="dk1"/>
              </a:solidFill>
            </a:endParaRPr>
          </a:p>
        </p:txBody>
      </p:sp>
      <p:sp>
        <p:nvSpPr>
          <p:cNvPr id="106" name="Google Shape;106;p19"/>
          <p:cNvSpPr txBox="1"/>
          <p:nvPr/>
        </p:nvSpPr>
        <p:spPr>
          <a:xfrm>
            <a:off x="5711838" y="1185950"/>
            <a:ext cx="1929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u="sng">
                <a:solidFill>
                  <a:schemeClr val="dk1"/>
                </a:solidFill>
              </a:rPr>
              <a:t>By Segment</a:t>
            </a:r>
            <a:endParaRPr sz="1800" u="sng">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0"/>
          <p:cNvPicPr preferRelativeResize="0"/>
          <p:nvPr/>
        </p:nvPicPr>
        <p:blipFill>
          <a:blip r:embed="rId3">
            <a:alphaModFix/>
          </a:blip>
          <a:stretch>
            <a:fillRect/>
          </a:stretch>
        </p:blipFill>
        <p:spPr>
          <a:xfrm>
            <a:off x="1787750" y="727650"/>
            <a:ext cx="5350800" cy="4265424"/>
          </a:xfrm>
          <a:prstGeom prst="rect">
            <a:avLst/>
          </a:prstGeom>
          <a:noFill/>
          <a:ln>
            <a:noFill/>
          </a:ln>
        </p:spPr>
      </p:pic>
      <p:sp>
        <p:nvSpPr>
          <p:cNvPr id="112" name="Google Shape;112;p20"/>
          <p:cNvSpPr txBox="1"/>
          <p:nvPr/>
        </p:nvSpPr>
        <p:spPr>
          <a:xfrm>
            <a:off x="140075" y="112050"/>
            <a:ext cx="5350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800">
                <a:solidFill>
                  <a:schemeClr val="dk1"/>
                </a:solidFill>
              </a:rPr>
              <a:t>LTV</a:t>
            </a:r>
            <a:r>
              <a:rPr lang="en" sz="2800">
                <a:solidFill>
                  <a:schemeClr val="dk1"/>
                </a:solidFill>
              </a:rPr>
              <a:t>:</a:t>
            </a:r>
            <a:r>
              <a:rPr lang="en" sz="2800">
                <a:solidFill>
                  <a:schemeClr val="dk1"/>
                </a:solidFill>
              </a:rPr>
              <a:t> Evaluation (Pt. 2)</a:t>
            </a:r>
            <a:endParaRPr sz="2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LTV</a:t>
            </a:r>
            <a:r>
              <a:rPr lang="en"/>
              <a:t>: Recommendations</a:t>
            </a:r>
            <a:endParaRPr/>
          </a:p>
        </p:txBody>
      </p:sp>
      <p:sp>
        <p:nvSpPr>
          <p:cNvPr id="118" name="Google Shape;118;p21"/>
          <p:cNvSpPr txBox="1"/>
          <p:nvPr>
            <p:ph idx="1" type="body"/>
          </p:nvPr>
        </p:nvSpPr>
        <p:spPr>
          <a:xfrm>
            <a:off x="381600" y="3430450"/>
            <a:ext cx="2785800" cy="13047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1200"/>
              </a:spcAft>
              <a:buNone/>
            </a:pPr>
            <a:r>
              <a:rPr b="1" lang="en" sz="2000" u="sng">
                <a:solidFill>
                  <a:schemeClr val="accent5"/>
                </a:solidFill>
              </a:rPr>
              <a:t>Immediate</a:t>
            </a:r>
            <a:br>
              <a:rPr lang="en" sz="2000">
                <a:solidFill>
                  <a:schemeClr val="dk1"/>
                </a:solidFill>
              </a:rPr>
            </a:br>
            <a:r>
              <a:rPr lang="en" sz="2000">
                <a:solidFill>
                  <a:schemeClr val="dk1"/>
                </a:solidFill>
              </a:rPr>
              <a:t>Target the “Upsell Gap” in the SMB segment</a:t>
            </a:r>
            <a:endParaRPr sz="2000">
              <a:solidFill>
                <a:schemeClr val="dk1"/>
              </a:solidFill>
            </a:endParaRPr>
          </a:p>
        </p:txBody>
      </p:sp>
      <p:pic>
        <p:nvPicPr>
          <p:cNvPr id="119" name="Google Shape;119;p21" title="Screenshot 2026-03-01 at 11.15.08 PM.png"/>
          <p:cNvPicPr preferRelativeResize="0"/>
          <p:nvPr/>
        </p:nvPicPr>
        <p:blipFill>
          <a:blip r:embed="rId3">
            <a:alphaModFix/>
          </a:blip>
          <a:stretch>
            <a:fillRect/>
          </a:stretch>
        </p:blipFill>
        <p:spPr>
          <a:xfrm>
            <a:off x="379725" y="1255450"/>
            <a:ext cx="8384549" cy="1782175"/>
          </a:xfrm>
          <a:prstGeom prst="rect">
            <a:avLst/>
          </a:prstGeom>
          <a:noFill/>
          <a:ln>
            <a:noFill/>
          </a:ln>
        </p:spPr>
      </p:pic>
      <p:sp>
        <p:nvSpPr>
          <p:cNvPr id="120" name="Google Shape;120;p21"/>
          <p:cNvSpPr txBox="1"/>
          <p:nvPr/>
        </p:nvSpPr>
        <p:spPr>
          <a:xfrm>
            <a:off x="3167400" y="3396175"/>
            <a:ext cx="2589300" cy="130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200"/>
              </a:spcAft>
              <a:buNone/>
            </a:pPr>
            <a:r>
              <a:rPr b="1" lang="en" sz="2000" u="sng">
                <a:solidFill>
                  <a:schemeClr val="accent5"/>
                </a:solidFill>
              </a:rPr>
              <a:t>Short Term</a:t>
            </a:r>
            <a:br>
              <a:rPr lang="en" sz="2000">
                <a:solidFill>
                  <a:schemeClr val="dk1"/>
                </a:solidFill>
              </a:rPr>
            </a:br>
            <a:r>
              <a:rPr lang="en" sz="2000">
                <a:solidFill>
                  <a:schemeClr val="dk1"/>
                </a:solidFill>
              </a:rPr>
              <a:t>Focus on retaining Strategic Accounts</a:t>
            </a:r>
            <a:endParaRPr sz="1800">
              <a:solidFill>
                <a:schemeClr val="dk1"/>
              </a:solidFill>
            </a:endParaRPr>
          </a:p>
        </p:txBody>
      </p:sp>
      <p:sp>
        <p:nvSpPr>
          <p:cNvPr id="121" name="Google Shape;121;p21"/>
          <p:cNvSpPr txBox="1"/>
          <p:nvPr/>
        </p:nvSpPr>
        <p:spPr>
          <a:xfrm>
            <a:off x="5609050" y="3396175"/>
            <a:ext cx="3229800" cy="13047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2000" u="sng">
                <a:solidFill>
                  <a:schemeClr val="accent5"/>
                </a:solidFill>
              </a:rPr>
              <a:t>Long Term</a:t>
            </a:r>
            <a:br>
              <a:rPr lang="en" sz="2000">
                <a:solidFill>
                  <a:schemeClr val="dk1"/>
                </a:solidFill>
              </a:rPr>
            </a:br>
            <a:r>
              <a:rPr lang="en" sz="2000">
                <a:solidFill>
                  <a:schemeClr val="dk1"/>
                </a:solidFill>
              </a:rPr>
              <a:t>Creating a Usage-Based Trigger System</a:t>
            </a:r>
            <a:endParaRPr sz="2000">
              <a:solidFill>
                <a:schemeClr val="dk1"/>
              </a:solidFill>
            </a:endParaRPr>
          </a:p>
          <a:p>
            <a:pPr indent="0" lvl="0" marL="0" rtl="0" algn="l">
              <a:spcBef>
                <a:spcPts val="1200"/>
              </a:spcBef>
              <a:spcAft>
                <a:spcPts val="0"/>
              </a:spcAft>
              <a:buNone/>
            </a:pPr>
            <a:r>
              <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LTV Summary</a:t>
            </a:r>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What does the model tell us?</a:t>
            </a:r>
            <a:endParaRPr/>
          </a:p>
          <a:p>
            <a:pPr indent="-325755" lvl="0" marL="457200" rtl="0" algn="l">
              <a:spcBef>
                <a:spcPts val="1200"/>
              </a:spcBef>
              <a:spcAft>
                <a:spcPts val="0"/>
              </a:spcAft>
              <a:buSzPct val="100000"/>
              <a:buChar char="●"/>
            </a:pPr>
            <a:r>
              <a:rPr lang="en"/>
              <a:t>The model predicts revenue very accurately, with an average error of about $27K.</a:t>
            </a:r>
            <a:br>
              <a:rPr lang="en"/>
            </a:br>
            <a:endParaRPr/>
          </a:p>
          <a:p>
            <a:pPr indent="-325755" lvl="0" marL="457200" rtl="0" algn="l">
              <a:spcBef>
                <a:spcPts val="0"/>
              </a:spcBef>
              <a:spcAft>
                <a:spcPts val="0"/>
              </a:spcAft>
              <a:buSzPct val="100000"/>
              <a:buChar char="●"/>
            </a:pPr>
            <a:r>
              <a:rPr lang="en"/>
              <a:t>Strategic customers are the most valuable, averaging about $646K in lifetime revenue.</a:t>
            </a:r>
            <a:br>
              <a:rPr lang="en"/>
            </a:br>
            <a:endParaRPr/>
          </a:p>
          <a:p>
            <a:pPr indent="-325755" lvl="0" marL="457200" rtl="0" algn="l">
              <a:spcBef>
                <a:spcPts val="0"/>
              </a:spcBef>
              <a:spcAft>
                <a:spcPts val="0"/>
              </a:spcAft>
              <a:buSzPct val="100000"/>
              <a:buChar char="●"/>
            </a:pPr>
            <a:r>
              <a:rPr lang="en"/>
              <a:t>SMB customers generate much less on average, about $186K.</a:t>
            </a:r>
            <a:br>
              <a:rPr lang="en"/>
            </a:br>
            <a:endParaRPr/>
          </a:p>
          <a:p>
            <a:pPr indent="-325755" lvl="0" marL="457200" rtl="0" algn="l">
              <a:spcBef>
                <a:spcPts val="0"/>
              </a:spcBef>
              <a:spcAft>
                <a:spcPts val="0"/>
              </a:spcAft>
              <a:buSzPct val="100000"/>
              <a:buChar char="●"/>
            </a:pPr>
            <a:r>
              <a:rPr lang="en"/>
              <a:t>Contract size and how much a customer uses the product are the strongest drivers of long-term revenue.</a:t>
            </a:r>
            <a:br>
              <a:rPr lang="en"/>
            </a:br>
            <a:endParaRPr/>
          </a:p>
          <a:p>
            <a:pPr indent="-325755" lvl="0" marL="457200" rtl="0" algn="l">
              <a:spcBef>
                <a:spcPts val="0"/>
              </a:spcBef>
              <a:spcAft>
                <a:spcPts val="0"/>
              </a:spcAft>
              <a:buSzPct val="100000"/>
              <a:buChar char="●"/>
            </a:pPr>
            <a:r>
              <a:rPr lang="en"/>
              <a:t>Some SMB accounts are using more than their current contract level suggests, which creates upsell opportunities.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Churn - How We Built The Model</a:t>
            </a:r>
            <a:endParaRPr/>
          </a:p>
        </p:txBody>
      </p:sp>
      <p:sp>
        <p:nvSpPr>
          <p:cNvPr id="133" name="Google Shape;133;p23"/>
          <p:cNvSpPr txBox="1"/>
          <p:nvPr/>
        </p:nvSpPr>
        <p:spPr>
          <a:xfrm>
            <a:off x="242850" y="954000"/>
            <a:ext cx="4831800" cy="380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rPr>
              <a:t>We pulled data from 8 tables across the Vantage data warehouse and condensed it into ~40 features per account.</a:t>
            </a:r>
            <a:endParaRPr sz="1300">
              <a:solidFill>
                <a:schemeClr val="dk1"/>
              </a:solidFill>
            </a:endParaRPr>
          </a:p>
          <a:p>
            <a:pPr indent="0" lvl="0" marL="0" rtl="0" algn="l">
              <a:spcBef>
                <a:spcPts val="0"/>
              </a:spcBef>
              <a:spcAft>
                <a:spcPts val="0"/>
              </a:spcAft>
              <a:buNone/>
            </a:pPr>
            <a:r>
              <a:t/>
            </a:r>
            <a:endParaRPr sz="1300">
              <a:solidFill>
                <a:schemeClr val="lt2"/>
              </a:solidFill>
            </a:endParaRPr>
          </a:p>
          <a:p>
            <a:pPr indent="0" lvl="0" marL="0" rtl="0" algn="l">
              <a:spcBef>
                <a:spcPts val="0"/>
              </a:spcBef>
              <a:spcAft>
                <a:spcPts val="0"/>
              </a:spcAft>
              <a:buNone/>
            </a:pPr>
            <a:r>
              <a:rPr lang="en" sz="1300">
                <a:solidFill>
                  <a:schemeClr val="lt2"/>
                </a:solidFill>
              </a:rPr>
              <a:t>- Accounts (segment, size, age)</a:t>
            </a:r>
            <a:endParaRPr sz="1300">
              <a:solidFill>
                <a:schemeClr val="lt2"/>
              </a:solidFill>
            </a:endParaRPr>
          </a:p>
          <a:p>
            <a:pPr indent="0" lvl="0" marL="0" rtl="0" algn="l">
              <a:spcBef>
                <a:spcPts val="0"/>
              </a:spcBef>
              <a:spcAft>
                <a:spcPts val="0"/>
              </a:spcAft>
              <a:buNone/>
            </a:pPr>
            <a:r>
              <a:rPr lang="en" sz="1300">
                <a:solidFill>
                  <a:schemeClr val="lt2"/>
                </a:solidFill>
              </a:rPr>
              <a:t>- Contracts (count, value, auto-renew, cancellations)</a:t>
            </a:r>
            <a:endParaRPr sz="1300">
              <a:solidFill>
                <a:schemeClr val="lt2"/>
              </a:solidFill>
            </a:endParaRPr>
          </a:p>
          <a:p>
            <a:pPr indent="0" lvl="0" marL="0" rtl="0" algn="l">
              <a:spcBef>
                <a:spcPts val="0"/>
              </a:spcBef>
              <a:spcAft>
                <a:spcPts val="0"/>
              </a:spcAft>
              <a:buNone/>
            </a:pPr>
            <a:r>
              <a:rPr lang="en" sz="1300">
                <a:solidFill>
                  <a:schemeClr val="lt2"/>
                </a:solidFill>
              </a:rPr>
              <a:t>- Support Tickets (volume, priority, resolution time, satisfaction)</a:t>
            </a:r>
            <a:endParaRPr sz="1300">
              <a:solidFill>
                <a:schemeClr val="lt2"/>
              </a:solidFill>
            </a:endParaRPr>
          </a:p>
          <a:p>
            <a:pPr indent="0" lvl="0" marL="0" rtl="0" algn="l">
              <a:spcBef>
                <a:spcPts val="0"/>
              </a:spcBef>
              <a:spcAft>
                <a:spcPts val="0"/>
              </a:spcAft>
              <a:buNone/>
            </a:pPr>
            <a:r>
              <a:rPr lang="en" sz="1300">
                <a:solidFill>
                  <a:schemeClr val="lt2"/>
                </a:solidFill>
              </a:rPr>
              <a:t>- Service Utilization (usage %, trends over time)</a:t>
            </a:r>
            <a:endParaRPr sz="1300">
              <a:solidFill>
                <a:schemeClr val="lt2"/>
              </a:solidFill>
            </a:endParaRPr>
          </a:p>
          <a:p>
            <a:pPr indent="0" lvl="0" marL="0" rtl="0" algn="l">
              <a:spcBef>
                <a:spcPts val="0"/>
              </a:spcBef>
              <a:spcAft>
                <a:spcPts val="0"/>
              </a:spcAft>
              <a:buNone/>
            </a:pPr>
            <a:r>
              <a:rPr lang="en" sz="1300">
                <a:solidFill>
                  <a:schemeClr val="lt2"/>
                </a:solidFill>
              </a:rPr>
              <a:t>- Engagement Scores (logins, feature adoption, training)</a:t>
            </a:r>
            <a:endParaRPr sz="1300">
              <a:solidFill>
                <a:schemeClr val="lt2"/>
              </a:solidFill>
            </a:endParaRPr>
          </a:p>
          <a:p>
            <a:pPr indent="0" lvl="0" marL="0" rtl="0" algn="l">
              <a:spcBef>
                <a:spcPts val="0"/>
              </a:spcBef>
              <a:spcAft>
                <a:spcPts val="0"/>
              </a:spcAft>
              <a:buNone/>
            </a:pPr>
            <a:r>
              <a:rPr lang="en" sz="1300">
                <a:solidFill>
                  <a:schemeClr val="lt2"/>
                </a:solidFill>
              </a:rPr>
              <a:t>- NPS Surveys (scores, detractor %, response rate)</a:t>
            </a:r>
            <a:endParaRPr sz="1300">
              <a:solidFill>
                <a:schemeClr val="lt2"/>
              </a:solidFill>
            </a:endParaRPr>
          </a:p>
          <a:p>
            <a:pPr indent="0" lvl="0" marL="0" rtl="0" algn="l">
              <a:spcBef>
                <a:spcPts val="0"/>
              </a:spcBef>
              <a:spcAft>
                <a:spcPts val="0"/>
              </a:spcAft>
              <a:buNone/>
            </a:pPr>
            <a:r>
              <a:rPr lang="en" sz="1300">
                <a:solidFill>
                  <a:schemeClr val="lt2"/>
                </a:solidFill>
              </a:rPr>
              <a:t>- CS Activities (meetings, outcomes, recency of contact)</a:t>
            </a:r>
            <a:endParaRPr sz="1300">
              <a:solidFill>
                <a:schemeClr val="lt2"/>
              </a:solidFill>
            </a:endParaRPr>
          </a:p>
          <a:p>
            <a:pPr indent="0" lvl="0" marL="0" rtl="0" algn="l">
              <a:spcBef>
                <a:spcPts val="0"/>
              </a:spcBef>
              <a:spcAft>
                <a:spcPts val="0"/>
              </a:spcAft>
              <a:buNone/>
            </a:pPr>
            <a:r>
              <a:rPr lang="en" sz="1300">
                <a:solidFill>
                  <a:schemeClr val="lt2"/>
                </a:solidFill>
              </a:rPr>
              <a:t>- Invoices (payment health, overdue rate)</a:t>
            </a:r>
            <a:endParaRPr sz="1300">
              <a:solidFill>
                <a:schemeClr val="lt2"/>
              </a:solidFill>
            </a:endParaRPr>
          </a:p>
          <a:p>
            <a:pPr indent="0" lvl="0" marL="0" rtl="0" algn="l">
              <a:spcBef>
                <a:spcPts val="0"/>
              </a:spcBef>
              <a:spcAft>
                <a:spcPts val="0"/>
              </a:spcAft>
              <a:buNone/>
            </a:pPr>
            <a:r>
              <a:t/>
            </a:r>
            <a:endParaRPr sz="1300">
              <a:solidFill>
                <a:schemeClr val="lt2"/>
              </a:solidFill>
            </a:endParaRPr>
          </a:p>
          <a:p>
            <a:pPr indent="0" lvl="0" marL="0" rtl="0" algn="l">
              <a:spcBef>
                <a:spcPts val="0"/>
              </a:spcBef>
              <a:spcAft>
                <a:spcPts val="0"/>
              </a:spcAft>
              <a:buNone/>
            </a:pPr>
            <a:r>
              <a:t/>
            </a:r>
            <a:endParaRPr sz="1300">
              <a:solidFill>
                <a:schemeClr val="lt2"/>
              </a:solidFill>
            </a:endParaRPr>
          </a:p>
          <a:p>
            <a:pPr indent="0" lvl="0" marL="0" rtl="0" algn="l">
              <a:spcBef>
                <a:spcPts val="0"/>
              </a:spcBef>
              <a:spcAft>
                <a:spcPts val="0"/>
              </a:spcAft>
              <a:buNone/>
            </a:pPr>
            <a:r>
              <a:rPr lang="en" sz="1300">
                <a:solidFill>
                  <a:schemeClr val="dk1"/>
                </a:solidFill>
              </a:rPr>
              <a:t>Population: 558 accounts (430 active, 128 churned)</a:t>
            </a:r>
            <a:br>
              <a:rPr lang="en" sz="1300">
                <a:solidFill>
                  <a:schemeClr val="dk1"/>
                </a:solidFill>
              </a:rPr>
            </a:br>
            <a:r>
              <a:rPr lang="en" sz="1300">
                <a:solidFill>
                  <a:schemeClr val="dk1"/>
                </a:solidFill>
              </a:rPr>
              <a:t>Overall historical churn rate: 22.9%</a:t>
            </a:r>
            <a:br>
              <a:rPr lang="en" sz="1300">
                <a:solidFill>
                  <a:schemeClr val="dk1"/>
                </a:solidFill>
              </a:rPr>
            </a:br>
            <a:r>
              <a:rPr lang="en" sz="1300">
                <a:solidFill>
                  <a:schemeClr val="dk1"/>
                </a:solidFill>
              </a:rPr>
              <a:t>Train/test split: 80% train, 20% held-out test</a:t>
            </a:r>
            <a:endParaRPr sz="1300">
              <a:solidFill>
                <a:schemeClr val="dk1"/>
              </a:solidFill>
            </a:endParaRPr>
          </a:p>
          <a:p>
            <a:pPr indent="0" lvl="0" marL="0" rtl="0" algn="l">
              <a:spcBef>
                <a:spcPts val="0"/>
              </a:spcBef>
              <a:spcAft>
                <a:spcPts val="0"/>
              </a:spcAft>
              <a:buNone/>
            </a:pPr>
            <a:r>
              <a:t/>
            </a:r>
            <a:endParaRPr>
              <a:solidFill>
                <a:schemeClr val="lt2"/>
              </a:solidFill>
            </a:endParaRPr>
          </a:p>
          <a:p>
            <a:pPr indent="0" lvl="0" marL="0" rtl="0" algn="l">
              <a:spcBef>
                <a:spcPts val="0"/>
              </a:spcBef>
              <a:spcAft>
                <a:spcPts val="0"/>
              </a:spcAft>
              <a:buNone/>
            </a:pPr>
            <a:r>
              <a:t/>
            </a:r>
            <a:endParaRPr>
              <a:solidFill>
                <a:schemeClr val="lt2"/>
              </a:solidFill>
            </a:endParaRPr>
          </a:p>
          <a:p>
            <a:pPr indent="0" lvl="0" marL="0" rtl="0" algn="l">
              <a:spcBef>
                <a:spcPts val="0"/>
              </a:spcBef>
              <a:spcAft>
                <a:spcPts val="0"/>
              </a:spcAft>
              <a:buNone/>
            </a:pPr>
            <a:r>
              <a:t/>
            </a:r>
            <a:endParaRPr sz="1800">
              <a:solidFill>
                <a:schemeClr val="lt2"/>
              </a:solidFill>
            </a:endParaRPr>
          </a:p>
        </p:txBody>
      </p:sp>
      <p:sp>
        <p:nvSpPr>
          <p:cNvPr id="134" name="Google Shape;134;p23"/>
          <p:cNvSpPr txBox="1"/>
          <p:nvPr/>
        </p:nvSpPr>
        <p:spPr>
          <a:xfrm>
            <a:off x="5212200" y="954000"/>
            <a:ext cx="3620100" cy="35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Two Algorithms Compared</a:t>
            </a:r>
            <a:endParaRPr sz="1800">
              <a:solidFill>
                <a:schemeClr val="dk1"/>
              </a:solidFill>
            </a:endParaRPr>
          </a:p>
          <a:p>
            <a:pPr indent="0" lvl="0" marL="0" rtl="0" algn="l">
              <a:spcBef>
                <a:spcPts val="0"/>
              </a:spcBef>
              <a:spcAft>
                <a:spcPts val="0"/>
              </a:spcAft>
              <a:buNone/>
            </a:pPr>
            <a:r>
              <a:t/>
            </a:r>
            <a:endParaRPr sz="1800">
              <a:solidFill>
                <a:schemeClr val="lt2"/>
              </a:solidFill>
            </a:endParaRPr>
          </a:p>
          <a:p>
            <a:pPr indent="0" lvl="0" marL="0" rtl="0" algn="l">
              <a:spcBef>
                <a:spcPts val="0"/>
              </a:spcBef>
              <a:spcAft>
                <a:spcPts val="0"/>
              </a:spcAft>
              <a:buNone/>
            </a:pPr>
            <a:r>
              <a:rPr lang="en" sz="1800">
                <a:solidFill>
                  <a:schemeClr val="accent5"/>
                </a:solidFill>
              </a:rPr>
              <a:t>Logistic Regression:</a:t>
            </a:r>
            <a:endParaRPr sz="1800">
              <a:solidFill>
                <a:schemeClr val="accent5"/>
              </a:solidFill>
            </a:endParaRPr>
          </a:p>
          <a:p>
            <a:pPr indent="0" lvl="0" marL="0" rtl="0" algn="l">
              <a:spcBef>
                <a:spcPts val="0"/>
              </a:spcBef>
              <a:spcAft>
                <a:spcPts val="0"/>
              </a:spcAft>
              <a:buNone/>
            </a:pPr>
            <a:r>
              <a:rPr lang="en" sz="1200">
                <a:solidFill>
                  <a:schemeClr val="lt2"/>
                </a:solidFill>
              </a:rPr>
              <a:t>Draws a straight line between churned and active accounts.</a:t>
            </a:r>
            <a:endParaRPr sz="1200">
              <a:solidFill>
                <a:schemeClr val="lt2"/>
              </a:solidFill>
            </a:endParaRPr>
          </a:p>
          <a:p>
            <a:pPr indent="0" lvl="0" marL="0" rtl="0" algn="l">
              <a:spcBef>
                <a:spcPts val="0"/>
              </a:spcBef>
              <a:spcAft>
                <a:spcPts val="0"/>
              </a:spcAft>
              <a:buNone/>
            </a:pPr>
            <a:r>
              <a:rPr lang="en" sz="1200">
                <a:solidFill>
                  <a:schemeClr val="lt2"/>
                </a:solidFill>
              </a:rPr>
              <a:t>Interpretable and tells us exactly which factors push toward churn. </a:t>
            </a:r>
            <a:endParaRPr sz="1200">
              <a:solidFill>
                <a:schemeClr val="lt2"/>
              </a:solidFill>
            </a:endParaRPr>
          </a:p>
          <a:p>
            <a:pPr indent="0" lvl="0" marL="0" rtl="0" algn="l">
              <a:spcBef>
                <a:spcPts val="0"/>
              </a:spcBef>
              <a:spcAft>
                <a:spcPts val="0"/>
              </a:spcAft>
              <a:buNone/>
            </a:pPr>
            <a:br>
              <a:rPr lang="en" sz="1800">
                <a:solidFill>
                  <a:schemeClr val="lt2"/>
                </a:solidFill>
              </a:rPr>
            </a:br>
            <a:r>
              <a:rPr lang="en" sz="1800">
                <a:solidFill>
                  <a:schemeClr val="accent1"/>
                </a:solidFill>
              </a:rPr>
              <a:t>Random Forest:</a:t>
            </a:r>
            <a:endParaRPr sz="1800">
              <a:solidFill>
                <a:schemeClr val="accent1"/>
              </a:solidFill>
            </a:endParaRPr>
          </a:p>
          <a:p>
            <a:pPr indent="0" lvl="0" marL="0" rtl="0" algn="l">
              <a:spcBef>
                <a:spcPts val="0"/>
              </a:spcBef>
              <a:spcAft>
                <a:spcPts val="0"/>
              </a:spcAft>
              <a:buNone/>
            </a:pPr>
            <a:r>
              <a:rPr lang="en" sz="1200">
                <a:solidFill>
                  <a:schemeClr val="lt2"/>
                </a:solidFill>
              </a:rPr>
              <a:t>Builds hundreds of decision trees and takes a majority vote.</a:t>
            </a:r>
            <a:endParaRPr sz="1200">
              <a:solidFill>
                <a:schemeClr val="lt2"/>
              </a:solidFill>
            </a:endParaRPr>
          </a:p>
          <a:p>
            <a:pPr indent="0" lvl="0" marL="0" rtl="0" algn="l">
              <a:spcBef>
                <a:spcPts val="0"/>
              </a:spcBef>
              <a:spcAft>
                <a:spcPts val="0"/>
              </a:spcAft>
              <a:buNone/>
            </a:pPr>
            <a:r>
              <a:rPr lang="en" sz="1200">
                <a:solidFill>
                  <a:schemeClr val="lt2"/>
                </a:solidFill>
              </a:rPr>
              <a:t>Catches complex patterns that a simple line might miss.</a:t>
            </a:r>
            <a:endParaRPr sz="1200">
              <a:solidFill>
                <a:schemeClr val="lt2"/>
              </a:solidFill>
            </a:endParaRPr>
          </a:p>
          <a:p>
            <a:pPr indent="0" lvl="0" marL="0" rtl="0" algn="l">
              <a:spcBef>
                <a:spcPts val="0"/>
              </a:spcBef>
              <a:spcAft>
                <a:spcPts val="0"/>
              </a:spcAft>
              <a:buNone/>
            </a:pPr>
            <a:r>
              <a:t/>
            </a:r>
            <a:endParaRPr sz="1200">
              <a:solidFill>
                <a:schemeClr val="lt2"/>
              </a:solidFill>
            </a:endParaRPr>
          </a:p>
          <a:p>
            <a:pPr indent="0" lvl="0" marL="0" rtl="0" algn="l">
              <a:spcBef>
                <a:spcPts val="0"/>
              </a:spcBef>
              <a:spcAft>
                <a:spcPts val="0"/>
              </a:spcAft>
              <a:buNone/>
            </a:pPr>
            <a:r>
              <a:t/>
            </a:r>
            <a:endParaRPr sz="1200">
              <a:solidFill>
                <a:schemeClr val="lt2"/>
              </a:solidFill>
            </a:endParaRPr>
          </a:p>
          <a:p>
            <a:pPr indent="0" lvl="0" marL="0" rtl="0" algn="l">
              <a:spcBef>
                <a:spcPts val="0"/>
              </a:spcBef>
              <a:spcAft>
                <a:spcPts val="0"/>
              </a:spcAft>
              <a:buNone/>
            </a:pPr>
            <a:r>
              <a:rPr lang="en" sz="1200">
                <a:solidFill>
                  <a:schemeClr val="lt2"/>
                </a:solidFill>
              </a:rPr>
              <a:t>We use two models to validate our results and to ensure the results are not a fluke of one particular model</a:t>
            </a:r>
            <a:endParaRPr sz="1200">
              <a:solidFill>
                <a:schemeClr val="lt2"/>
              </a:solidFill>
            </a:endParaRPr>
          </a:p>
          <a:p>
            <a:pPr indent="0" lvl="0" marL="0" rtl="0" algn="l">
              <a:spcBef>
                <a:spcPts val="0"/>
              </a:spcBef>
              <a:spcAft>
                <a:spcPts val="0"/>
              </a:spcAft>
              <a:buNone/>
            </a:pPr>
            <a:r>
              <a:t/>
            </a:r>
            <a:endParaRPr sz="1200">
              <a:solidFill>
                <a:schemeClr val="lt2"/>
              </a:solidFill>
            </a:endParaRPr>
          </a:p>
          <a:p>
            <a:pPr indent="0" lvl="0" marL="0" rtl="0" algn="l">
              <a:spcBef>
                <a:spcPts val="0"/>
              </a:spcBef>
              <a:spcAft>
                <a:spcPts val="0"/>
              </a:spcAft>
              <a:buNone/>
            </a:pPr>
            <a:r>
              <a:t/>
            </a:r>
            <a:endParaRPr sz="180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Churn - Model Performance &amp; What Drives Churn?</a:t>
            </a:r>
            <a:endParaRPr/>
          </a:p>
        </p:txBody>
      </p:sp>
      <p:sp>
        <p:nvSpPr>
          <p:cNvPr id="140" name="Google Shape;140;p24"/>
          <p:cNvSpPr txBox="1"/>
          <p:nvPr>
            <p:ph idx="1" type="body"/>
          </p:nvPr>
        </p:nvSpPr>
        <p:spPr>
          <a:xfrm>
            <a:off x="4766700" y="3855150"/>
            <a:ext cx="4111800" cy="8220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4915">
                <a:solidFill>
                  <a:schemeClr val="accent2"/>
                </a:solidFill>
              </a:rPr>
              <a:t>#1  Days Since Last Activity — accounts that go quiet churn</a:t>
            </a:r>
            <a:br>
              <a:rPr lang="en" sz="4915">
                <a:solidFill>
                  <a:schemeClr val="accent2"/>
                </a:solidFill>
              </a:rPr>
            </a:br>
            <a:r>
              <a:rPr lang="en" sz="4915">
                <a:solidFill>
                  <a:schemeClr val="accent2"/>
                </a:solidFill>
              </a:rPr>
              <a:t>#2  Active Contract Count — fewer contracts = higher risk</a:t>
            </a:r>
            <a:br>
              <a:rPr lang="en" sz="4915">
                <a:solidFill>
                  <a:schemeClr val="accent2"/>
                </a:solidFill>
              </a:rPr>
            </a:br>
            <a:r>
              <a:rPr lang="en" sz="4915">
                <a:solidFill>
                  <a:schemeClr val="accent2"/>
                </a:solidFill>
              </a:rPr>
              <a:t>#3  Avg Resolution Hours — slow support = churn driver</a:t>
            </a:r>
            <a:endParaRPr sz="4915">
              <a:solidFill>
                <a:schemeClr val="accent2"/>
              </a:solidFill>
            </a:endParaRPr>
          </a:p>
          <a:p>
            <a:pPr indent="0" lvl="0" marL="0" rtl="0" algn="l">
              <a:spcBef>
                <a:spcPts val="1200"/>
              </a:spcBef>
              <a:spcAft>
                <a:spcPts val="1200"/>
              </a:spcAft>
              <a:buNone/>
            </a:pPr>
            <a:r>
              <a:t/>
            </a:r>
            <a:endParaRPr/>
          </a:p>
        </p:txBody>
      </p:sp>
      <p:pic>
        <p:nvPicPr>
          <p:cNvPr id="141" name="Google Shape;141;p24"/>
          <p:cNvPicPr preferRelativeResize="0"/>
          <p:nvPr/>
        </p:nvPicPr>
        <p:blipFill>
          <a:blip r:embed="rId3">
            <a:alphaModFix/>
          </a:blip>
          <a:stretch>
            <a:fillRect/>
          </a:stretch>
        </p:blipFill>
        <p:spPr>
          <a:xfrm>
            <a:off x="4766709" y="965600"/>
            <a:ext cx="3884091" cy="2781376"/>
          </a:xfrm>
          <a:prstGeom prst="rect">
            <a:avLst/>
          </a:prstGeom>
          <a:noFill/>
          <a:ln>
            <a:noFill/>
          </a:ln>
        </p:spPr>
      </p:pic>
      <p:pic>
        <p:nvPicPr>
          <p:cNvPr id="142" name="Google Shape;142;p24"/>
          <p:cNvPicPr preferRelativeResize="0"/>
          <p:nvPr/>
        </p:nvPicPr>
        <p:blipFill>
          <a:blip r:embed="rId4">
            <a:alphaModFix/>
          </a:blip>
          <a:stretch>
            <a:fillRect/>
          </a:stretch>
        </p:blipFill>
        <p:spPr>
          <a:xfrm>
            <a:off x="706575" y="2686925"/>
            <a:ext cx="2727201" cy="2274675"/>
          </a:xfrm>
          <a:prstGeom prst="rect">
            <a:avLst/>
          </a:prstGeom>
          <a:noFill/>
          <a:ln>
            <a:noFill/>
          </a:ln>
        </p:spPr>
      </p:pic>
      <p:pic>
        <p:nvPicPr>
          <p:cNvPr id="143" name="Google Shape;143;p24"/>
          <p:cNvPicPr preferRelativeResize="0"/>
          <p:nvPr/>
        </p:nvPicPr>
        <p:blipFill>
          <a:blip r:embed="rId5">
            <a:alphaModFix/>
          </a:blip>
          <a:stretch>
            <a:fillRect/>
          </a:stretch>
        </p:blipFill>
        <p:spPr>
          <a:xfrm>
            <a:off x="311700" y="1017725"/>
            <a:ext cx="3516944" cy="935275"/>
          </a:xfrm>
          <a:prstGeom prst="rect">
            <a:avLst/>
          </a:prstGeom>
          <a:noFill/>
          <a:ln>
            <a:noFill/>
          </a:ln>
        </p:spPr>
      </p:pic>
      <p:sp>
        <p:nvSpPr>
          <p:cNvPr id="144" name="Google Shape;144;p24"/>
          <p:cNvSpPr txBox="1"/>
          <p:nvPr/>
        </p:nvSpPr>
        <p:spPr>
          <a:xfrm>
            <a:off x="311700" y="2040825"/>
            <a:ext cx="44550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2"/>
                </a:solidFill>
              </a:rPr>
              <a:t>• Precision 93% → When we flag an account, we're right 93% of the time</a:t>
            </a:r>
            <a:br>
              <a:rPr lang="en" sz="1000">
                <a:solidFill>
                  <a:schemeClr val="lt2"/>
                </a:solidFill>
              </a:rPr>
            </a:br>
            <a:r>
              <a:rPr lang="en" sz="1000">
                <a:solidFill>
                  <a:schemeClr val="lt2"/>
                </a:solidFill>
              </a:rPr>
              <a:t>• Recall 96% → We catch 96 out of every 100 actual churners</a:t>
            </a:r>
            <a:br>
              <a:rPr lang="en" sz="1000">
                <a:solidFill>
                  <a:schemeClr val="lt2"/>
                </a:solidFill>
              </a:rPr>
            </a:br>
            <a:r>
              <a:rPr lang="en" sz="1000">
                <a:solidFill>
                  <a:schemeClr val="lt2"/>
                </a:solidFill>
              </a:rPr>
              <a:t>• Only 3 misclassifications out of 112 test accounts</a:t>
            </a:r>
            <a:endParaRPr sz="1000">
              <a:solidFill>
                <a:schemeClr val="lt2"/>
              </a:solidFill>
            </a:endParaRPr>
          </a:p>
          <a:p>
            <a:pPr indent="0" lvl="0" marL="0" rtl="0" algn="l">
              <a:spcBef>
                <a:spcPts val="0"/>
              </a:spcBef>
              <a:spcAft>
                <a:spcPts val="0"/>
              </a:spcAft>
              <a:buNone/>
            </a:pPr>
            <a:r>
              <a:t/>
            </a:r>
            <a:endParaRPr sz="1000">
              <a:solidFill>
                <a:schemeClr val="l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Churn- Segment Risk Breakdown &amp; Recommendations</a:t>
            </a:r>
            <a:endParaRPr/>
          </a:p>
        </p:txBody>
      </p:sp>
      <p:pic>
        <p:nvPicPr>
          <p:cNvPr id="150" name="Google Shape;150;p25"/>
          <p:cNvPicPr preferRelativeResize="0"/>
          <p:nvPr/>
        </p:nvPicPr>
        <p:blipFill>
          <a:blip r:embed="rId3">
            <a:alphaModFix/>
          </a:blip>
          <a:stretch>
            <a:fillRect/>
          </a:stretch>
        </p:blipFill>
        <p:spPr>
          <a:xfrm>
            <a:off x="85875" y="1088250"/>
            <a:ext cx="4260300" cy="2106314"/>
          </a:xfrm>
          <a:prstGeom prst="rect">
            <a:avLst/>
          </a:prstGeom>
          <a:noFill/>
          <a:ln>
            <a:noFill/>
          </a:ln>
        </p:spPr>
      </p:pic>
      <p:pic>
        <p:nvPicPr>
          <p:cNvPr id="151" name="Google Shape;151;p25"/>
          <p:cNvPicPr preferRelativeResize="0"/>
          <p:nvPr/>
        </p:nvPicPr>
        <p:blipFill>
          <a:blip r:embed="rId4">
            <a:alphaModFix/>
          </a:blip>
          <a:stretch>
            <a:fillRect/>
          </a:stretch>
        </p:blipFill>
        <p:spPr>
          <a:xfrm>
            <a:off x="4402675" y="1088239"/>
            <a:ext cx="4692214" cy="1644136"/>
          </a:xfrm>
          <a:prstGeom prst="rect">
            <a:avLst/>
          </a:prstGeom>
          <a:noFill/>
          <a:ln>
            <a:noFill/>
          </a:ln>
        </p:spPr>
      </p:pic>
      <p:sp>
        <p:nvSpPr>
          <p:cNvPr id="152" name="Google Shape;152;p25"/>
          <p:cNvSpPr txBox="1"/>
          <p:nvPr/>
        </p:nvSpPr>
        <p:spPr>
          <a:xfrm>
            <a:off x="117825" y="3397575"/>
            <a:ext cx="2788800" cy="4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2"/>
                </a:solidFill>
              </a:rPr>
              <a:t>Recommendations</a:t>
            </a:r>
            <a:r>
              <a:rPr lang="en" sz="1800">
                <a:solidFill>
                  <a:schemeClr val="accent2"/>
                </a:solidFill>
              </a:rPr>
              <a:t>: </a:t>
            </a:r>
            <a:endParaRPr sz="1800">
              <a:solidFill>
                <a:schemeClr val="accent2"/>
              </a:solidFill>
            </a:endParaRPr>
          </a:p>
          <a:p>
            <a:pPr indent="0" lvl="0" marL="0" rtl="0" algn="l">
              <a:spcBef>
                <a:spcPts val="0"/>
              </a:spcBef>
              <a:spcAft>
                <a:spcPts val="0"/>
              </a:spcAft>
              <a:buNone/>
            </a:pPr>
            <a:r>
              <a:t/>
            </a:r>
            <a:endParaRPr sz="1800">
              <a:solidFill>
                <a:schemeClr val="lt2"/>
              </a:solidFill>
            </a:endParaRPr>
          </a:p>
        </p:txBody>
      </p:sp>
      <p:sp>
        <p:nvSpPr>
          <p:cNvPr id="153" name="Google Shape;153;p25"/>
          <p:cNvSpPr txBox="1"/>
          <p:nvPr/>
        </p:nvSpPr>
        <p:spPr>
          <a:xfrm>
            <a:off x="117825" y="3682050"/>
            <a:ext cx="2592300" cy="9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E06666"/>
                </a:solidFill>
              </a:rPr>
              <a:t>1. Immediate</a:t>
            </a:r>
            <a:endParaRPr sz="1800">
              <a:solidFill>
                <a:srgbClr val="E06666"/>
              </a:solidFill>
            </a:endParaRPr>
          </a:p>
          <a:p>
            <a:pPr indent="0" lvl="0" marL="0" rtl="0" algn="l">
              <a:spcBef>
                <a:spcPts val="0"/>
              </a:spcBef>
              <a:spcAft>
                <a:spcPts val="0"/>
              </a:spcAft>
              <a:buNone/>
            </a:pPr>
            <a:r>
              <a:rPr lang="en">
                <a:solidFill>
                  <a:schemeClr val="lt2"/>
                </a:solidFill>
              </a:rPr>
              <a:t>Schedule outreach to the 9 flagged accounts this month, starting with Young Group Inc. (86% churn probability).</a:t>
            </a:r>
            <a:endParaRPr>
              <a:solidFill>
                <a:schemeClr val="lt2"/>
              </a:solidFill>
            </a:endParaRPr>
          </a:p>
          <a:p>
            <a:pPr indent="0" lvl="0" marL="0" rtl="0" algn="l">
              <a:spcBef>
                <a:spcPts val="0"/>
              </a:spcBef>
              <a:spcAft>
                <a:spcPts val="0"/>
              </a:spcAft>
              <a:buNone/>
            </a:pPr>
            <a:r>
              <a:t/>
            </a:r>
            <a:endParaRPr sz="1800">
              <a:solidFill>
                <a:schemeClr val="lt2"/>
              </a:solidFill>
            </a:endParaRPr>
          </a:p>
        </p:txBody>
      </p:sp>
      <p:sp>
        <p:nvSpPr>
          <p:cNvPr id="154" name="Google Shape;154;p25"/>
          <p:cNvSpPr txBox="1"/>
          <p:nvPr/>
        </p:nvSpPr>
        <p:spPr>
          <a:xfrm>
            <a:off x="2710125" y="3682050"/>
            <a:ext cx="3000000" cy="167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3"/>
                </a:solidFill>
              </a:rPr>
              <a:t>2</a:t>
            </a:r>
            <a:r>
              <a:rPr lang="en" sz="1800">
                <a:solidFill>
                  <a:schemeClr val="accent3"/>
                </a:solidFill>
              </a:rPr>
              <a:t>. Structural</a:t>
            </a:r>
            <a:endParaRPr sz="1800">
              <a:solidFill>
                <a:schemeClr val="accent3"/>
              </a:solidFill>
            </a:endParaRPr>
          </a:p>
          <a:p>
            <a:pPr indent="0" lvl="0" marL="0" rtl="0" algn="l">
              <a:spcBef>
                <a:spcPts val="0"/>
              </a:spcBef>
              <a:spcAft>
                <a:spcPts val="0"/>
              </a:spcAft>
              <a:buNone/>
            </a:pPr>
            <a:r>
              <a:rPr lang="en" sz="1300">
                <a:solidFill>
                  <a:schemeClr val="lt2"/>
                </a:solidFill>
              </a:rPr>
              <a:t>Increase CS touchpoint frequency for SMB accounts. Days since last activity is the #1 churn predictor so regular check-ins are the most direct intervention.</a:t>
            </a:r>
            <a:endParaRPr sz="1300">
              <a:solidFill>
                <a:schemeClr val="lt2"/>
              </a:solidFill>
            </a:endParaRPr>
          </a:p>
          <a:p>
            <a:pPr indent="0" lvl="0" marL="0" rtl="0" algn="l">
              <a:spcBef>
                <a:spcPts val="0"/>
              </a:spcBef>
              <a:spcAft>
                <a:spcPts val="0"/>
              </a:spcAft>
              <a:buNone/>
            </a:pPr>
            <a:r>
              <a:t/>
            </a:r>
            <a:endParaRPr>
              <a:solidFill>
                <a:schemeClr val="lt2"/>
              </a:solidFill>
            </a:endParaRPr>
          </a:p>
        </p:txBody>
      </p:sp>
      <p:sp>
        <p:nvSpPr>
          <p:cNvPr id="155" name="Google Shape;155;p25"/>
          <p:cNvSpPr txBox="1"/>
          <p:nvPr/>
        </p:nvSpPr>
        <p:spPr>
          <a:xfrm>
            <a:off x="5710125" y="3682050"/>
            <a:ext cx="3000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accent1"/>
                </a:solidFill>
              </a:rPr>
              <a:t>3</a:t>
            </a:r>
            <a:r>
              <a:rPr lang="en" sz="1800">
                <a:solidFill>
                  <a:schemeClr val="accent1"/>
                </a:solidFill>
              </a:rPr>
              <a:t>. Support</a:t>
            </a:r>
            <a:endParaRPr sz="1800">
              <a:solidFill>
                <a:schemeClr val="accent1"/>
              </a:solidFill>
            </a:endParaRPr>
          </a:p>
          <a:p>
            <a:pPr indent="0" lvl="0" marL="0" rtl="0" algn="l">
              <a:spcBef>
                <a:spcPts val="0"/>
              </a:spcBef>
              <a:spcAft>
                <a:spcPts val="0"/>
              </a:spcAft>
              <a:buNone/>
            </a:pPr>
            <a:r>
              <a:rPr lang="en">
                <a:solidFill>
                  <a:schemeClr val="lt2"/>
                </a:solidFill>
              </a:rPr>
              <a:t>Prioritize reducing average ticket resolution time. It's the #3 churn driver and can be controlled operationally</a:t>
            </a:r>
            <a:endParaRPr>
              <a:solidFill>
                <a:schemeClr val="lt2"/>
              </a:solidFill>
            </a:endParaRPr>
          </a:p>
          <a:p>
            <a:pPr indent="0" lvl="0" marL="0" rtl="0" algn="l">
              <a:spcBef>
                <a:spcPts val="0"/>
              </a:spcBef>
              <a:spcAft>
                <a:spcPts val="0"/>
              </a:spcAft>
              <a:buNone/>
            </a:pPr>
            <a:r>
              <a:t/>
            </a:r>
            <a:endParaRPr>
              <a:solidFill>
                <a:schemeClr val="lt2"/>
              </a:solidFill>
            </a:endParaRPr>
          </a:p>
        </p:txBody>
      </p:sp>
      <p:sp>
        <p:nvSpPr>
          <p:cNvPr id="156" name="Google Shape;156;p25"/>
          <p:cNvSpPr txBox="1"/>
          <p:nvPr/>
        </p:nvSpPr>
        <p:spPr>
          <a:xfrm>
            <a:off x="4402675" y="2802900"/>
            <a:ext cx="4517100" cy="114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SMB accounts have a 39% historical churn rate, nearly 3 times higher than Strategic at 14%. Growth is in the middle at 24%, and Core is at 19%.</a:t>
            </a:r>
            <a:endParaRPr>
              <a:solidFill>
                <a:schemeClr val="lt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162" name="Google Shape;162;p26"/>
          <p:cNvSpPr txBox="1"/>
          <p:nvPr>
            <p:ph idx="1" type="body"/>
          </p:nvPr>
        </p:nvSpPr>
        <p:spPr>
          <a:xfrm>
            <a:off x="311700" y="1152475"/>
            <a:ext cx="39990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None/>
            </a:pPr>
            <a:r>
              <a:rPr b="1" lang="en" sz="4800"/>
              <a:t>Improving the Models</a:t>
            </a:r>
            <a:endParaRPr b="1" sz="4800"/>
          </a:p>
          <a:p>
            <a:pPr indent="-304800" lvl="0" marL="457200" rtl="0" algn="l">
              <a:spcBef>
                <a:spcPts val="1200"/>
              </a:spcBef>
              <a:spcAft>
                <a:spcPts val="0"/>
              </a:spcAft>
              <a:buClr>
                <a:schemeClr val="lt2"/>
              </a:buClr>
              <a:buSzPct val="100000"/>
              <a:buChar char="●"/>
            </a:pPr>
            <a:r>
              <a:rPr lang="en" sz="4800"/>
              <a:t>Predict churn within a 60–90 day window</a:t>
            </a:r>
            <a:br>
              <a:rPr lang="en" sz="4800"/>
            </a:br>
            <a:endParaRPr sz="4800"/>
          </a:p>
          <a:p>
            <a:pPr indent="-304800" lvl="0" marL="457200" rtl="0" algn="l">
              <a:spcBef>
                <a:spcPts val="0"/>
              </a:spcBef>
              <a:spcAft>
                <a:spcPts val="0"/>
              </a:spcAft>
              <a:buClr>
                <a:schemeClr val="lt2"/>
              </a:buClr>
              <a:buSzPct val="100000"/>
              <a:buChar char="●"/>
            </a:pPr>
            <a:r>
              <a:rPr lang="en" sz="4800"/>
              <a:t>Add deeper engagement and usage signals</a:t>
            </a:r>
            <a:br>
              <a:rPr lang="en" sz="4800"/>
            </a:br>
            <a:endParaRPr sz="4800"/>
          </a:p>
          <a:p>
            <a:pPr indent="-304800" lvl="0" marL="457200" rtl="0" algn="l">
              <a:spcBef>
                <a:spcPts val="0"/>
              </a:spcBef>
              <a:spcAft>
                <a:spcPts val="0"/>
              </a:spcAft>
              <a:buClr>
                <a:schemeClr val="lt2"/>
              </a:buClr>
              <a:buSzPct val="100000"/>
              <a:buChar char="●"/>
            </a:pPr>
            <a:r>
              <a:rPr lang="en" sz="4800"/>
              <a:t>Re-evaluate performance over time</a:t>
            </a:r>
            <a:br>
              <a:rPr lang="en" sz="4800"/>
            </a:br>
            <a:endParaRPr sz="4800"/>
          </a:p>
          <a:p>
            <a:pPr indent="0" lvl="0" marL="0" rtl="0" algn="l">
              <a:spcBef>
                <a:spcPts val="1200"/>
              </a:spcBef>
              <a:spcAft>
                <a:spcPts val="0"/>
              </a:spcAft>
              <a:buNone/>
            </a:pPr>
            <a:r>
              <a:t/>
            </a:r>
            <a:endParaRPr sz="4800"/>
          </a:p>
          <a:p>
            <a:pPr indent="0" lvl="0" marL="0" rtl="0" algn="l">
              <a:spcBef>
                <a:spcPts val="1400"/>
              </a:spcBef>
              <a:spcAft>
                <a:spcPts val="0"/>
              </a:spcAft>
              <a:buNone/>
            </a:pPr>
            <a:r>
              <a:rPr b="1" lang="en" sz="4800"/>
              <a:t>What LTV + Churn Model Tell Us</a:t>
            </a:r>
            <a:endParaRPr b="1" sz="4800"/>
          </a:p>
          <a:p>
            <a:pPr indent="-304800" lvl="0" marL="457200" rtl="0" algn="l">
              <a:spcBef>
                <a:spcPts val="1200"/>
              </a:spcBef>
              <a:spcAft>
                <a:spcPts val="0"/>
              </a:spcAft>
              <a:buClr>
                <a:schemeClr val="lt2"/>
              </a:buClr>
              <a:buSzPct val="100000"/>
              <a:buChar char="●"/>
            </a:pPr>
            <a:r>
              <a:rPr lang="en" sz="4800"/>
              <a:t>Strategic accounts drive most long-term revenue and have the lowest churn risk</a:t>
            </a:r>
            <a:br>
              <a:rPr lang="en" sz="4800"/>
            </a:br>
            <a:endParaRPr sz="4800"/>
          </a:p>
          <a:p>
            <a:pPr indent="-304800" lvl="0" marL="457200" rtl="0" algn="l">
              <a:spcBef>
                <a:spcPts val="0"/>
              </a:spcBef>
              <a:spcAft>
                <a:spcPts val="0"/>
              </a:spcAft>
              <a:buClr>
                <a:schemeClr val="lt2"/>
              </a:buClr>
              <a:buSzPct val="100000"/>
              <a:buChar char="●"/>
            </a:pPr>
            <a:r>
              <a:rPr lang="en" sz="4800"/>
              <a:t>SMB accounts have the highest churn risk</a:t>
            </a:r>
            <a:br>
              <a:rPr lang="en" sz="4800"/>
            </a:br>
            <a:endParaRPr sz="4800"/>
          </a:p>
          <a:p>
            <a:pPr indent="-289963" lvl="0" marL="457200" rtl="0" algn="l">
              <a:spcBef>
                <a:spcPts val="0"/>
              </a:spcBef>
              <a:spcAft>
                <a:spcPts val="0"/>
              </a:spcAft>
              <a:buClr>
                <a:schemeClr val="lt2"/>
              </a:buClr>
              <a:buSzPct val="80529"/>
              <a:buChar char="●"/>
            </a:pPr>
            <a:r>
              <a:rPr lang="en" sz="4800"/>
              <a:t>Usage and engagement matter for both value and retention</a:t>
            </a:r>
            <a:br>
              <a:rPr lang="en" sz="3865"/>
            </a:br>
            <a:endParaRPr/>
          </a:p>
        </p:txBody>
      </p:sp>
      <p:sp>
        <p:nvSpPr>
          <p:cNvPr id="163" name="Google Shape;163;p26"/>
          <p:cNvSpPr txBox="1"/>
          <p:nvPr/>
        </p:nvSpPr>
        <p:spPr>
          <a:xfrm>
            <a:off x="4724575" y="1198225"/>
            <a:ext cx="3616800" cy="332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250">
                <a:solidFill>
                  <a:schemeClr val="lt2"/>
                </a:solidFill>
              </a:rPr>
              <a:t>What do we recommend overall</a:t>
            </a:r>
            <a:endParaRPr b="1" sz="1250">
              <a:solidFill>
                <a:schemeClr val="lt2"/>
              </a:solidFill>
            </a:endParaRPr>
          </a:p>
          <a:p>
            <a:pPr indent="-307975" lvl="0" marL="457200" rtl="0" algn="l">
              <a:lnSpc>
                <a:spcPct val="115000"/>
              </a:lnSpc>
              <a:spcBef>
                <a:spcPts val="1200"/>
              </a:spcBef>
              <a:spcAft>
                <a:spcPts val="0"/>
              </a:spcAft>
              <a:buClr>
                <a:schemeClr val="lt2"/>
              </a:buClr>
              <a:buSzPts val="1250"/>
              <a:buChar char="●"/>
            </a:pPr>
            <a:r>
              <a:rPr lang="en" sz="1250">
                <a:solidFill>
                  <a:schemeClr val="lt2"/>
                </a:solidFill>
              </a:rPr>
              <a:t>Protect high-value accounts</a:t>
            </a:r>
            <a:br>
              <a:rPr lang="en" sz="1250">
                <a:solidFill>
                  <a:schemeClr val="lt2"/>
                </a:solidFill>
              </a:rPr>
            </a:br>
            <a:endParaRPr sz="1250">
              <a:solidFill>
                <a:schemeClr val="lt2"/>
              </a:solidFill>
            </a:endParaRPr>
          </a:p>
          <a:p>
            <a:pPr indent="-307975" lvl="0" marL="457200" rtl="0" algn="l">
              <a:lnSpc>
                <a:spcPct val="115000"/>
              </a:lnSpc>
              <a:spcBef>
                <a:spcPts val="0"/>
              </a:spcBef>
              <a:spcAft>
                <a:spcPts val="0"/>
              </a:spcAft>
              <a:buClr>
                <a:schemeClr val="lt2"/>
              </a:buClr>
              <a:buSzPts val="1250"/>
              <a:buChar char="●"/>
            </a:pPr>
            <a:r>
              <a:rPr lang="en" sz="1250">
                <a:solidFill>
                  <a:schemeClr val="lt2"/>
                </a:solidFill>
              </a:rPr>
              <a:t>Stay ahead of SMB churn</a:t>
            </a:r>
            <a:br>
              <a:rPr lang="en" sz="1250">
                <a:solidFill>
                  <a:schemeClr val="lt2"/>
                </a:solidFill>
              </a:rPr>
            </a:br>
            <a:endParaRPr sz="1250">
              <a:solidFill>
                <a:schemeClr val="lt2"/>
              </a:solidFill>
            </a:endParaRPr>
          </a:p>
          <a:p>
            <a:pPr indent="-288925" lvl="0" marL="457200" rtl="0" algn="l">
              <a:lnSpc>
                <a:spcPct val="115000"/>
              </a:lnSpc>
              <a:spcBef>
                <a:spcPts val="0"/>
              </a:spcBef>
              <a:spcAft>
                <a:spcPts val="0"/>
              </a:spcAft>
              <a:buClr>
                <a:schemeClr val="lt2"/>
              </a:buClr>
              <a:buSzPts val="950"/>
              <a:buChar char="●"/>
            </a:pPr>
            <a:r>
              <a:rPr lang="en" sz="1250">
                <a:solidFill>
                  <a:schemeClr val="lt2"/>
                </a:solidFill>
              </a:rPr>
              <a:t>Build simple trigger systems based on inactivity and usage</a:t>
            </a:r>
            <a:br>
              <a:rPr lang="en" sz="950">
                <a:solidFill>
                  <a:schemeClr val="lt2"/>
                </a:solidFill>
              </a:rPr>
            </a:br>
            <a:endParaRPr sz="950">
              <a:solidFill>
                <a:schemeClr val="lt2"/>
              </a:solidFill>
            </a:endParaRPr>
          </a:p>
          <a:p>
            <a:pPr indent="0" lvl="0" marL="0" rtl="0" algn="l">
              <a:spcBef>
                <a:spcPts val="1200"/>
              </a:spcBef>
              <a:spcAft>
                <a:spcPts val="0"/>
              </a:spcAft>
              <a:buNone/>
            </a:pPr>
            <a:r>
              <a:t/>
            </a:r>
            <a:endParaRPr sz="950">
              <a:solidFill>
                <a:schemeClr val="lt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